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78"/>
    <p:restoredTop sz="94682"/>
  </p:normalViewPr>
  <p:slideViewPr>
    <p:cSldViewPr snapToGrid="0">
      <p:cViewPr varScale="1">
        <p:scale>
          <a:sx n="78" d="100"/>
          <a:sy n="78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07293-F053-7B40-A228-5F1A48558100}" type="datetimeFigureOut">
              <a:rPr lang="en-US" smtClean="0"/>
              <a:t>21-Jun-26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41D49-4EEF-854E-9DDE-8BC5FEFD0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439B-63FB-6C79-15F1-BAA1C47C7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9E2CF-704F-6F6C-0426-B7F84FC24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6FD8C-3A3D-445A-213A-CF6B71BA3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6141-F210-4F20-9493-AEE3C5B7E070}" type="datetime1">
              <a:rPr lang="en-US" smtClean="0"/>
              <a:t>21-Jun-26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7CA33-588F-4EAC-C341-1447D02D8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3C2CF-CA0A-CFA0-6B58-37C4224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65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5E98-1E0A-5C06-1F5F-DEBE421C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92E38-AE1D-142D-1A59-8A0F47F9C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44205-A97E-5C80-20A0-4B68B7652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FF32B-EC91-4148-B4DE-7630EFEF2A9B}" type="datetime1">
              <a:rPr lang="en-US" smtClean="0"/>
              <a:t>21-Jun-26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D4116-E39C-BD33-E13E-AF18EB8A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9E9A-B868-FE52-8CFE-68919621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1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28CB-C549-0CDB-FB0B-590D1E78F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19BA9-E540-1566-4B2B-E59034E89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36ECF-E7C9-D6D6-EE13-5AE02137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E0CCE-83E2-4461-AC0B-935601EF6A48}" type="datetime1">
              <a:rPr lang="en-US" smtClean="0"/>
              <a:t>21-Jun-26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39BBF-4527-08FB-EACA-DCAD1219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06293-AE67-6245-643E-B715DC45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3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51C7-AD92-09E3-6E4E-47CA0921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47D2D-1F7F-2B3D-CA36-7D64AE075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8E74B-CD91-A054-ADC9-1EFCB7785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22C44-3D99-F76D-41A0-E73C8318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89F8C-3D7C-48EB-BBD7-32DEA9D92F95}" type="datetime1">
              <a:rPr lang="en-US" smtClean="0"/>
              <a:t>21-Jun-26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2654B-ABB1-B4E7-D3FF-75F502EF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B3FF0-A6CC-BB11-1387-91380F75C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6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3EE0-13D7-B16A-671D-37C4003E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36EBB-EB65-A1BE-9D46-0D48EAE2E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96A3D-C74C-E765-80CD-7C597B8C6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5A3A30-D02C-B54E-0027-C54DB7D89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242F7-89D9-4224-E2F0-D92BEC3FF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3D59E-AFA9-0483-559C-6C131C0E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C6EE6-596B-476B-825F-386A74C19E22}" type="datetime1">
              <a:rPr lang="en-US" smtClean="0"/>
              <a:t>21-Jun-26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6F210-EE29-8E1D-8FA8-D10028D70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F38DDC-0ECF-9134-256E-293D6681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4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76A2-3DA5-918E-EA96-5DE7EA19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E71DD-2CDF-D942-ECFA-3348F885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4A35D-2A5F-453E-B6A5-B0B9EF84C967}" type="datetime1">
              <a:rPr lang="en-US" smtClean="0"/>
              <a:t>21-Jun-26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4A0C1-2879-C55B-0CF2-13A64EE6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2FF08-FA4F-5E70-3D58-56BD02ED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6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E7684-4EDD-C720-2CDF-C7DB971D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E2E0D-9D42-497A-85C6-611C92D916E9}" type="datetime1">
              <a:rPr lang="en-US" smtClean="0"/>
              <a:t>21-Jun-26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BEAB9-0036-AFDC-FD10-E5BBB32C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1F654-1E2B-5C4F-56B1-FD811F1D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9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AE98-D290-2D23-02C2-B1B9D08A3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1B8CB-0769-520D-1239-A592E7364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52471-F5C0-4650-7641-FEC81F273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E6937-6113-2719-D75D-2A5C2922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95AB-0237-487D-A094-088A0463DC71}" type="datetime1">
              <a:rPr lang="en-US" smtClean="0"/>
              <a:t>21-Jun-26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6A247-0567-CD26-31DC-A70792F3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A7F36-2EDB-2D13-ED56-83A06114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38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D053-C082-202E-4257-E09A2B09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08AAF1-FF16-01CE-ECAA-EFE558D8AD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DDB28-7904-6C8E-701B-A3CFF3D45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7D25E-1E8D-FE8F-35CC-8D8B4328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01E28-BD10-47F4-AF18-821C455D7D93}" type="datetime1">
              <a:rPr lang="en-US" smtClean="0"/>
              <a:t>21-Jun-26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BFC95-31D9-F0FD-B110-5448FD7D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AA12B-4266-61D9-EDD2-3EE5CE79D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4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7D41-2C62-B81A-4E55-5B17754E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87ADB-41B0-0C03-1623-085306CD7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ED994-B570-EC4C-69DF-20F16C7F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4328-5BBD-427A-B227-A8569FCA48FB}" type="datetime1">
              <a:rPr lang="en-US" smtClean="0"/>
              <a:t>21-Jun-26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AD534-A450-A307-4B07-6C4650AC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DC195-7F54-203F-CDA1-C5063171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E438AF-B931-3C84-F6D4-87AB3B83A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28B3D-F088-3F99-72FF-7414B2DCD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055F1-AB43-623C-C5CB-38A30E28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9226-DC02-4067-A7E2-70E7798AD8D6}" type="datetime1">
              <a:rPr lang="en-US" smtClean="0"/>
              <a:t>21-Jun-26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7671F-F3CA-AD8C-AAED-1CEDA06B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B1CDC-17D0-73DC-75AA-4AC4F7A1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49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B54A4-460A-D881-CB80-B80976E9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4465D-2428-0E8F-C234-F54A0ACB2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1F970-F887-4C4D-5815-B89930B12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FE1BF7-C4F6-40B3-B0D8-314450F8590D}" type="datetime1">
              <a:rPr lang="en-US" smtClean="0"/>
              <a:t>21-Jun-26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557DE-AC99-B9B5-5DF2-4FB364C1F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09E07-DBC5-7183-4C8A-37012085C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9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Programming II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8F35-8C13-E451-FF21-78133D15ADFC}"/>
              </a:ext>
            </a:extLst>
          </p:cNvPr>
          <p:cNvSpPr txBox="1"/>
          <p:nvPr/>
        </p:nvSpPr>
        <p:spPr>
          <a:xfrm>
            <a:off x="570154" y="3013501"/>
            <a:ext cx="1761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Files &amp; I/O</a:t>
            </a:r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C0A45D-015B-F9B3-DB27-9D904718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2E73E-5FE4-B397-BDFC-5C186926044C}"/>
              </a:ext>
            </a:extLst>
          </p:cNvPr>
          <p:cNvSpPr txBox="1"/>
          <p:nvPr/>
        </p:nvSpPr>
        <p:spPr>
          <a:xfrm>
            <a:off x="430306" y="398033"/>
            <a:ext cx="2332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Why I/O matters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8CB148-B9DA-5D8C-1A1B-814B601FAA86}"/>
              </a:ext>
            </a:extLst>
          </p:cNvPr>
          <p:cNvSpPr txBox="1"/>
          <p:nvPr/>
        </p:nvSpPr>
        <p:spPr>
          <a:xfrm>
            <a:off x="542260" y="1222744"/>
            <a:ext cx="10191123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need communication and persistence, to interact with the real world.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 files and their organization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Communicate with other processes/systems using I/O channels (like networks)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Program state persistence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Compared to RAM, where we just care about the size of the data structures, I/O has more constraints: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latency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less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portability (protocols, encoding, …)</a:t>
            </a:r>
          </a:p>
        </p:txBody>
      </p:sp>
    </p:spTree>
    <p:extLst>
      <p:ext uri="{BB962C8B-B14F-4D97-AF65-F5344CB8AC3E}">
        <p14:creationId xmlns:p14="http://schemas.microsoft.com/office/powerpoint/2010/main" val="95759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557B6-5E0E-A41A-1D8B-B6EAD8C4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C5398B-9CA1-40A4-5A6B-B144CA116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3EEC33-FADD-8262-3622-0390CC071E91}"/>
              </a:ext>
            </a:extLst>
          </p:cNvPr>
          <p:cNvSpPr txBox="1"/>
          <p:nvPr/>
        </p:nvSpPr>
        <p:spPr>
          <a:xfrm>
            <a:off x="430306" y="398033"/>
            <a:ext cx="1375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I/O stack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3A42DB-0B4C-FE79-73C4-39D62594A1A7}"/>
              </a:ext>
            </a:extLst>
          </p:cNvPr>
          <p:cNvSpPr/>
          <p:nvPr/>
        </p:nvSpPr>
        <p:spPr>
          <a:xfrm>
            <a:off x="963562" y="2590175"/>
            <a:ext cx="2831690" cy="5997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Java library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(java.io, </a:t>
            </a:r>
            <a:r>
              <a:rPr lang="en-US" sz="1600" dirty="0" err="1">
                <a:solidFill>
                  <a:schemeClr val="tx1"/>
                </a:solidFill>
              </a:rPr>
              <a:t>java.nio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44FEB7-5435-A067-FFDF-DCFC39412299}"/>
              </a:ext>
            </a:extLst>
          </p:cNvPr>
          <p:cNvSpPr/>
          <p:nvPr/>
        </p:nvSpPr>
        <p:spPr>
          <a:xfrm>
            <a:off x="963562" y="3755297"/>
            <a:ext cx="2831690" cy="5997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I/O kernel subsystem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(device drivers)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3DF684-B5C1-6788-8D19-A618FA62B0C0}"/>
              </a:ext>
            </a:extLst>
          </p:cNvPr>
          <p:cNvSpPr/>
          <p:nvPr/>
        </p:nvSpPr>
        <p:spPr>
          <a:xfrm>
            <a:off x="963562" y="4920419"/>
            <a:ext cx="2831690" cy="5997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Hardware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E30674-1DE5-F1CC-0FA9-326A745E2ED4}"/>
              </a:ext>
            </a:extLst>
          </p:cNvPr>
          <p:cNvSpPr/>
          <p:nvPr/>
        </p:nvSpPr>
        <p:spPr>
          <a:xfrm>
            <a:off x="963562" y="1425053"/>
            <a:ext cx="2831690" cy="5997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Application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2E189B-46A4-E1E8-E2B9-AFC4D7E4B566}"/>
              </a:ext>
            </a:extLst>
          </p:cNvPr>
          <p:cNvCxnSpPr/>
          <p:nvPr/>
        </p:nvCxnSpPr>
        <p:spPr>
          <a:xfrm>
            <a:off x="1622323" y="2024820"/>
            <a:ext cx="0" cy="565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648A09-EA56-DB41-4F4F-AE0898B290AF}"/>
              </a:ext>
            </a:extLst>
          </p:cNvPr>
          <p:cNvCxnSpPr/>
          <p:nvPr/>
        </p:nvCxnSpPr>
        <p:spPr>
          <a:xfrm>
            <a:off x="1622323" y="3189942"/>
            <a:ext cx="0" cy="565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AECF68A-6E62-2632-D4ED-84838762BF1F}"/>
              </a:ext>
            </a:extLst>
          </p:cNvPr>
          <p:cNvCxnSpPr/>
          <p:nvPr/>
        </p:nvCxnSpPr>
        <p:spPr>
          <a:xfrm>
            <a:off x="1622323" y="4355064"/>
            <a:ext cx="0" cy="565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73152E7-A844-6F5D-1ACB-FFDB0CE4386A}"/>
              </a:ext>
            </a:extLst>
          </p:cNvPr>
          <p:cNvCxnSpPr>
            <a:cxnSpLocks/>
          </p:cNvCxnSpPr>
          <p:nvPr/>
        </p:nvCxnSpPr>
        <p:spPr>
          <a:xfrm flipV="1">
            <a:off x="3033251" y="2024820"/>
            <a:ext cx="0" cy="565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FAEAF90-752B-AAB4-B8CB-B06A25AE29CF}"/>
              </a:ext>
            </a:extLst>
          </p:cNvPr>
          <p:cNvCxnSpPr>
            <a:cxnSpLocks/>
          </p:cNvCxnSpPr>
          <p:nvPr/>
        </p:nvCxnSpPr>
        <p:spPr>
          <a:xfrm flipV="1">
            <a:off x="3033251" y="3189942"/>
            <a:ext cx="0" cy="565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7B8EE7C-56A7-8A4F-07AD-EB0D9D9ED32D}"/>
              </a:ext>
            </a:extLst>
          </p:cNvPr>
          <p:cNvCxnSpPr>
            <a:cxnSpLocks/>
          </p:cNvCxnSpPr>
          <p:nvPr/>
        </p:nvCxnSpPr>
        <p:spPr>
          <a:xfrm flipV="1">
            <a:off x="3023418" y="4355064"/>
            <a:ext cx="0" cy="565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CB909B8-55F7-80D1-7E45-C426A0FF3167}"/>
              </a:ext>
            </a:extLst>
          </p:cNvPr>
          <p:cNvSpPr txBox="1"/>
          <p:nvPr/>
        </p:nvSpPr>
        <p:spPr>
          <a:xfrm>
            <a:off x="4038600" y="2122831"/>
            <a:ext cx="2271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Files.readAllLines</a:t>
            </a:r>
            <a:r>
              <a:rPr lang="en-US" dirty="0"/>
              <a:t>(…)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3EA7BC-D0A5-C4D6-491A-C2D8A94B6AE0}"/>
              </a:ext>
            </a:extLst>
          </p:cNvPr>
          <p:cNvSpPr txBox="1"/>
          <p:nvPr/>
        </p:nvSpPr>
        <p:spPr>
          <a:xfrm>
            <a:off x="4038600" y="3287953"/>
            <a:ext cx="1023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read(….)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E8A658-3A72-1134-06F5-842E189C2815}"/>
              </a:ext>
            </a:extLst>
          </p:cNvPr>
          <p:cNvSpPr txBox="1"/>
          <p:nvPr/>
        </p:nvSpPr>
        <p:spPr>
          <a:xfrm>
            <a:off x="4038600" y="4453075"/>
            <a:ext cx="2153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I/O interrupt routine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D18ADC7-34B5-9472-2124-31D6258062E8}"/>
              </a:ext>
            </a:extLst>
          </p:cNvPr>
          <p:cNvCxnSpPr/>
          <p:nvPr/>
        </p:nvCxnSpPr>
        <p:spPr>
          <a:xfrm>
            <a:off x="511277" y="4055180"/>
            <a:ext cx="5417575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0EB69D1-A91F-AD19-5DED-59E776538690}"/>
              </a:ext>
            </a:extLst>
          </p:cNvPr>
          <p:cNvSpPr txBox="1"/>
          <p:nvPr/>
        </p:nvSpPr>
        <p:spPr>
          <a:xfrm>
            <a:off x="4642055" y="4058061"/>
            <a:ext cx="1794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Privileged mode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941FDE-CC9E-5DD9-9F21-C4E7D2F1FCD7}"/>
              </a:ext>
            </a:extLst>
          </p:cNvPr>
          <p:cNvSpPr txBox="1"/>
          <p:nvPr/>
        </p:nvSpPr>
        <p:spPr>
          <a:xfrm>
            <a:off x="4642055" y="3743457"/>
            <a:ext cx="1794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User mode</a:t>
            </a:r>
          </a:p>
        </p:txBody>
      </p:sp>
    </p:spTree>
    <p:extLst>
      <p:ext uri="{BB962C8B-B14F-4D97-AF65-F5344CB8AC3E}">
        <p14:creationId xmlns:p14="http://schemas.microsoft.com/office/powerpoint/2010/main" val="3118666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7F920-3F3E-D825-FF56-9CB255C3C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2C9D28F-D0A6-250A-DAD0-B1C7361C4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D6445-905E-5583-250E-74C2CDFD971C}"/>
              </a:ext>
            </a:extLst>
          </p:cNvPr>
          <p:cNvSpPr txBox="1"/>
          <p:nvPr/>
        </p:nvSpPr>
        <p:spPr>
          <a:xfrm>
            <a:off x="430306" y="398033"/>
            <a:ext cx="3450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Files and the File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E4DB03-C886-8768-5946-596FB042BEDD}"/>
              </a:ext>
            </a:extLst>
          </p:cNvPr>
          <p:cNvSpPr txBox="1"/>
          <p:nvPr/>
        </p:nvSpPr>
        <p:spPr>
          <a:xfrm>
            <a:off x="430307" y="1120676"/>
            <a:ext cx="78779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file is: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named, persistent sequence of bytes managed by the operating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Stored in a file system (e.g. ext4, NTFS, APFS).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Addressed by a path (absolute or relative).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From a program’s perspective, a file is a linear sequence of bytes, with a file pointer indicating the current reading/writing position.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6FC29-9E04-98C1-372B-DF666BC1DE8B}"/>
              </a:ext>
            </a:extLst>
          </p:cNvPr>
          <p:cNvSpPr txBox="1"/>
          <p:nvPr/>
        </p:nvSpPr>
        <p:spPr>
          <a:xfrm>
            <a:off x="430306" y="3787048"/>
            <a:ext cx="78779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path identifies a file or directory, according to the </a:t>
            </a:r>
            <a:r>
              <a:rPr lang="en-US" dirty="0" err="1"/>
              <a:t>os</a:t>
            </a:r>
            <a:r>
              <a:rPr lang="en-US" dirty="0"/>
              <a:t> naming convention.</a:t>
            </a:r>
          </a:p>
          <a:p>
            <a:endParaRPr lang="en-US" dirty="0"/>
          </a:p>
          <a:p>
            <a:r>
              <a:rPr lang="en-US" dirty="0"/>
              <a:t>It can be: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absolute (it starts from the root of the partition/drive)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relative (calculated from the current directory)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97AED55-61EC-CE46-16DD-459C702FD542}"/>
              </a:ext>
            </a:extLst>
          </p:cNvPr>
          <p:cNvGrpSpPr/>
          <p:nvPr/>
        </p:nvGrpSpPr>
        <p:grpSpPr>
          <a:xfrm>
            <a:off x="8949881" y="2352930"/>
            <a:ext cx="2717572" cy="2688496"/>
            <a:chOff x="8949881" y="2352930"/>
            <a:chExt cx="2717572" cy="268849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9871BAA-111B-6C6F-B41E-33B55AB58C33}"/>
                </a:ext>
              </a:extLst>
            </p:cNvPr>
            <p:cNvGrpSpPr/>
            <p:nvPr/>
          </p:nvGrpSpPr>
          <p:grpSpPr>
            <a:xfrm>
              <a:off x="8949881" y="2352930"/>
              <a:ext cx="2717572" cy="1076070"/>
              <a:chOff x="8519537" y="1584594"/>
              <a:chExt cx="2717572" cy="1076070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EDCAF7E-2C78-DC6D-5E57-C40DF12E74B9}"/>
                  </a:ext>
                </a:extLst>
              </p:cNvPr>
              <p:cNvGrpSpPr/>
              <p:nvPr/>
            </p:nvGrpSpPr>
            <p:grpSpPr>
              <a:xfrm>
                <a:off x="8519537" y="1584594"/>
                <a:ext cx="2707096" cy="382772"/>
                <a:chOff x="8293395" y="3678865"/>
                <a:chExt cx="2707096" cy="382772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E34FE5C8-C438-AAC6-0B1D-FC725259CF1C}"/>
                    </a:ext>
                  </a:extLst>
                </p:cNvPr>
                <p:cNvSpPr/>
                <p:nvPr/>
              </p:nvSpPr>
              <p:spPr>
                <a:xfrm>
                  <a:off x="8293395" y="3678865"/>
                  <a:ext cx="382772" cy="3827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00" dirty="0">
                      <a:solidFill>
                        <a:schemeClr val="tx1"/>
                      </a:solidFill>
                    </a:rPr>
                    <a:t>00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149BFCFB-1B98-6DE6-1FB4-074C68C14847}"/>
                    </a:ext>
                  </a:extLst>
                </p:cNvPr>
                <p:cNvSpPr/>
                <p:nvPr/>
              </p:nvSpPr>
              <p:spPr>
                <a:xfrm>
                  <a:off x="8676167" y="3678865"/>
                  <a:ext cx="382772" cy="3827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00" dirty="0">
                      <a:solidFill>
                        <a:schemeClr val="tx1"/>
                      </a:solidFill>
                    </a:rPr>
                    <a:t>1F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08FB4EB-1098-8538-CB5B-168FD808C6A5}"/>
                    </a:ext>
                  </a:extLst>
                </p:cNvPr>
                <p:cNvSpPr/>
                <p:nvPr/>
              </p:nvSpPr>
              <p:spPr>
                <a:xfrm>
                  <a:off x="9065862" y="3678865"/>
                  <a:ext cx="382772" cy="3827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00" dirty="0">
                      <a:solidFill>
                        <a:schemeClr val="tx1"/>
                      </a:solidFill>
                    </a:rPr>
                    <a:t>A3</a:t>
                  </a: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B7436256-AB28-EB4C-1BAC-ACADD0A0264E}"/>
                    </a:ext>
                  </a:extLst>
                </p:cNvPr>
                <p:cNvSpPr/>
                <p:nvPr/>
              </p:nvSpPr>
              <p:spPr>
                <a:xfrm>
                  <a:off x="9455557" y="3678865"/>
                  <a:ext cx="382772" cy="3827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00" dirty="0">
                      <a:solidFill>
                        <a:schemeClr val="tx1"/>
                      </a:solidFill>
                    </a:rPr>
                    <a:t>FF</a:t>
                  </a: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1BE66C90-6A26-E5D4-1895-4F977BE6CA79}"/>
                    </a:ext>
                  </a:extLst>
                </p:cNvPr>
                <p:cNvSpPr/>
                <p:nvPr/>
              </p:nvSpPr>
              <p:spPr>
                <a:xfrm>
                  <a:off x="9838383" y="3678865"/>
                  <a:ext cx="382772" cy="3827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00" dirty="0">
                      <a:solidFill>
                        <a:schemeClr val="tx1"/>
                      </a:solidFill>
                    </a:rPr>
                    <a:t>42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BF41397C-00D1-D7AF-C5B9-D82DB9BA00E4}"/>
                    </a:ext>
                  </a:extLst>
                </p:cNvPr>
                <p:cNvSpPr/>
                <p:nvPr/>
              </p:nvSpPr>
              <p:spPr>
                <a:xfrm>
                  <a:off x="10228051" y="3678865"/>
                  <a:ext cx="382772" cy="3827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00" dirty="0">
                      <a:solidFill>
                        <a:schemeClr val="tx1"/>
                      </a:solidFill>
                    </a:rPr>
                    <a:t>4F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E1144BFF-D608-C68C-758F-CEB818310035}"/>
                    </a:ext>
                  </a:extLst>
                </p:cNvPr>
                <p:cNvSpPr/>
                <p:nvPr/>
              </p:nvSpPr>
              <p:spPr>
                <a:xfrm>
                  <a:off x="10617719" y="3678865"/>
                  <a:ext cx="382772" cy="382772"/>
                </a:xfrm>
                <a:prstGeom prst="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D64BC4F1-C91C-DDC7-29F4-DBB4637D9B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645579" y="2106666"/>
                <a:ext cx="0" cy="24167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79EFE0-0045-D988-63E5-1641D08B6EB0}"/>
                  </a:ext>
                </a:extLst>
              </p:cNvPr>
              <p:cNvSpPr txBox="1"/>
              <p:nvPr/>
            </p:nvSpPr>
            <p:spPr>
              <a:xfrm>
                <a:off x="10098656" y="2383665"/>
                <a:ext cx="113845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rgbClr val="FF0000"/>
                    </a:solidFill>
                  </a:rPr>
                  <a:t>FILE POINTER</a:t>
                </a: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5CE4B9A-1DAF-BA41-67DA-E5C6BE2F3FA4}"/>
                </a:ext>
              </a:extLst>
            </p:cNvPr>
            <p:cNvSpPr txBox="1"/>
            <p:nvPr/>
          </p:nvSpPr>
          <p:spPr>
            <a:xfrm>
              <a:off x="9445437" y="3564098"/>
              <a:ext cx="1715983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File operations: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open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read/write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seek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close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0822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9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F682C-9D40-30F4-0ED9-86C0997C6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3D5EEA-3BA9-C1C4-C26E-323CD53BE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58CA18-3035-69B3-01C3-1FFC5D307046}"/>
              </a:ext>
            </a:extLst>
          </p:cNvPr>
          <p:cNvSpPr txBox="1"/>
          <p:nvPr/>
        </p:nvSpPr>
        <p:spPr>
          <a:xfrm>
            <a:off x="430306" y="398033"/>
            <a:ext cx="31228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Streams and Buffering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8126CB-A867-39E3-EA65-FA45FE4E694F}"/>
              </a:ext>
            </a:extLst>
          </p:cNvPr>
          <p:cNvSpPr txBox="1"/>
          <p:nvPr/>
        </p:nvSpPr>
        <p:spPr>
          <a:xfrm>
            <a:off x="540774" y="1111045"/>
            <a:ext cx="648107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stream is an abstraction of a source or sink of data: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InputStream</a:t>
            </a:r>
            <a:r>
              <a:rPr lang="en-US" dirty="0"/>
              <a:t>: you read from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OutputStream</a:t>
            </a:r>
            <a:r>
              <a:rPr lang="en-US" dirty="0"/>
              <a:t>: you write to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In Java there are two different approaches to the I/O data: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Byte oriented: </a:t>
            </a:r>
            <a:r>
              <a:rPr lang="en-US" dirty="0" err="1"/>
              <a:t>InputStream</a:t>
            </a:r>
            <a:r>
              <a:rPr lang="en-US" dirty="0"/>
              <a:t> / </a:t>
            </a:r>
            <a:r>
              <a:rPr lang="en-US" dirty="0" err="1"/>
              <a:t>OutputStream</a:t>
            </a:r>
            <a:r>
              <a:rPr lang="en-US" dirty="0"/>
              <a:t> (and subclasses)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Character oriented: Reader / Writer (and subclasses)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Those classes can be layered.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BC1F94-451D-6D73-DF2B-74145D54189B}"/>
              </a:ext>
            </a:extLst>
          </p:cNvPr>
          <p:cNvSpPr txBox="1"/>
          <p:nvPr/>
        </p:nvSpPr>
        <p:spPr>
          <a:xfrm>
            <a:off x="4257369" y="3824747"/>
            <a:ext cx="74626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try (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OutputStream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FileOutputStream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("log.txt");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OutputStream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BufferedOutputStream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Writer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osw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OutputStreamWriter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StandardCharsets.UTF_8);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PrintWriter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pw = new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PrintWriter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osw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pw.println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("Hello, le!");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BA0A6C-5433-CC9C-AB40-D1B70A89A5C3}"/>
              </a:ext>
            </a:extLst>
          </p:cNvPr>
          <p:cNvGrpSpPr/>
          <p:nvPr/>
        </p:nvGrpSpPr>
        <p:grpSpPr>
          <a:xfrm>
            <a:off x="8347587" y="2786823"/>
            <a:ext cx="2266646" cy="1205074"/>
            <a:chOff x="8347587" y="2786823"/>
            <a:chExt cx="2266646" cy="1205074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57249BE-BEB2-7319-B5C7-3C783D934B80}"/>
                </a:ext>
              </a:extLst>
            </p:cNvPr>
            <p:cNvCxnSpPr/>
            <p:nvPr/>
          </p:nvCxnSpPr>
          <p:spPr>
            <a:xfrm flipH="1">
              <a:off x="8534400" y="3156155"/>
              <a:ext cx="934065" cy="8357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1ED9F4D-85C6-8EDA-2FE1-C02B8E2F10CF}"/>
                </a:ext>
              </a:extLst>
            </p:cNvPr>
            <p:cNvSpPr txBox="1"/>
            <p:nvPr/>
          </p:nvSpPr>
          <p:spPr>
            <a:xfrm>
              <a:off x="8347587" y="2786823"/>
              <a:ext cx="22666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Use </a:t>
              </a:r>
              <a:r>
                <a:rPr lang="en-US" b="1" dirty="0" err="1">
                  <a:solidFill>
                    <a:srgbClr val="FF0000"/>
                  </a:solidFill>
                </a:rPr>
                <a:t>AutoCloseable</a:t>
              </a:r>
              <a:r>
                <a:rPr lang="en-US" b="1" dirty="0">
                  <a:solidFill>
                    <a:srgbClr val="FF0000"/>
                  </a:solidFill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577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D83F6-1E07-FBB3-BA6D-E9364E931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148C182-D6B9-9E45-6ED7-C65688BD8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B0FCDD-AC9F-269D-D81D-38045BDB28BF}"/>
              </a:ext>
            </a:extLst>
          </p:cNvPr>
          <p:cNvSpPr txBox="1"/>
          <p:nvPr/>
        </p:nvSpPr>
        <p:spPr>
          <a:xfrm>
            <a:off x="430306" y="398033"/>
            <a:ext cx="2569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 Text vs. Binary I/O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1E0BC4-992A-27C5-7E34-CEC7F8FF15C8}"/>
              </a:ext>
            </a:extLst>
          </p:cNvPr>
          <p:cNvSpPr txBox="1"/>
          <p:nvPr/>
        </p:nvSpPr>
        <p:spPr>
          <a:xfrm>
            <a:off x="430306" y="1170039"/>
            <a:ext cx="110046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Physically, a file is always a collection of bytes.</a:t>
            </a:r>
          </a:p>
          <a:p>
            <a:endParaRPr lang="en-US" dirty="0"/>
          </a:p>
          <a:p>
            <a:r>
              <a:rPr lang="en-US" dirty="0"/>
              <a:t>But logically we often distinguish: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 files: bytes interpreted as characters using a character encoding (e.g. UTF8, UTF16).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Binary files: bytes interpreted according to some custom binary format (image, executable, serialized objects,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Text 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Portable and human readable.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Larger and requires parsing / encoding / decoding.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Sensitive to encoding and newline conventions.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Binary 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Compact and often faster to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human readable.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Requires precise knowledge of the format.</a:t>
            </a:r>
          </a:p>
        </p:txBody>
      </p:sp>
    </p:spTree>
    <p:extLst>
      <p:ext uri="{BB962C8B-B14F-4D97-AF65-F5344CB8AC3E}">
        <p14:creationId xmlns:p14="http://schemas.microsoft.com/office/powerpoint/2010/main" val="2080804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F6B0B-5E8F-4628-B8EF-D1105A561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B3543E-C7A2-5349-AC5E-2E8C6161F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C95F27-8AD7-A15E-3346-C4081678BD23}"/>
              </a:ext>
            </a:extLst>
          </p:cNvPr>
          <p:cNvSpPr txBox="1"/>
          <p:nvPr/>
        </p:nvSpPr>
        <p:spPr>
          <a:xfrm>
            <a:off x="430306" y="398033"/>
            <a:ext cx="2954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 Handling binary files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11473B-3175-9372-820A-150D9756114E}"/>
              </a:ext>
            </a:extLst>
          </p:cNvPr>
          <p:cNvSpPr txBox="1"/>
          <p:nvPr/>
        </p:nvSpPr>
        <p:spPr>
          <a:xfrm>
            <a:off x="430305" y="1622324"/>
            <a:ext cx="77230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Path source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Paths.get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("image.png");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Path target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Paths.get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("image-copy.png");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try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InputStream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in =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BufferedInputStream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Files.newInputStream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(source));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OutputStream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out =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BufferedOutputStream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Files.newOutputStream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(target))) { 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byte[] buffer = new byte[8192];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bytesRead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while ((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bytesRead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in.read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(buffer)) != -1)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out.write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(buffer, 0,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bytesRead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 catch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IOException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System.err.println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("Copy failed: "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e.getMessage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426E0C4-ADB5-92B1-323A-968EF4FE5B55}"/>
              </a:ext>
            </a:extLst>
          </p:cNvPr>
          <p:cNvGrpSpPr/>
          <p:nvPr/>
        </p:nvGrpSpPr>
        <p:grpSpPr>
          <a:xfrm>
            <a:off x="4562168" y="628865"/>
            <a:ext cx="7060777" cy="1494903"/>
            <a:chOff x="4562168" y="628865"/>
            <a:chExt cx="7060777" cy="149490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0D05A75-464E-10B8-C88C-0EBEC9FBA7F6}"/>
                </a:ext>
              </a:extLst>
            </p:cNvPr>
            <p:cNvCxnSpPr/>
            <p:nvPr/>
          </p:nvCxnSpPr>
          <p:spPr>
            <a:xfrm flipH="1">
              <a:off x="4562168" y="1170039"/>
              <a:ext cx="943897" cy="9537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F1AD3E9-616F-86A4-60B3-C80D8528F567}"/>
                </a:ext>
              </a:extLst>
            </p:cNvPr>
            <p:cNvSpPr txBox="1"/>
            <p:nvPr/>
          </p:nvSpPr>
          <p:spPr>
            <a:xfrm>
              <a:off x="5771535" y="628865"/>
              <a:ext cx="585141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Unless we have specific reasons that requires unbuffered</a:t>
              </a:r>
            </a:p>
            <a:p>
              <a:r>
                <a:rPr lang="en-US" dirty="0"/>
                <a:t>operations, we use </a:t>
              </a:r>
              <a:r>
                <a:rPr lang="en-US" dirty="0" err="1"/>
                <a:t>FileInputStream</a:t>
              </a:r>
              <a:r>
                <a:rPr lang="en-US" dirty="0"/>
                <a:t>/</a:t>
              </a:r>
              <a:r>
                <a:rPr lang="en-US" dirty="0" err="1"/>
                <a:t>FileOutputStream</a:t>
              </a:r>
              <a:endParaRPr lang="en-US" dirty="0"/>
            </a:p>
            <a:p>
              <a:r>
                <a:rPr lang="en-US" dirty="0"/>
                <a:t>buffered in </a:t>
              </a:r>
              <a:r>
                <a:rPr lang="en-US" dirty="0" err="1"/>
                <a:t>BufferedInputStream</a:t>
              </a:r>
              <a:r>
                <a:rPr lang="en-US" dirty="0"/>
                <a:t>/</a:t>
              </a:r>
              <a:r>
                <a:rPr lang="en-US" dirty="0" err="1"/>
                <a:t>BufferedOutputStream</a:t>
              </a:r>
              <a:r>
                <a:rPr lang="en-US" dirty="0"/>
                <a:t>.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3641370-62C8-220F-D0E4-795B141B92D0}"/>
              </a:ext>
            </a:extLst>
          </p:cNvPr>
          <p:cNvGrpSpPr/>
          <p:nvPr/>
        </p:nvGrpSpPr>
        <p:grpSpPr>
          <a:xfrm>
            <a:off x="2123768" y="3053485"/>
            <a:ext cx="8087032" cy="1535076"/>
            <a:chOff x="2123768" y="3053485"/>
            <a:chExt cx="8087032" cy="153507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BED97B1-AA43-074A-C273-5218E47129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23768" y="3053485"/>
              <a:ext cx="3972232" cy="2646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449356E-A2AA-81F4-4243-E6DCCC75178E}"/>
                </a:ext>
              </a:extLst>
            </p:cNvPr>
            <p:cNvSpPr txBox="1"/>
            <p:nvPr/>
          </p:nvSpPr>
          <p:spPr>
            <a:xfrm>
              <a:off x="6096000" y="3388232"/>
              <a:ext cx="41148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Always use a </a:t>
              </a:r>
              <a:r>
                <a:rPr lang="en-US" dirty="0" err="1">
                  <a:solidFill>
                    <a:srgbClr val="FF0000"/>
                  </a:solidFill>
                </a:rPr>
                <a:t>bytesRead</a:t>
              </a:r>
              <a:r>
                <a:rPr lang="en-US" dirty="0">
                  <a:solidFill>
                    <a:srgbClr val="FF0000"/>
                  </a:solidFill>
                </a:rPr>
                <a:t> var!!!</a:t>
              </a:r>
            </a:p>
            <a:p>
              <a:endParaRPr lang="en-US" dirty="0"/>
            </a:p>
            <a:p>
              <a:r>
                <a:rPr lang="en-US" dirty="0"/>
                <a:t>You can have less data than the whole buffer available.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C15218D-518C-56E8-6A20-06D490707AEC}"/>
                </a:ext>
              </a:extLst>
            </p:cNvPr>
            <p:cNvCxnSpPr/>
            <p:nvPr/>
          </p:nvCxnSpPr>
          <p:spPr>
            <a:xfrm flipH="1" flipV="1">
              <a:off x="3637935" y="3706761"/>
              <a:ext cx="2340078" cy="28163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49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8EA7A-F4A7-6277-98E8-94CD7866E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3B00F-B8C2-6A10-E38E-63ED351C7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BC6056-BE84-BE0F-EFE6-0ACD1FEFE86D}"/>
              </a:ext>
            </a:extLst>
          </p:cNvPr>
          <p:cNvSpPr txBox="1"/>
          <p:nvPr/>
        </p:nvSpPr>
        <p:spPr>
          <a:xfrm>
            <a:off x="430306" y="398033"/>
            <a:ext cx="2618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 Handling text files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CCDE1-4165-78C9-08E1-20047DCE35A8}"/>
              </a:ext>
            </a:extLst>
          </p:cNvPr>
          <p:cNvSpPr txBox="1"/>
          <p:nvPr/>
        </p:nvSpPr>
        <p:spPr>
          <a:xfrm>
            <a:off x="430305" y="1042220"/>
            <a:ext cx="675707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Path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Paths.get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("input.txt");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Charset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charset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StandardCharsets.UTF_8;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try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BufferedReader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reader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Files.newBufferedReader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(path, charset))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String line;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while ((line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reader.readLine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()) != null)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(line);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 catch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IOException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System.err.println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("Error reading le: "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e.getMessage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B03EB5-0AB8-4675-E651-46B01D60B3DD}"/>
              </a:ext>
            </a:extLst>
          </p:cNvPr>
          <p:cNvSpPr txBox="1"/>
          <p:nvPr/>
        </p:nvSpPr>
        <p:spPr>
          <a:xfrm>
            <a:off x="8265172" y="1042220"/>
            <a:ext cx="37105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List&lt;String&gt; lines =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Files.readAllLines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(path, charset);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for (String line : lines)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(line);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FB1D67-45D4-1691-F506-ADB01477FAC7}"/>
              </a:ext>
            </a:extLst>
          </p:cNvPr>
          <p:cNvSpPr txBox="1"/>
          <p:nvPr/>
        </p:nvSpPr>
        <p:spPr>
          <a:xfrm>
            <a:off x="430305" y="3689659"/>
            <a:ext cx="67570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Path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Paths.get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("output.txt");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Charset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charset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StandardCharsets.UTF_8;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try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BufferedWriter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writer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Files.newBufferedWriter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(path, charset))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writer.write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("Hello, world!");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writer.newLine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writer.write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("This is a second line.");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 catch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IOException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System.err.println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("Error writing le: "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e.getMessage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15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07E61-A2BC-F2C9-D5C7-9CF5BA043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58172E-54E5-BFB5-3E1E-A0277AE84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B347FE-EF21-34B2-4C7F-65126D1EF2C5}"/>
              </a:ext>
            </a:extLst>
          </p:cNvPr>
          <p:cNvSpPr txBox="1"/>
          <p:nvPr/>
        </p:nvSpPr>
        <p:spPr>
          <a:xfrm>
            <a:off x="430306" y="398033"/>
            <a:ext cx="2555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 Data serialization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B60BF-8893-3097-CDBC-5304AF431943}"/>
              </a:ext>
            </a:extLst>
          </p:cNvPr>
          <p:cNvSpPr txBox="1"/>
          <p:nvPr/>
        </p:nvSpPr>
        <p:spPr>
          <a:xfrm>
            <a:off x="532995" y="993058"/>
            <a:ext cx="1112601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Serialization is the act of converting a data structure or object in memory into a representation that can be stored or transmitted and later reconstructed (deserialized) into an equivalent structure.</a:t>
            </a:r>
          </a:p>
          <a:p>
            <a:endParaRPr lang="en-US" sz="1600" dirty="0"/>
          </a:p>
          <a:p>
            <a:r>
              <a:rPr lang="en-US" sz="1600" dirty="0"/>
              <a:t>Why?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Persistence</a:t>
            </a:r>
            <a:r>
              <a:rPr lang="en-US" sz="1600" dirty="0"/>
              <a:t>: save state to disk and restore it later.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Communication</a:t>
            </a:r>
            <a:r>
              <a:rPr lang="en-US" sz="1600" dirty="0"/>
              <a:t>: send structured data across processes or machines.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Interoperability</a:t>
            </a:r>
            <a:r>
              <a:rPr lang="en-US" sz="1600" dirty="0"/>
              <a:t>: use formats understandable by different languages and platforms.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dirty="0"/>
              <a:t>Targets: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Text formats: CSV, JSON, XML, YAML.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Binary formats: custom binary layouts, or frameworks like Protocol Buffers, Avro, </a:t>
            </a:r>
            <a:r>
              <a:rPr lang="en-US" sz="1600" dirty="0" err="1"/>
              <a:t>MessagePack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dirty="0"/>
              <a:t>How?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Custom serialization: you design your own file/stream format.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Text: e.g. one person per line: </a:t>
            </a:r>
            <a:r>
              <a:rPr lang="en-US" sz="1600" i="1" dirty="0" err="1"/>
              <a:t>name;age</a:t>
            </a:r>
            <a:r>
              <a:rPr lang="en-US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Binary: e.g. write length followed by N-length bytes for each field.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Library-based serialization: frameworks that map objects to formats: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Java native serialization (</a:t>
            </a:r>
            <a:r>
              <a:rPr lang="en-US" sz="1600" dirty="0" err="1"/>
              <a:t>ObjectOutputStream</a:t>
            </a:r>
            <a:r>
              <a:rPr lang="en-US" sz="1600" dirty="0"/>
              <a:t> / </a:t>
            </a:r>
            <a:r>
              <a:rPr lang="en-US" sz="1600" dirty="0" err="1"/>
              <a:t>ObjectInputStream</a:t>
            </a:r>
            <a:r>
              <a:rPr lang="en-US" sz="16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Custom libraries (Jackson, Apache …)</a:t>
            </a:r>
          </a:p>
        </p:txBody>
      </p:sp>
    </p:spTree>
    <p:extLst>
      <p:ext uri="{BB962C8B-B14F-4D97-AF65-F5344CB8AC3E}">
        <p14:creationId xmlns:p14="http://schemas.microsoft.com/office/powerpoint/2010/main" val="383024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1B1B0-6312-D1CF-58FF-89AE3D535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BA17E8-9F0A-5B24-788C-EB0FDBC3A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6A1750-92FF-84F6-6EBD-17D8F40317BE}"/>
              </a:ext>
            </a:extLst>
          </p:cNvPr>
          <p:cNvSpPr txBox="1"/>
          <p:nvPr/>
        </p:nvSpPr>
        <p:spPr>
          <a:xfrm>
            <a:off x="430306" y="398033"/>
            <a:ext cx="3709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 Native serialization in Java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B5065-BDA6-3CC3-4559-58FE3A198462}"/>
              </a:ext>
            </a:extLst>
          </p:cNvPr>
          <p:cNvSpPr txBox="1"/>
          <p:nvPr/>
        </p:nvSpPr>
        <p:spPr>
          <a:xfrm>
            <a:off x="532995" y="993058"/>
            <a:ext cx="11126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Just implement the Serializable interface!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58EE6A-36CC-9E55-39C9-1C23570AEF5F}"/>
              </a:ext>
            </a:extLst>
          </p:cNvPr>
          <p:cNvSpPr txBox="1"/>
          <p:nvPr/>
        </p:nvSpPr>
        <p:spPr>
          <a:xfrm>
            <a:off x="532995" y="1551563"/>
            <a:ext cx="9017212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java.io.Serializable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Person implements Serializable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private static final long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serialVersionUID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1L; // version control for the serialized class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private String name;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private int age;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Person(String name, int age)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this.name = name;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this.age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age;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@Override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String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return "Person{name='" + name + "', age=" + age + "}";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D25F9D-02BA-2977-8D6A-9CD15CF8FCC1}"/>
              </a:ext>
            </a:extLst>
          </p:cNvPr>
          <p:cNvSpPr txBox="1"/>
          <p:nvPr/>
        </p:nvSpPr>
        <p:spPr>
          <a:xfrm>
            <a:off x="6662188" y="2998113"/>
            <a:ext cx="499681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Advantages: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supported in all Java landscape</a:t>
            </a:r>
          </a:p>
          <a:p>
            <a:pPr marL="285750" indent="-285750">
              <a:buFontTx/>
              <a:buChar char="-"/>
            </a:pPr>
            <a:r>
              <a:rPr lang="en-US" dirty="0"/>
              <a:t>inheritance and polymorphism supported</a:t>
            </a:r>
            <a:br>
              <a:rPr lang="en-US" dirty="0"/>
            </a:br>
            <a:r>
              <a:rPr lang="en-US" dirty="0"/>
              <a:t>by design</a:t>
            </a:r>
          </a:p>
          <a:p>
            <a:pPr marL="285750" indent="-285750">
              <a:buFontTx/>
              <a:buChar char="-"/>
            </a:pPr>
            <a:r>
              <a:rPr lang="en-US" dirty="0"/>
              <a:t>by composing streams the data can flow to/</a:t>
            </a:r>
            <a:br>
              <a:rPr lang="en-US" dirty="0"/>
            </a:br>
            <a:r>
              <a:rPr lang="en-US" dirty="0"/>
              <a:t>through anything (for example, you can</a:t>
            </a:r>
            <a:br>
              <a:rPr lang="en-US" dirty="0"/>
            </a:br>
            <a:r>
              <a:rPr lang="en-US" dirty="0"/>
              <a:t>compress and encrypt data before serializing)</a:t>
            </a:r>
          </a:p>
        </p:txBody>
      </p:sp>
    </p:spTree>
    <p:extLst>
      <p:ext uri="{BB962C8B-B14F-4D97-AF65-F5344CB8AC3E}">
        <p14:creationId xmlns:p14="http://schemas.microsoft.com/office/powerpoint/2010/main" val="370175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8AD7A-357F-0597-EF6A-1A19A5E8A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5FF9510-51CF-606C-C7B5-D1490EE08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Programming II - Files &amp; I/O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C0DF9-4193-EAC6-3A95-2597A269F67C}"/>
              </a:ext>
            </a:extLst>
          </p:cNvPr>
          <p:cNvSpPr txBox="1"/>
          <p:nvPr/>
        </p:nvSpPr>
        <p:spPr>
          <a:xfrm>
            <a:off x="4115233" y="3136612"/>
            <a:ext cx="39615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Serialization example</a:t>
            </a:r>
          </a:p>
        </p:txBody>
      </p:sp>
    </p:spTree>
    <p:extLst>
      <p:ext uri="{BB962C8B-B14F-4D97-AF65-F5344CB8AC3E}">
        <p14:creationId xmlns:p14="http://schemas.microsoft.com/office/powerpoint/2010/main" val="4207749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1e9b6e7-e4bc-422b-b136-be52bca82e7c}" enabled="1" method="Privilege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1839</TotalTime>
  <Words>1275</Words>
  <Application>Microsoft Office PowerPoint</Application>
  <PresentationFormat>Widescreen</PresentationFormat>
  <Paragraphs>198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Tatiana Rubina</cp:lastModifiedBy>
  <cp:revision>45</cp:revision>
  <dcterms:created xsi:type="dcterms:W3CDTF">2025-02-17T20:26:07Z</dcterms:created>
  <dcterms:modified xsi:type="dcterms:W3CDTF">2026-06-21T13:43:12Z</dcterms:modified>
</cp:coreProperties>
</file>