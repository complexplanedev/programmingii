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41"/>
    <p:restoredTop sz="94679"/>
  </p:normalViewPr>
  <p:slideViewPr>
    <p:cSldViewPr snapToGrid="0">
      <p:cViewPr varScale="1">
        <p:scale>
          <a:sx n="134" d="100"/>
          <a:sy n="134" d="100"/>
        </p:scale>
        <p:origin x="200" y="1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07293-F053-7B40-A228-5F1A48558100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41D49-4EEF-854E-9DDE-8BC5FEFD0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39B-63FB-6C79-15F1-BAA1C47C7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9E2CF-704F-6F6C-0426-B7F84FC24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6FD8C-3A3D-445A-213A-CF6B71BA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5E461-DE92-F84D-931A-FC9A59BD2FF5}" type="datetime1"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CA33-588F-4EAC-C341-1447D02D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C2CF-CA0A-CFA0-6B58-37C4224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6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5E98-1E0A-5C06-1F5F-DEBE421C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2E38-AE1D-142D-1A59-8A0F47F9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4205-A97E-5C80-20A0-4B68B765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AA04-B69C-0C42-8232-30B45C8471BC}" type="datetime1"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4116-E39C-BD33-E13E-AF18EB8A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E9A-B868-FE52-8CFE-68919621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1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8CB-C549-0CDB-FB0B-590D1E78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19BA9-E540-1566-4B2B-E59034E8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6ECF-E7C9-D6D6-EE13-5AE02137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FA0A2-A0B2-0240-AE8B-90ADBEC1FA82}" type="datetime1"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9BBF-4527-08FB-EACA-DCAD1219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06293-AE67-6245-643E-B715DC45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3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51C7-AD92-09E3-6E4E-47CA0921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7D2D-1F7F-2B3D-CA36-7D64AE075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8E74B-CD91-A054-ADC9-1EFCB7785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2C44-3D99-F76D-41A0-E73C8318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4741-A298-6449-959A-7B239B84CF12}" type="datetime1"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2654B-ABB1-B4E7-D3FF-75F502EF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B3FF0-A6CC-BB11-1387-91380F75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3EE0-13D7-B16A-671D-37C4003E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36EBB-EB65-A1BE-9D46-0D48EAE2E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96A3D-C74C-E765-80CD-7C597B8C6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A3A30-D02C-B54E-0027-C54DB7D89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242F7-89D9-4224-E2F0-D92BEC3FF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3D59E-AFA9-0483-559C-6C131C0E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216CD-0C98-5349-A1F9-4543F37816FB}" type="datetime1">
              <a:t>5/27/26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6F210-EE29-8E1D-8FA8-D10028D7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38DDC-0ECF-9134-256E-293D6681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4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76A2-3DA5-918E-EA96-5DE7EA19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E71DD-2CDF-D942-ECFA-3348F885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CE81-56CA-384A-8A02-CEAA6F0943B6}" type="datetime1">
              <a:t>5/27/26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4A0C1-2879-C55B-0CF2-13A64EE6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2FF08-FA4F-5E70-3D58-56BD02ED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E7684-4EDD-C720-2CDF-C7DB971D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7CDA-9FD8-7041-B6CB-6A6C9634FA8C}" type="datetime1">
              <a:t>5/27/26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BEAB9-0036-AFDC-FD10-E5BBB32C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1F654-1E2B-5C4F-56B1-FD811F1D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9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AE98-D290-2D23-02C2-B1B9D08A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B8CB-0769-520D-1239-A592E736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52471-F5C0-4650-7641-FEC81F273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E6937-6113-2719-D75D-2A5C2922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E60B-C718-674C-B136-81F685824AA4}" type="datetime1"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6A247-0567-CD26-31DC-A70792F3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7F36-2EDB-2D13-ED56-83A06114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3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D053-C082-202E-4257-E09A2B09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8AAF1-FF16-01CE-ECAA-EFE558D8A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DDB28-7904-6C8E-701B-A3CFF3D45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7D25E-1E8D-FE8F-35CC-8D8B4328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3818-5E7C-854C-BCE0-D70B5B97ACC8}" type="datetime1"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BFC95-31D9-F0FD-B110-5448FD7D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AA12B-4266-61D9-EDD2-3EE5CE79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7D41-2C62-B81A-4E55-5B17754E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87ADB-41B0-0C03-1623-085306CD7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ED994-B570-EC4C-69DF-20F16C7F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3EF5B-B3CC-C447-B562-269377E1BF4E}" type="datetime1"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D534-A450-A307-4B07-6C4650AC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C195-7F54-203F-CDA1-C5063171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438AF-B931-3C84-F6D4-87AB3B83A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28B3D-F088-3F99-72FF-7414B2DC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55F1-AB43-623C-C5CB-38A30E28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362BD-0C5D-6A43-88E0-A02A5207FCEA}" type="datetime1"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7671F-F3CA-AD8C-AAED-1CEDA06B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B1CDC-17D0-73DC-75AA-4AC4F7A1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4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B54A4-460A-D881-CB80-B80976E9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4465D-2428-0E8F-C234-F54A0ACB2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1F970-F887-4C4D-5815-B89930B12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EAE79-6102-5348-91BE-AB2EB232F98B}" type="datetime1"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557DE-AC99-B9B5-5DF2-4FB364C1F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II - Arrays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09E07-DBC5-7183-4C8A-37012085C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9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1150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C0A45D-015B-F9B3-DB27-9D904718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2E73E-5FE4-B397-BDFC-5C186926044C}"/>
              </a:ext>
            </a:extLst>
          </p:cNvPr>
          <p:cNvSpPr txBox="1"/>
          <p:nvPr/>
        </p:nvSpPr>
        <p:spPr>
          <a:xfrm>
            <a:off x="430306" y="398033"/>
            <a:ext cx="3901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What is it and why it matters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CB148-B9DA-5D8C-1A1B-814B601FAA86}"/>
              </a:ext>
            </a:extLst>
          </p:cNvPr>
          <p:cNvSpPr txBox="1"/>
          <p:nvPr/>
        </p:nvSpPr>
        <p:spPr>
          <a:xfrm>
            <a:off x="542260" y="1222744"/>
            <a:ext cx="1067317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An array is a container object that holds a fixed number of values of a single type.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Container Object: An array is an object, created dynamically on the heap, not a primitive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Fixed Length: Once created, the number of elements (the length) cannot be changed.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Homogeneous: All elements must be of the same type (the component type).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Zero-Indexed Access: Elements are accessed by integer indices starting from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Sequential Storage: Elements are stored contiguously in memory, allowing efficient random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A mental picture could be a row of lockers in a school hallway (all lockers are equal, they contain one item, they have an index, they can be accessed independently, the whole row is fixed).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9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18DCF-97B7-35DD-7C2B-FD370026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B36E2C-1991-B876-2C0C-49580D56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93DDB-9692-0E97-4868-213FB933827A}"/>
              </a:ext>
            </a:extLst>
          </p:cNvPr>
          <p:cNvSpPr txBox="1"/>
          <p:nvPr/>
        </p:nvSpPr>
        <p:spPr>
          <a:xfrm>
            <a:off x="430306" y="398033"/>
            <a:ext cx="1949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Arrays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03DF7-87FB-4BC6-5A81-DF80D7245E9B}"/>
              </a:ext>
            </a:extLst>
          </p:cNvPr>
          <p:cNvSpPr txBox="1"/>
          <p:nvPr/>
        </p:nvSpPr>
        <p:spPr>
          <a:xfrm>
            <a:off x="542260" y="1222744"/>
            <a:ext cx="9538445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Arrays in Java </a:t>
            </a:r>
            <a:r>
              <a:rPr lang="en-US" b="1">
                <a:solidFill>
                  <a:srgbClr val="FF0000"/>
                </a:solidFill>
              </a:rPr>
              <a:t>are objects</a:t>
            </a:r>
            <a:r>
              <a:rPr lang="en-US"/>
              <a:t>.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They must be created via the </a:t>
            </a:r>
            <a:r>
              <a:rPr lang="en-US" b="1"/>
              <a:t>new</a:t>
            </a:r>
            <a:r>
              <a:rPr lang="en-US"/>
              <a:t> keyword.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They can be assigned to Object variables, they get all the Object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They have a </a:t>
            </a:r>
            <a:r>
              <a:rPr lang="en-US" i="1"/>
              <a:t>length</a:t>
            </a:r>
            <a:r>
              <a:rPr lang="en-US"/>
              <a:t> field.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Arrays have dimensions, i.e. the number of indexes you need to use to access a single element.</a:t>
            </a:r>
          </a:p>
          <a:p>
            <a:endParaRPr lang="en-US"/>
          </a:p>
          <a:p>
            <a:r>
              <a:rPr lang="en-US" b="1"/>
              <a:t>The element is always the innermost one!</a:t>
            </a:r>
          </a:p>
          <a:p>
            <a:endParaRPr lang="en-US" b="1"/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int[] array1dim = new int[10];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int[][] array2dim = new int[3][4];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array2dim[0]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  points to an array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69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C83AE-5F5D-F1B6-463F-9C330579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91F605-DD54-20BF-BC93-6C67D6F10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6966AC-610D-9F54-0A53-23CD61EEB096}"/>
              </a:ext>
            </a:extLst>
          </p:cNvPr>
          <p:cNvSpPr txBox="1"/>
          <p:nvPr/>
        </p:nvSpPr>
        <p:spPr>
          <a:xfrm>
            <a:off x="430306" y="398033"/>
            <a:ext cx="6012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Arrays non-POD items in Java are 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C0D87F-B3DB-3C70-5D6E-BF5753AF63D0}"/>
              </a:ext>
            </a:extLst>
          </p:cNvPr>
          <p:cNvSpPr txBox="1"/>
          <p:nvPr/>
        </p:nvSpPr>
        <p:spPr>
          <a:xfrm>
            <a:off x="542260" y="1222744"/>
            <a:ext cx="934069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Array types behave like other reference types in the type system: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Array variables hold references (memory addresses pointing to array objects on the heap).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Assignment copies the reference, not the array contents.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Comparison with == compares references, not element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 array variable can hold a null reference (no actual array object)</a:t>
            </a:r>
          </a:p>
          <a:p>
            <a:endParaRPr lang="en-US"/>
          </a:p>
          <a:p>
            <a:r>
              <a:rPr lang="en-US"/>
              <a:t>Of course arrays can hold classes and subclasses:</a:t>
            </a:r>
          </a:p>
          <a:p>
            <a:endParaRPr lang="en-US"/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class Animal { }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class Dog extends Animal { }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Animal[] animals = new Dog[10];</a:t>
            </a:r>
          </a:p>
        </p:txBody>
      </p:sp>
    </p:spTree>
    <p:extLst>
      <p:ext uri="{BB962C8B-B14F-4D97-AF65-F5344CB8AC3E}">
        <p14:creationId xmlns:p14="http://schemas.microsoft.com/office/powerpoint/2010/main" val="57394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19BDF-67C8-4991-4FD9-E971A4030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5BFDCE-29FB-C779-185F-A3A2657A7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7C68A5-5092-7FE5-3AF3-0361589D8A1A}"/>
              </a:ext>
            </a:extLst>
          </p:cNvPr>
          <p:cNvSpPr txBox="1"/>
          <p:nvPr/>
        </p:nvSpPr>
        <p:spPr>
          <a:xfrm>
            <a:off x="430306" y="398033"/>
            <a:ext cx="3658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Creation and initialization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2140D-59F9-EDB9-9E79-DBA84A783758}"/>
              </a:ext>
            </a:extLst>
          </p:cNvPr>
          <p:cNvSpPr txBox="1"/>
          <p:nvPr/>
        </p:nvSpPr>
        <p:spPr>
          <a:xfrm>
            <a:off x="542260" y="1222744"/>
            <a:ext cx="9514528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Type[] arr = new Type[N];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This expression:</a:t>
            </a:r>
          </a:p>
          <a:p>
            <a:endParaRPr lang="en-US"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>
                <a:cs typeface="Courier New" panose="02070309020205020404" pitchFamily="49" charset="0"/>
              </a:rPr>
              <a:t>Allocates memory for an array object on the heap.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cs typeface="Courier New" panose="02070309020205020404" pitchFamily="49" charset="0"/>
              </a:rPr>
              <a:t>Initializes all components to the default value for the type (what happens if Type is a class?)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cs typeface="Courier New" panose="02070309020205020404" pitchFamily="49" charset="0"/>
              </a:rPr>
              <a:t>Returns a reference to the array object.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cs typeface="Courier New" panose="02070309020205020404" pitchFamily="49" charset="0"/>
              </a:rPr>
              <a:t>Assigns the reference to the variable </a:t>
            </a:r>
            <a:r>
              <a:rPr lang="en-US" i="1">
                <a:cs typeface="Courier New" panose="02070309020205020404" pitchFamily="49" charset="0"/>
              </a:rPr>
              <a:t>arr</a:t>
            </a:r>
            <a:r>
              <a:rPr lang="en-US">
                <a:cs typeface="Courier New" panose="02070309020205020404" pitchFamily="49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In case of constants, values can be set at creation time: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int[] primes = {2, 3, 5, 7, 11, 13};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String[] days = {"Monday", "Tuesday", "Wednesday"};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int[][] matrix =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{1, 2, 3},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{4, 5, 6}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5849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F2A14-17CC-DCEC-366C-CF449BED0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CF30-3B35-D1D5-C470-F845628A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6DF25-F199-077F-91E5-469CC78BB825}"/>
              </a:ext>
            </a:extLst>
          </p:cNvPr>
          <p:cNvSpPr txBox="1"/>
          <p:nvPr/>
        </p:nvSpPr>
        <p:spPr>
          <a:xfrm>
            <a:off x="430306" y="398033"/>
            <a:ext cx="2264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Some algoritms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C80262-80CA-4270-E41A-DF509A2A9390}"/>
              </a:ext>
            </a:extLst>
          </p:cNvPr>
          <p:cNvSpPr txBox="1"/>
          <p:nvPr/>
        </p:nvSpPr>
        <p:spPr>
          <a:xfrm>
            <a:off x="542260" y="1222744"/>
            <a:ext cx="326313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cs typeface="Courier New" panose="02070309020205020404" pitchFamily="49" charset="0"/>
              </a:rPr>
              <a:t>Insertion</a:t>
            </a:r>
          </a:p>
          <a:p>
            <a:pPr marL="342900" indent="-342900">
              <a:buFont typeface="+mj-lt"/>
              <a:buAutoNum type="arabicPeriod"/>
            </a:pPr>
            <a:endParaRPr lang="en-US"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>
                <a:cs typeface="Courier New" panose="02070309020205020404" pitchFamily="49" charset="0"/>
              </a:rPr>
              <a:t>Deletion</a:t>
            </a:r>
          </a:p>
          <a:p>
            <a:pPr marL="342900" indent="-342900">
              <a:buFont typeface="+mj-lt"/>
              <a:buAutoNum type="arabicPeriod"/>
            </a:pPr>
            <a:endParaRPr lang="en-US"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>
                <a:cs typeface="Courier New" panose="02070309020205020404" pitchFamily="49" charset="0"/>
              </a:rPr>
              <a:t>Reverse</a:t>
            </a:r>
          </a:p>
          <a:p>
            <a:pPr marL="342900" indent="-342900">
              <a:buFont typeface="+mj-lt"/>
              <a:buAutoNum type="arabicPeriod"/>
            </a:pPr>
            <a:endParaRPr lang="en-US"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>
                <a:cs typeface="Courier New" panose="02070309020205020404" pitchFamily="49" charset="0"/>
              </a:rPr>
              <a:t>Find the 2</a:t>
            </a:r>
            <a:r>
              <a:rPr lang="en-US" baseline="30000">
                <a:cs typeface="Courier New" panose="02070309020205020404" pitchFamily="49" charset="0"/>
              </a:rPr>
              <a:t>nd</a:t>
            </a:r>
            <a:r>
              <a:rPr lang="en-US">
                <a:cs typeface="Courier New" panose="02070309020205020404" pitchFamily="49" charset="0"/>
              </a:rPr>
              <a:t> largest element</a:t>
            </a:r>
          </a:p>
          <a:p>
            <a:pPr marL="342900" indent="-342900">
              <a:buFont typeface="+mj-lt"/>
              <a:buAutoNum type="arabicPeriod"/>
            </a:pPr>
            <a:endParaRPr lang="en-US"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>
                <a:cs typeface="Courier New" panose="02070309020205020404" pitchFamily="49" charset="0"/>
              </a:rPr>
              <a:t>Rotation by k positions</a:t>
            </a:r>
          </a:p>
          <a:p>
            <a:pPr marL="342900" indent="-342900">
              <a:buFont typeface="+mj-lt"/>
              <a:buAutoNum type="arabicPeriod"/>
            </a:pPr>
            <a:endParaRPr lang="en-US"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>
                <a:cs typeface="Courier New" panose="02070309020205020404" pitchFamily="49" charset="0"/>
              </a:rPr>
              <a:t>Neighbors of a cell</a:t>
            </a:r>
          </a:p>
          <a:p>
            <a:pPr marL="342900" indent="-342900">
              <a:buFont typeface="+mj-lt"/>
              <a:buAutoNum type="arabicPeriod"/>
            </a:pPr>
            <a:endParaRPr lang="en-US"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>
                <a:cs typeface="Courier New" panose="02070309020205020404" pitchFamily="49" charset="0"/>
              </a:rPr>
              <a:t>Histogram</a:t>
            </a:r>
          </a:p>
          <a:p>
            <a:pPr marL="342900" indent="-342900">
              <a:buFont typeface="+mj-lt"/>
              <a:buAutoNum type="arabicPeriod"/>
            </a:pPr>
            <a:endParaRPr lang="en-US"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>
                <a:cs typeface="Courier New" panose="02070309020205020404" pitchFamily="49" charset="0"/>
              </a:rPr>
              <a:t>Palindrome check</a:t>
            </a:r>
          </a:p>
        </p:txBody>
      </p:sp>
    </p:spTree>
    <p:extLst>
      <p:ext uri="{BB962C8B-B14F-4D97-AF65-F5344CB8AC3E}">
        <p14:creationId xmlns:p14="http://schemas.microsoft.com/office/powerpoint/2010/main" val="174130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e9b6e7-e4bc-422b-b136-be52bca82e7c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1722</TotalTime>
  <Words>522</Words>
  <Application>Microsoft Macintosh PowerPoint</Application>
  <PresentationFormat>Widescreen</PresentationFormat>
  <Paragraphs>93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Di Monaco, Antonio</cp:lastModifiedBy>
  <cp:revision>42</cp:revision>
  <dcterms:created xsi:type="dcterms:W3CDTF">2025-02-17T20:26:07Z</dcterms:created>
  <dcterms:modified xsi:type="dcterms:W3CDTF">2026-05-27T11:25:59Z</dcterms:modified>
</cp:coreProperties>
</file>