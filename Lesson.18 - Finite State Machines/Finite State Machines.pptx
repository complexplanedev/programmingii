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85" r:id="rId2"/>
    <p:sldId id="257" r:id="rId3"/>
    <p:sldId id="264" r:id="rId4"/>
    <p:sldId id="265" r:id="rId5"/>
    <p:sldId id="286" r:id="rId6"/>
    <p:sldId id="287" r:id="rId7"/>
    <p:sldId id="288" r:id="rId8"/>
    <p:sldId id="291" r:id="rId9"/>
    <p:sldId id="289" r:id="rId10"/>
    <p:sldId id="258" r:id="rId11"/>
    <p:sldId id="259" r:id="rId12"/>
    <p:sldId id="290" r:id="rId13"/>
    <p:sldId id="2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5"/>
    <p:restoredTop sz="94568"/>
  </p:normalViewPr>
  <p:slideViewPr>
    <p:cSldViewPr snapToGrid="0">
      <p:cViewPr varScale="1">
        <p:scale>
          <a:sx n="118" d="100"/>
          <a:sy n="118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C2D0E0-E168-494B-B12F-572113F95957}" type="datetimeFigureOut">
              <a:t>7/11/26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12F5C-7E4B-3D4C-81B6-B8E9CC618B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7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18FFD-EC48-C78E-E505-C1CF35044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2CEB9-17EA-D7EB-084A-8F069D429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37224-05AF-84E9-B12B-A94825BE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1340B-D34D-2349-BF29-B6AA1F627AE0}" type="datetime1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AEA28-E538-9425-2E05-DAB8CEB0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003C8-E113-E5C5-25CE-FB6FD32D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8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6978-E3FB-6729-B3A6-2ECD4B195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A67B-B903-55AE-55ED-A2FD91F5C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149D-8F6B-CC36-163C-CC69E33D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2BE54-1451-DA40-B6E8-53B5FD09E09C}" type="datetime1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B0CAA-D999-E636-640C-19DAA58C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88317-4B07-9570-74CA-0E049853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2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6786-6F63-294D-B046-4C7E84B4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E9247-B738-8527-713C-A711487BC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0F90D-512D-C8D1-69FE-8E12909D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7532-7DAB-E14E-8431-D65EE3E74A2C}" type="datetime1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12ED4-E5C2-104E-55A9-52B350E2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37DED-B57A-1126-4470-53442A2A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9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103E-64B2-D9B5-DAB5-6439E3D0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03E0D-E58B-A470-DE3B-A7F32B1D4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83E7B-E3A8-0FF1-9197-20F8884A2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43F40-5BDA-4CED-898A-A5DAFC07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4F25-4E90-BE4A-AAF0-3B6B46A4FC15}" type="datetime1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16833-DF1B-F999-DDDF-BD96032E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B02E8-3B47-B756-F021-CD93266F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7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77F1-9C86-1A66-3D20-1F30E5F4D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1BADC-51A8-3620-9930-48464AB01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F6033-A149-D9F9-EEE9-F5543B786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B60B5B-41E1-3E2B-B179-AC8E07697C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4B246-CA45-8BEF-22D9-5441E5043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B685DC-AADB-85DE-C85F-E46DDC84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8D08-D5EE-F641-AF0D-9D907ECBB8FC}" type="datetime1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A87027-070F-7992-FD49-76B96490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BE436-A3F4-FF22-E648-6D0DA6F8F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8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7B73-6AED-01C2-045C-49529E133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B8064-14C6-8622-B024-2763EA6A2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9C3CE-6FF8-5C43-929D-89653AEF5A36}" type="datetime1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18F615-83BF-DE73-8180-3B464C15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BC4E3-410C-B225-B373-178DA385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0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8D308-AF8F-D911-C080-8BA66464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FD140-D8B5-0546-A603-94238D6119B1}" type="datetime1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B6DFC3-191A-9C07-F585-4E5D3182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27144-9719-66E8-FEA3-AA486149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7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765E-5B4C-DDE5-12E0-AB87B49FF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79BF3-4E04-8C33-B29C-CDDBD498E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8EE3-0419-B846-E4CF-43430C8E1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ADC85-DBFA-015F-B378-9C492EB7A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3F2D8-DFF9-7847-935C-C5E189FFA190}" type="datetime1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A73DB-EFB4-9E73-D054-1DC50146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89122-90B5-ADBC-E6FC-47651577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1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66BC3-6E74-6A32-38B4-D86C457D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DB78AA-A2E5-0C3E-1B71-F12A8FC8B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29340-02AA-499B-90C2-E4CB346D7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11A31-9FAB-A952-AA20-12826484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DE52-A852-0B43-A80B-07C8285BBF3E}" type="datetime1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2DE62-97DB-60C0-A555-C00E0A11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F4DB-7961-A0C1-52C9-6453C9F0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85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4D181-2D25-9790-5644-BD0305D5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AAD27-4431-5B70-FD24-E725B88CA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190CA-6E12-76AC-7F29-FCAA5036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8A67F-ABAA-6144-ADCD-004550EB5520}" type="datetime1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9A73-6763-8542-6D39-984071B5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A53EF-5BA5-F49C-94B9-11378ECB2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9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D14A3-53C7-9946-B6EA-E9A4BEDCB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FAAEE-E1CB-F961-AFDD-0A014BA4D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12C3B-394F-1AFF-5EBF-6A11BADDC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3D20-2EFC-7B46-BC1B-3540909CC3B9}" type="datetime1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A6B88-E25F-8DB8-2BA0-2F875FEB1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85169-1DFF-7109-4FFD-1096128A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2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E1CB08-2DAE-15DF-74F4-09395A7F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6EA1A-B329-E645-6E09-04F1224F0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854D-5C93-7298-E096-21981B28B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D62FE-49C4-F748-80EF-6D0006571B73}" type="datetime1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7F966-E8E5-F841-590D-B15251118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Finite State Machines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BA1D-C0D6-18F0-92BD-087A268E0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2E7D8-1FBC-6345-B95E-C1170A2E6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2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3499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Finite State Machines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09683-DA5F-71A9-B9A1-A2713AEA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9F8C9-24C7-E825-89FB-3C16BD03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BBCF-EB8A-34CF-8CED-D761BFB2EE50}"/>
              </a:ext>
            </a:extLst>
          </p:cNvPr>
          <p:cNvSpPr txBox="1"/>
          <p:nvPr/>
        </p:nvSpPr>
        <p:spPr>
          <a:xfrm>
            <a:off x="319134" y="340688"/>
            <a:ext cx="2043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a FSM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34FD0-6205-D48B-285B-5758D2AD2ECC}"/>
              </a:ext>
            </a:extLst>
          </p:cNvPr>
          <p:cNvSpPr txBox="1"/>
          <p:nvPr/>
        </p:nvSpPr>
        <p:spPr>
          <a:xfrm>
            <a:off x="319134" y="899591"/>
            <a:ext cx="922060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Finite State Machine (FSM), or finite automaton, is a mathematical model of computation.</a:t>
            </a:r>
          </a:p>
          <a:p>
            <a:endParaRPr lang="en-US" dirty="0"/>
          </a:p>
          <a:p>
            <a:r>
              <a:rPr lang="en-US" dirty="0"/>
              <a:t>It describes a system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always in exactly ONE of a FINITE</a:t>
            </a:r>
            <a:br>
              <a:rPr lang="en-US" dirty="0"/>
            </a:br>
            <a:r>
              <a:rPr lang="en-US" dirty="0"/>
              <a:t>number of states,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receives a sequence of inputs (“events”)</a:t>
            </a:r>
            <a:br>
              <a:rPr lang="en-US" dirty="0"/>
            </a:br>
            <a:r>
              <a:rPr lang="en-US" dirty="0"/>
              <a:t>one at a time,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each input, changes state according to</a:t>
            </a:r>
            <a:br>
              <a:rPr lang="en-US" dirty="0"/>
            </a:br>
            <a:r>
              <a:rPr lang="en-US" dirty="0"/>
              <a:t>fixed rules (transitions),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 may produce output and/or accept or</a:t>
            </a:r>
            <a:br>
              <a:rPr lang="en-US" dirty="0"/>
            </a:br>
            <a:r>
              <a:rPr lang="en-US" dirty="0"/>
              <a:t>reject the input.</a:t>
            </a:r>
          </a:p>
          <a:p>
            <a:endParaRPr lang="en-US" dirty="0"/>
          </a:p>
          <a:p>
            <a:r>
              <a:rPr lang="en-US" dirty="0"/>
              <a:t>The number of states represents the whole</a:t>
            </a:r>
            <a:br>
              <a:rPr lang="en-US" dirty="0"/>
            </a:br>
            <a:r>
              <a:rPr lang="en-US" dirty="0"/>
              <a:t>memory of a FSM.</a:t>
            </a:r>
          </a:p>
          <a:p>
            <a:endParaRPr lang="en-US" dirty="0"/>
          </a:p>
          <a:p>
            <a:r>
              <a:rPr lang="en-US" dirty="0"/>
              <a:t>Must have a start state, may not have an</a:t>
            </a:r>
            <a:br>
              <a:rPr lang="en-US" dirty="0"/>
            </a:br>
            <a:r>
              <a:rPr lang="en-US" dirty="0"/>
              <a:t>end state.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5847DE0-1C2D-03F9-4E27-90A5D591CD1A}"/>
              </a:ext>
            </a:extLst>
          </p:cNvPr>
          <p:cNvGrpSpPr/>
          <p:nvPr/>
        </p:nvGrpSpPr>
        <p:grpSpPr>
          <a:xfrm>
            <a:off x="5156200" y="1483888"/>
            <a:ext cx="6690629" cy="4193523"/>
            <a:chOff x="1071553" y="1898615"/>
            <a:chExt cx="6696363" cy="419352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E153FD5-8E62-C539-6AAF-75C1CA7F85CD}"/>
                </a:ext>
              </a:extLst>
            </p:cNvPr>
            <p:cNvSpPr/>
            <p:nvPr/>
          </p:nvSpPr>
          <p:spPr>
            <a:xfrm>
              <a:off x="4038600" y="2844800"/>
              <a:ext cx="729673" cy="7112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OFF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30FBA-3A76-B325-87F2-34BF33896BE3}"/>
                </a:ext>
              </a:extLst>
            </p:cNvPr>
            <p:cNvSpPr/>
            <p:nvPr/>
          </p:nvSpPr>
          <p:spPr>
            <a:xfrm>
              <a:off x="6694152" y="2844800"/>
              <a:ext cx="729673" cy="7112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ON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5B081B93-C234-3455-A8BE-0A6D38ED7076}"/>
                </a:ext>
              </a:extLst>
            </p:cNvPr>
            <p:cNvSpPr/>
            <p:nvPr/>
          </p:nvSpPr>
          <p:spPr>
            <a:xfrm>
              <a:off x="4707131" y="2665341"/>
              <a:ext cx="2048163" cy="572655"/>
            </a:xfrm>
            <a:prstGeom prst="arc">
              <a:avLst>
                <a:gd name="adj1" fmla="val 11261491"/>
                <a:gd name="adj2" fmla="val 21184704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E67B344D-0B52-0375-44B5-32D537C64158}"/>
                </a:ext>
              </a:extLst>
            </p:cNvPr>
            <p:cNvSpPr/>
            <p:nvPr/>
          </p:nvSpPr>
          <p:spPr>
            <a:xfrm rot="10800000">
              <a:off x="4645989" y="3269672"/>
              <a:ext cx="2048163" cy="572655"/>
            </a:xfrm>
            <a:prstGeom prst="arc">
              <a:avLst>
                <a:gd name="adj1" fmla="val 11261491"/>
                <a:gd name="adj2" fmla="val 21184704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F2078F-351E-81EE-8315-FEBEFC38B90F}"/>
                </a:ext>
              </a:extLst>
            </p:cNvPr>
            <p:cNvSpPr txBox="1"/>
            <p:nvPr/>
          </p:nvSpPr>
          <p:spPr>
            <a:xfrm>
              <a:off x="5124251" y="2357564"/>
              <a:ext cx="12139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act on switch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E01C20B-ECAC-CD97-B20A-B4A355F3C404}"/>
                </a:ext>
              </a:extLst>
            </p:cNvPr>
            <p:cNvSpPr txBox="1"/>
            <p:nvPr/>
          </p:nvSpPr>
          <p:spPr>
            <a:xfrm>
              <a:off x="5124251" y="3841489"/>
              <a:ext cx="12139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act on switch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5BB8FC2-8DF4-03EF-6A13-B80C7C6C69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03436" y="3343564"/>
              <a:ext cx="843100" cy="20412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65844E2-FD66-18AD-D556-84FA83E8F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1372" y="3343564"/>
              <a:ext cx="1447616" cy="20412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7AF3014-D006-0737-E98F-C3935A3C7C59}"/>
                </a:ext>
              </a:extLst>
            </p:cNvPr>
            <p:cNvSpPr txBox="1"/>
            <p:nvPr/>
          </p:nvSpPr>
          <p:spPr>
            <a:xfrm>
              <a:off x="5124251" y="5408909"/>
              <a:ext cx="6938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FF0000"/>
                  </a:solidFill>
                </a:rPr>
                <a:t>states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07A56B3-C443-DEA8-CA49-0B9A91B14D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6253" y="3200400"/>
              <a:ext cx="1157820" cy="5350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B547B38-32CA-6286-E3D2-89878CD759A8}"/>
                </a:ext>
              </a:extLst>
            </p:cNvPr>
            <p:cNvSpPr txBox="1"/>
            <p:nvPr/>
          </p:nvSpPr>
          <p:spPr>
            <a:xfrm>
              <a:off x="2661416" y="3735459"/>
              <a:ext cx="6495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>
                  <a:solidFill>
                    <a:srgbClr val="FF0000"/>
                  </a:solidFill>
                </a:rPr>
                <a:t>initial</a:t>
              </a:r>
              <a:br>
                <a:rPr lang="en-US" sz="1400" b="1">
                  <a:solidFill>
                    <a:srgbClr val="FF0000"/>
                  </a:solidFill>
                </a:rPr>
              </a:br>
              <a:r>
                <a:rPr lang="en-US" sz="1400" b="1">
                  <a:solidFill>
                    <a:srgbClr val="FF0000"/>
                  </a:solidFill>
                </a:rPr>
                <a:t>state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C12FA87-7B0A-BE6D-35CF-224C5C8ADAC2}"/>
                </a:ext>
              </a:extLst>
            </p:cNvPr>
            <p:cNvCxnSpPr/>
            <p:nvPr/>
          </p:nvCxnSpPr>
          <p:spPr>
            <a:xfrm>
              <a:off x="4403436" y="2216727"/>
              <a:ext cx="935182" cy="2216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103DB6-31B4-A31B-873E-D0E2E6D0D5CC}"/>
                </a:ext>
              </a:extLst>
            </p:cNvPr>
            <p:cNvSpPr txBox="1"/>
            <p:nvPr/>
          </p:nvSpPr>
          <p:spPr>
            <a:xfrm>
              <a:off x="3777774" y="2062838"/>
              <a:ext cx="6110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FF0000"/>
                  </a:solidFill>
                </a:rPr>
                <a:t>input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74D18FF-587B-6084-E2E7-325EB20896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0109" y="2237491"/>
              <a:ext cx="528879" cy="5149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4AC74EE-E9A0-7623-04C8-5AD8FBF33244}"/>
                </a:ext>
              </a:extLst>
            </p:cNvPr>
            <p:cNvSpPr txBox="1"/>
            <p:nvPr/>
          </p:nvSpPr>
          <p:spPr>
            <a:xfrm>
              <a:off x="6628693" y="1957895"/>
              <a:ext cx="10658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FF0000"/>
                  </a:solidFill>
                </a:rPr>
                <a:t>transitions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7A4B16C-CA0F-0FF3-3002-9D12CA40D3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2255" y="2214947"/>
              <a:ext cx="796733" cy="15205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59DF333-3648-296E-DB75-377B0B5459A3}"/>
                </a:ext>
              </a:extLst>
            </p:cNvPr>
            <p:cNvCxnSpPr>
              <a:stCxn id="36" idx="3"/>
            </p:cNvCxnSpPr>
            <p:nvPr/>
          </p:nvCxnSpPr>
          <p:spPr>
            <a:xfrm>
              <a:off x="4388839" y="2216727"/>
              <a:ext cx="857697" cy="17786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8D943A3-C84D-53BF-7467-6F66B1BF49BF}"/>
                </a:ext>
              </a:extLst>
            </p:cNvPr>
            <p:cNvSpPr/>
            <p:nvPr/>
          </p:nvSpPr>
          <p:spPr>
            <a:xfrm>
              <a:off x="1071553" y="1898615"/>
              <a:ext cx="6696363" cy="4193523"/>
            </a:xfrm>
            <a:prstGeom prst="rect">
              <a:avLst/>
            </a:prstGeom>
            <a:solidFill>
              <a:srgbClr val="FFC000">
                <a:alpha val="5182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sz="1200">
                  <a:solidFill>
                    <a:schemeClr val="tx1"/>
                  </a:solidFill>
                </a:rPr>
                <a:t>State diagram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C65D24C2-FC92-9D45-DE41-488B231BD60D}"/>
              </a:ext>
            </a:extLst>
          </p:cNvPr>
          <p:cNvSpPr txBox="1"/>
          <p:nvPr/>
        </p:nvSpPr>
        <p:spPr>
          <a:xfrm>
            <a:off x="5412167" y="4101630"/>
            <a:ext cx="21984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a directed graph!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states =&gt; vertices </a:t>
            </a:r>
          </a:p>
          <a:p>
            <a:r>
              <a:rPr lang="en-US" dirty="0"/>
              <a:t>edges =&gt; transitions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064DF9-B15C-A8E3-5839-DE89DAD5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6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C02D0-5722-D8EE-E112-C7804520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C5E11-5F46-D3B2-905E-A1E4691C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C2510-4958-5684-BA06-2A333E0DDED5}"/>
              </a:ext>
            </a:extLst>
          </p:cNvPr>
          <p:cNvSpPr txBox="1"/>
          <p:nvPr/>
        </p:nvSpPr>
        <p:spPr>
          <a:xfrm>
            <a:off x="319134" y="340688"/>
            <a:ext cx="3383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a FSM in real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AA2BE-1229-677E-761F-6B26B478B8FA}"/>
              </a:ext>
            </a:extLst>
          </p:cNvPr>
          <p:cNvSpPr txBox="1"/>
          <p:nvPr/>
        </p:nvSpPr>
        <p:spPr>
          <a:xfrm>
            <a:off x="319134" y="1208314"/>
            <a:ext cx="950555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Traffic lights (RED → GREEN → YELLOW → 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Elevators, microwaves, washing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Turnstiles and vending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TCP connection state (LISTEN, SYN-SENT, ESTABLISHED, 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 &amp; workflows: Wizards, form steps, order lifecycle (NEW → PAID → SHIPPED → DELIVERED).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editors modes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Video-games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Regular expressions and compiler </a:t>
            </a:r>
            <a:r>
              <a:rPr lang="en-US" dirty="0" err="1"/>
              <a:t>lexers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975552-550F-A4FF-FC55-A479089A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9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2A1F0-3150-E534-A31E-97E8F7FA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9BEE1-FB6F-079C-A928-E340A598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60C09-8A47-5191-142E-40A42A05506B}"/>
              </a:ext>
            </a:extLst>
          </p:cNvPr>
          <p:cNvSpPr txBox="1"/>
          <p:nvPr/>
        </p:nvSpPr>
        <p:spPr>
          <a:xfrm>
            <a:off x="319134" y="340688"/>
            <a:ext cx="5578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turnstile: the “Hello World!” of FSMs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94971-75CE-E320-9C74-DD277DE1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4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16F06F-0C34-9B1D-3D23-F80686ACE046}"/>
              </a:ext>
            </a:extLst>
          </p:cNvPr>
          <p:cNvSpPr/>
          <p:nvPr/>
        </p:nvSpPr>
        <p:spPr>
          <a:xfrm>
            <a:off x="2423160" y="3246120"/>
            <a:ext cx="1371600" cy="1371600"/>
          </a:xfrm>
          <a:prstGeom prst="ellipse">
            <a:avLst/>
          </a:prstGeom>
          <a:solidFill>
            <a:srgbClr val="FDEAE1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 i="0">
                <a:solidFill>
                  <a:srgbClr val="0E2841"/>
                </a:solidFill>
                <a:latin typeface="Aptos"/>
              </a:rPr>
              <a:t>LOCKED</a:t>
            </a:r>
          </a:p>
        </p:txBody>
      </p:sp>
      <p:cxnSp>
        <p:nvCxnSpPr>
          <p:cNvPr id="7" name="Connector 7">
            <a:extLst>
              <a:ext uri="{FF2B5EF4-FFF2-40B4-BE49-F238E27FC236}">
                <a16:creationId xmlns:a16="http://schemas.microsoft.com/office/drawing/2014/main" id="{CE3546C8-59A4-2356-EE2E-B61FD4F582AA}"/>
              </a:ext>
            </a:extLst>
          </p:cNvPr>
          <p:cNvCxnSpPr/>
          <p:nvPr/>
        </p:nvCxnSpPr>
        <p:spPr>
          <a:xfrm>
            <a:off x="1783080" y="3931920"/>
            <a:ext cx="640080" cy="0"/>
          </a:xfrm>
          <a:prstGeom prst="line">
            <a:avLst/>
          </a:prstGeom>
          <a:ln w="25400">
            <a:solidFill>
              <a:srgbClr val="0E28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58B787F-648D-57CB-1C5A-55B9273CF8F7}"/>
              </a:ext>
            </a:extLst>
          </p:cNvPr>
          <p:cNvSpPr/>
          <p:nvPr/>
        </p:nvSpPr>
        <p:spPr>
          <a:xfrm>
            <a:off x="7543800" y="3246120"/>
            <a:ext cx="1371600" cy="1371600"/>
          </a:xfrm>
          <a:prstGeom prst="ellipse">
            <a:avLst/>
          </a:prstGeom>
          <a:solidFill>
            <a:srgbClr val="E6F0F4"/>
          </a:solidFill>
          <a:ln w="254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 i="0">
                <a:solidFill>
                  <a:srgbClr val="0E2841"/>
                </a:solidFill>
                <a:latin typeface="Aptos"/>
              </a:rPr>
              <a:t>UNLOCKED</a:t>
            </a:r>
          </a:p>
        </p:txBody>
      </p:sp>
      <p:cxnSp>
        <p:nvCxnSpPr>
          <p:cNvPr id="9" name="Connector 9">
            <a:extLst>
              <a:ext uri="{FF2B5EF4-FFF2-40B4-BE49-F238E27FC236}">
                <a16:creationId xmlns:a16="http://schemas.microsoft.com/office/drawing/2014/main" id="{A0EABD84-C92F-020C-ACE9-EB58FD509AE4}"/>
              </a:ext>
            </a:extLst>
          </p:cNvPr>
          <p:cNvCxnSpPr/>
          <p:nvPr/>
        </p:nvCxnSpPr>
        <p:spPr>
          <a:xfrm>
            <a:off x="3794760" y="3566160"/>
            <a:ext cx="3749040" cy="0"/>
          </a:xfrm>
          <a:prstGeom prst="line">
            <a:avLst/>
          </a:prstGeom>
          <a:ln w="22225">
            <a:solidFill>
              <a:srgbClr val="196B2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3D6686-EA27-971D-486A-B9EB0E13812C}"/>
              </a:ext>
            </a:extLst>
          </p:cNvPr>
          <p:cNvSpPr txBox="1"/>
          <p:nvPr/>
        </p:nvSpPr>
        <p:spPr>
          <a:xfrm>
            <a:off x="5349240" y="32552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196B24"/>
                </a:solidFill>
                <a:latin typeface="Aptos"/>
              </a:rPr>
              <a:t>COIN</a:t>
            </a:r>
          </a:p>
        </p:txBody>
      </p:sp>
      <p:cxnSp>
        <p:nvCxnSpPr>
          <p:cNvPr id="11" name="Connector 11">
            <a:extLst>
              <a:ext uri="{FF2B5EF4-FFF2-40B4-BE49-F238E27FC236}">
                <a16:creationId xmlns:a16="http://schemas.microsoft.com/office/drawing/2014/main" id="{7A4B524B-13F6-3841-C4E2-8A8277362C4D}"/>
              </a:ext>
            </a:extLst>
          </p:cNvPr>
          <p:cNvCxnSpPr/>
          <p:nvPr/>
        </p:nvCxnSpPr>
        <p:spPr>
          <a:xfrm flipH="1">
            <a:off x="3794760" y="4297680"/>
            <a:ext cx="3749040" cy="0"/>
          </a:xfrm>
          <a:prstGeom prst="line">
            <a:avLst/>
          </a:prstGeom>
          <a:ln w="22225">
            <a:solidFill>
              <a:srgbClr val="A02B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BD635B1-5F52-4DE5-C496-9D0382A1980D}"/>
              </a:ext>
            </a:extLst>
          </p:cNvPr>
          <p:cNvSpPr txBox="1"/>
          <p:nvPr/>
        </p:nvSpPr>
        <p:spPr>
          <a:xfrm>
            <a:off x="5349240" y="4343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A02B93"/>
                </a:solidFill>
                <a:latin typeface="Aptos"/>
              </a:rPr>
              <a:t>PUSH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5A4D36-A55A-0B23-509D-A51D1DDBCCA7}"/>
              </a:ext>
            </a:extLst>
          </p:cNvPr>
          <p:cNvSpPr txBox="1"/>
          <p:nvPr/>
        </p:nvSpPr>
        <p:spPr>
          <a:xfrm>
            <a:off x="319134" y="1164987"/>
            <a:ext cx="11671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subway turnstile has TWO states and TWO inputs. Insert a coin to unlock; push to go through (which locks it again).</a:t>
            </a:r>
          </a:p>
          <a:p>
            <a:r>
              <a:rPr lang="en-US" dirty="0"/>
              <a:t>That is a complete FSM.</a:t>
            </a:r>
          </a:p>
        </p:txBody>
      </p:sp>
    </p:spTree>
    <p:extLst>
      <p:ext uri="{BB962C8B-B14F-4D97-AF65-F5344CB8AC3E}">
        <p14:creationId xmlns:p14="http://schemas.microsoft.com/office/powerpoint/2010/main" val="124292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218C-443E-DAD9-A925-4DEC4A73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90480-46DC-9E74-A1E1-ACE6503C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71930-4198-10D5-D79A-7D028293D163}"/>
              </a:ext>
            </a:extLst>
          </p:cNvPr>
          <p:cNvSpPr txBox="1"/>
          <p:nvPr/>
        </p:nvSpPr>
        <p:spPr>
          <a:xfrm>
            <a:off x="319134" y="340688"/>
            <a:ext cx="4157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Formal definition – the 5-tuple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F9BBF-3571-4811-1C3E-EB2507F7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8A7DB7-11D9-97C8-F011-B7D6EFE20CF8}"/>
              </a:ext>
            </a:extLst>
          </p:cNvPr>
          <p:cNvSpPr txBox="1"/>
          <p:nvPr/>
        </p:nvSpPr>
        <p:spPr>
          <a:xfrm>
            <a:off x="319134" y="1117670"/>
            <a:ext cx="7848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deterministic finite automaton (DFA) is formally a 5-tuple  M = (Q, </a:t>
            </a:r>
            <a:r>
              <a:rPr lang="el-GR" dirty="0"/>
              <a:t>Σ, δ, </a:t>
            </a:r>
            <a:r>
              <a:rPr lang="en-US" dirty="0"/>
              <a:t>q₀, F):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092D1FC-FA0F-FB46-3AE5-DB2A91ED3374}"/>
              </a:ext>
            </a:extLst>
          </p:cNvPr>
          <p:cNvSpPr/>
          <p:nvPr/>
        </p:nvSpPr>
        <p:spPr>
          <a:xfrm>
            <a:off x="297363" y="1983148"/>
            <a:ext cx="1554480" cy="731520"/>
          </a:xfrm>
          <a:prstGeom prst="roundRect">
            <a:avLst/>
          </a:prstGeom>
          <a:solidFill>
            <a:srgbClr val="15608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C8AF4-09FE-B34D-07DE-147BD71287F7}"/>
              </a:ext>
            </a:extLst>
          </p:cNvPr>
          <p:cNvSpPr txBox="1"/>
          <p:nvPr/>
        </p:nvSpPr>
        <p:spPr>
          <a:xfrm>
            <a:off x="2016435" y="1983148"/>
            <a:ext cx="5486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ptos"/>
              </a:rPr>
              <a:t>a FINITE set of states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B9D6C8-FEB4-BA8E-8488-0B0261D3935E}"/>
              </a:ext>
            </a:extLst>
          </p:cNvPr>
          <p:cNvSpPr txBox="1"/>
          <p:nvPr/>
        </p:nvSpPr>
        <p:spPr>
          <a:xfrm>
            <a:off x="7639995" y="1983148"/>
            <a:ext cx="393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A5A5A"/>
                </a:solidFill>
                <a:latin typeface="Aptos"/>
              </a:rPr>
              <a:t>e.g. { LOCKED, UNLOCKED }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0DB933A-C2A7-3078-D574-3474B2421C93}"/>
              </a:ext>
            </a:extLst>
          </p:cNvPr>
          <p:cNvSpPr/>
          <p:nvPr/>
        </p:nvSpPr>
        <p:spPr>
          <a:xfrm>
            <a:off x="297363" y="2769532"/>
            <a:ext cx="1554480" cy="731520"/>
          </a:xfrm>
          <a:prstGeom prst="roundRect">
            <a:avLst/>
          </a:prstGeom>
          <a:solidFill>
            <a:srgbClr val="15608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Σ (Sigma)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E59173-EE1C-9838-F820-C10EF98001E0}"/>
              </a:ext>
            </a:extLst>
          </p:cNvPr>
          <p:cNvSpPr txBox="1"/>
          <p:nvPr/>
        </p:nvSpPr>
        <p:spPr>
          <a:xfrm>
            <a:off x="2016435" y="2769532"/>
            <a:ext cx="5486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ptos"/>
              </a:rPr>
              <a:t>the input alphabet – a finite set of symbols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5BE8E-72BF-1B80-5147-0FE0C9C7FA6F}"/>
              </a:ext>
            </a:extLst>
          </p:cNvPr>
          <p:cNvSpPr txBox="1"/>
          <p:nvPr/>
        </p:nvSpPr>
        <p:spPr>
          <a:xfrm>
            <a:off x="7639995" y="2769532"/>
            <a:ext cx="393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A5A5A"/>
                </a:solidFill>
                <a:latin typeface="Aptos"/>
              </a:rPr>
              <a:t>e.g. { COIN, PUSH 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5DB0D-310C-DB81-B349-740C5DF2D341}"/>
              </a:ext>
            </a:extLst>
          </p:cNvPr>
          <p:cNvSpPr/>
          <p:nvPr/>
        </p:nvSpPr>
        <p:spPr>
          <a:xfrm>
            <a:off x="297363" y="3555916"/>
            <a:ext cx="1554480" cy="731520"/>
          </a:xfrm>
          <a:prstGeom prst="roundRect">
            <a:avLst/>
          </a:prstGeom>
          <a:solidFill>
            <a:srgbClr val="15608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δ (delta)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C3A606-C887-B98F-3DB6-A5AB0B73CE24}"/>
              </a:ext>
            </a:extLst>
          </p:cNvPr>
          <p:cNvSpPr txBox="1"/>
          <p:nvPr/>
        </p:nvSpPr>
        <p:spPr>
          <a:xfrm>
            <a:off x="2016435" y="3555916"/>
            <a:ext cx="5486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ptos"/>
              </a:rPr>
              <a:t>the transition function  δ : Q × Σ → Q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37A2B0-95A9-FE6D-7774-56594884CF6B}"/>
              </a:ext>
            </a:extLst>
          </p:cNvPr>
          <p:cNvSpPr txBox="1"/>
          <p:nvPr/>
        </p:nvSpPr>
        <p:spPr>
          <a:xfrm>
            <a:off x="7639995" y="3555916"/>
            <a:ext cx="393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A5A5A"/>
                </a:solidFill>
                <a:latin typeface="Aptos"/>
              </a:rPr>
              <a:t>maps (state, input) to next state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D4DD036-7A64-C564-B293-755C06ED1ACC}"/>
              </a:ext>
            </a:extLst>
          </p:cNvPr>
          <p:cNvSpPr/>
          <p:nvPr/>
        </p:nvSpPr>
        <p:spPr>
          <a:xfrm>
            <a:off x="297363" y="4342300"/>
            <a:ext cx="1554480" cy="731520"/>
          </a:xfrm>
          <a:prstGeom prst="roundRect">
            <a:avLst/>
          </a:prstGeom>
          <a:solidFill>
            <a:srgbClr val="15608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q₀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9A1C03-2277-E91E-64DF-CC6E2B8B854C}"/>
              </a:ext>
            </a:extLst>
          </p:cNvPr>
          <p:cNvSpPr txBox="1"/>
          <p:nvPr/>
        </p:nvSpPr>
        <p:spPr>
          <a:xfrm>
            <a:off x="2016435" y="4342300"/>
            <a:ext cx="5486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ptos"/>
              </a:rPr>
              <a:t>the start state, q₀ ∈ 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0599BB-5130-9CBA-DD1B-02755BCEB75B}"/>
              </a:ext>
            </a:extLst>
          </p:cNvPr>
          <p:cNvSpPr txBox="1"/>
          <p:nvPr/>
        </p:nvSpPr>
        <p:spPr>
          <a:xfrm>
            <a:off x="7639995" y="4342300"/>
            <a:ext cx="393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A5A5A"/>
                </a:solidFill>
                <a:latin typeface="Aptos"/>
              </a:rPr>
              <a:t>e.g. LOCKED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B613482-2D0F-D23E-69C8-3A955E0AF6DE}"/>
              </a:ext>
            </a:extLst>
          </p:cNvPr>
          <p:cNvSpPr/>
          <p:nvPr/>
        </p:nvSpPr>
        <p:spPr>
          <a:xfrm>
            <a:off x="297363" y="5128684"/>
            <a:ext cx="1554480" cy="731520"/>
          </a:xfrm>
          <a:prstGeom prst="roundRect">
            <a:avLst/>
          </a:prstGeom>
          <a:solidFill>
            <a:srgbClr val="15608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D1B121-86DC-9114-702D-0C468F97F073}"/>
              </a:ext>
            </a:extLst>
          </p:cNvPr>
          <p:cNvSpPr txBox="1"/>
          <p:nvPr/>
        </p:nvSpPr>
        <p:spPr>
          <a:xfrm>
            <a:off x="2016435" y="5128684"/>
            <a:ext cx="5486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Aptos"/>
              </a:rPr>
              <a:t>the set of accepting (final) states, F ⊆ Q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491DFA-19BE-4AB5-F550-AC93DDA6691F}"/>
              </a:ext>
            </a:extLst>
          </p:cNvPr>
          <p:cNvSpPr txBox="1"/>
          <p:nvPr/>
        </p:nvSpPr>
        <p:spPr>
          <a:xfrm>
            <a:off x="7639995" y="5128684"/>
            <a:ext cx="3931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 i="1">
                <a:solidFill>
                  <a:srgbClr val="5A5A5A"/>
                </a:solidFill>
                <a:latin typeface="Aptos"/>
              </a:rPr>
              <a:t>e.g. { } for a controller</a:t>
            </a:r>
          </a:p>
        </p:txBody>
      </p:sp>
    </p:spTree>
    <p:extLst>
      <p:ext uri="{BB962C8B-B14F-4D97-AF65-F5344CB8AC3E}">
        <p14:creationId xmlns:p14="http://schemas.microsoft.com/office/powerpoint/2010/main" val="26927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 animBg="1"/>
      <p:bldP spid="13" grpId="0"/>
      <p:bldP spid="14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2C1A-0C28-53C1-A5F7-215DEACD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2ACE3-458D-6F10-3A21-BB969990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4456B-F135-C1C3-FC39-CAF90809E173}"/>
              </a:ext>
            </a:extLst>
          </p:cNvPr>
          <p:cNvSpPr txBox="1"/>
          <p:nvPr/>
        </p:nvSpPr>
        <p:spPr>
          <a:xfrm>
            <a:off x="319134" y="340688"/>
            <a:ext cx="6977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transition function </a:t>
            </a:r>
            <a:r>
              <a:rPr lang="el-GR" sz="2400" dirty="0"/>
              <a:t>δ </a:t>
            </a:r>
            <a:r>
              <a:rPr lang="en-US" sz="2400" dirty="0"/>
              <a:t>is the heart of the machine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E3EC27-1EB8-CB71-B4D8-4977152E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86BC1-F6C9-69BE-7C41-11AFE7FDFAF1}"/>
              </a:ext>
            </a:extLst>
          </p:cNvPr>
          <p:cNvSpPr txBox="1"/>
          <p:nvPr/>
        </p:nvSpPr>
        <p:spPr>
          <a:xfrm>
            <a:off x="319134" y="1199606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600" b="1" i="0" dirty="0" err="1">
                <a:solidFill>
                  <a:srgbClr val="0E2841"/>
                </a:solidFill>
                <a:latin typeface="Aptos"/>
              </a:rPr>
              <a:t>δ</a:t>
            </a:r>
            <a:r>
              <a:rPr sz="1600" b="1" i="0" dirty="0">
                <a:solidFill>
                  <a:srgbClr val="0E2841"/>
                </a:solidFill>
                <a:latin typeface="Aptos"/>
              </a:rPr>
              <a:t> : Q × </a:t>
            </a:r>
            <a:r>
              <a:rPr sz="1600" b="1" i="0" dirty="0" err="1">
                <a:solidFill>
                  <a:srgbClr val="0E2841"/>
                </a:solidFill>
                <a:latin typeface="Aptos"/>
              </a:rPr>
              <a:t>Σ</a:t>
            </a:r>
            <a:r>
              <a:rPr sz="1600" b="1" i="0" dirty="0">
                <a:solidFill>
                  <a:srgbClr val="0E2841"/>
                </a:solidFill>
                <a:latin typeface="Aptos"/>
              </a:rPr>
              <a:t> → Q  reads as: “given a state and an input symbol, return the next state”.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 i="0" dirty="0">
                <a:solidFill>
                  <a:srgbClr val="0E2841"/>
                </a:solidFill>
                <a:latin typeface="Aptos"/>
              </a:rPr>
              <a:t>For the turnstile, </a:t>
            </a:r>
            <a:r>
              <a:rPr sz="1500" b="0" i="0" dirty="0" err="1">
                <a:solidFill>
                  <a:srgbClr val="0E2841"/>
                </a:solidFill>
                <a:latin typeface="Aptos"/>
              </a:rPr>
              <a:t>δ</a:t>
            </a:r>
            <a:r>
              <a:rPr sz="1500" b="0" i="0" dirty="0">
                <a:solidFill>
                  <a:srgbClr val="0E2841"/>
                </a:solidFill>
                <a:latin typeface="Aptos"/>
              </a:rPr>
              <a:t> is a small function of four cases: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0" dirty="0">
                <a:solidFill>
                  <a:srgbClr val="0E2841"/>
                </a:solidFill>
                <a:latin typeface="Consolas"/>
              </a:rPr>
              <a:t>– </a:t>
            </a:r>
            <a:r>
              <a:rPr sz="1400" b="0" i="0" dirty="0" err="1">
                <a:solidFill>
                  <a:srgbClr val="0E2841"/>
                </a:solidFill>
                <a:latin typeface="Consolas"/>
              </a:rPr>
              <a:t>δ</a:t>
            </a:r>
            <a:r>
              <a:rPr sz="1400" b="0" i="0" dirty="0">
                <a:solidFill>
                  <a:srgbClr val="0E2841"/>
                </a:solidFill>
                <a:latin typeface="Consolas"/>
              </a:rPr>
              <a:t>(LOCKED,   COIN) = UNLOCKED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0" dirty="0">
                <a:solidFill>
                  <a:srgbClr val="0E2841"/>
                </a:solidFill>
                <a:latin typeface="Consolas"/>
              </a:rPr>
              <a:t>– </a:t>
            </a:r>
            <a:r>
              <a:rPr sz="1400" b="0" i="0" dirty="0" err="1">
                <a:solidFill>
                  <a:srgbClr val="0E2841"/>
                </a:solidFill>
                <a:latin typeface="Consolas"/>
              </a:rPr>
              <a:t>δ</a:t>
            </a:r>
            <a:r>
              <a:rPr sz="1400" b="0" i="0" dirty="0">
                <a:solidFill>
                  <a:srgbClr val="0E2841"/>
                </a:solidFill>
                <a:latin typeface="Consolas"/>
              </a:rPr>
              <a:t>(LOCKED,   PUSH) = LOCKED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0" dirty="0">
                <a:solidFill>
                  <a:srgbClr val="0E2841"/>
                </a:solidFill>
                <a:latin typeface="Consolas"/>
              </a:rPr>
              <a:t>– </a:t>
            </a:r>
            <a:r>
              <a:rPr sz="1400" b="0" i="0" dirty="0" err="1">
                <a:solidFill>
                  <a:srgbClr val="0E2841"/>
                </a:solidFill>
                <a:latin typeface="Consolas"/>
              </a:rPr>
              <a:t>δ</a:t>
            </a:r>
            <a:r>
              <a:rPr sz="1400" b="0" i="0" dirty="0">
                <a:solidFill>
                  <a:srgbClr val="0E2841"/>
                </a:solidFill>
                <a:latin typeface="Consolas"/>
              </a:rPr>
              <a:t>(UNLOCKED, COIN) = UNLOCKED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400" b="0" i="0" dirty="0">
                <a:solidFill>
                  <a:srgbClr val="0E2841"/>
                </a:solidFill>
                <a:latin typeface="Consolas"/>
              </a:rPr>
              <a:t>– </a:t>
            </a:r>
            <a:r>
              <a:rPr sz="1400" b="0" i="0" dirty="0" err="1">
                <a:solidFill>
                  <a:srgbClr val="0E2841"/>
                </a:solidFill>
                <a:latin typeface="Consolas"/>
              </a:rPr>
              <a:t>δ</a:t>
            </a:r>
            <a:r>
              <a:rPr sz="1400" b="0" i="0" dirty="0">
                <a:solidFill>
                  <a:srgbClr val="0E2841"/>
                </a:solidFill>
                <a:latin typeface="Consolas"/>
              </a:rPr>
              <a:t>(UNLOCKED, PUSH) = LOCKED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39184-A97F-424B-3C4C-AD79D7B048DC}"/>
              </a:ext>
            </a:extLst>
          </p:cNvPr>
          <p:cNvSpPr txBox="1"/>
          <p:nvPr/>
        </p:nvSpPr>
        <p:spPr>
          <a:xfrm>
            <a:off x="319135" y="3777343"/>
            <a:ext cx="11453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run a machine on a whole input string, start in q₀ and apply </a:t>
            </a:r>
            <a:r>
              <a:rPr lang="el-GR" dirty="0"/>
              <a:t>δ </a:t>
            </a:r>
            <a:r>
              <a:rPr lang="en-US" dirty="0"/>
              <a:t>one symbol at a time, feeding each result into the next step.</a:t>
            </a:r>
          </a:p>
          <a:p>
            <a:endParaRPr lang="en-US" dirty="0"/>
          </a:p>
          <a:p>
            <a:r>
              <a:rPr lang="en-US" dirty="0"/>
              <a:t>The set of ALL strings a machine accepts is the LANGUAGE recognized by the machine.</a:t>
            </a:r>
          </a:p>
        </p:txBody>
      </p:sp>
    </p:spTree>
    <p:extLst>
      <p:ext uri="{BB962C8B-B14F-4D97-AF65-F5344CB8AC3E}">
        <p14:creationId xmlns:p14="http://schemas.microsoft.com/office/powerpoint/2010/main" val="351661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E7721-F24F-6EFE-4C9A-768F4CC7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4B16C-6CE6-9CB9-57E6-0052A149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23EAE-57F2-C2EF-1A08-21480749EC5E}"/>
              </a:ext>
            </a:extLst>
          </p:cNvPr>
          <p:cNvSpPr txBox="1"/>
          <p:nvPr/>
        </p:nvSpPr>
        <p:spPr>
          <a:xfrm>
            <a:off x="319134" y="340688"/>
            <a:ext cx="4323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Two equivalent representations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EC72A0-3A00-184C-7FA4-35A4CB2BF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3EDDCE-F335-CCF3-E858-18618064AAAD}"/>
              </a:ext>
            </a:extLst>
          </p:cNvPr>
          <p:cNvSpPr txBox="1"/>
          <p:nvPr/>
        </p:nvSpPr>
        <p:spPr>
          <a:xfrm>
            <a:off x="319134" y="1040195"/>
            <a:ext cx="11546559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 diagram (graph)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Nodes = states.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Directed edges = transitions, labelled by input symbol.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little incoming arrow marks the start state; a double circle marks accepting states.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Great for humans: you SEE the structure, cycles and dead ends.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Used on whiteboards, in papers, in design reviews.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State-transition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table with one row per state, one column per input symbol; each cell is the next state.</a:t>
            </a:r>
            <a:br>
              <a:rPr lang="en-US" dirty="0"/>
            </a:br>
            <a:r>
              <a:rPr lang="en-US" dirty="0"/>
              <a:t>This IS the function </a:t>
            </a:r>
            <a:r>
              <a:rPr lang="el-GR" dirty="0"/>
              <a:t>δ </a:t>
            </a:r>
            <a:r>
              <a:rPr lang="en-US" dirty="0"/>
              <a:t>written out.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Great for machines: a table maps directly onto a 2-D array or Map, giving the “table-driven” implementation.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DCC648-4BCF-4293-2555-6BBAE18FA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005246"/>
              </p:ext>
            </p:extLst>
          </p:nvPr>
        </p:nvGraphicFramePr>
        <p:xfrm>
          <a:off x="5882047" y="3780155"/>
          <a:ext cx="5841999" cy="111252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947333">
                  <a:extLst>
                    <a:ext uri="{9D8B030D-6E8A-4147-A177-3AD203B41FA5}">
                      <a16:colId xmlns:a16="http://schemas.microsoft.com/office/drawing/2014/main" val="344562742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1294567241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3612280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 /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COIN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PUSH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49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LOCKED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6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UNLOCKED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272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FE4C89-0F25-28DE-C4ED-AAF06EB92996}"/>
              </a:ext>
            </a:extLst>
          </p:cNvPr>
          <p:cNvCxnSpPr/>
          <p:nvPr/>
        </p:nvCxnSpPr>
        <p:spPr>
          <a:xfrm flipV="1">
            <a:off x="2921000" y="4336415"/>
            <a:ext cx="2819400" cy="464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12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63E41-BFDB-2B40-E4CC-02166A75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7067C-18C6-10EE-3752-0A819F03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C6574EB-5783-5076-D978-25E1C00C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8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E043B-7F55-DE4B-C694-D9C38F251582}"/>
              </a:ext>
            </a:extLst>
          </p:cNvPr>
          <p:cNvSpPr txBox="1"/>
          <p:nvPr/>
        </p:nvSpPr>
        <p:spPr>
          <a:xfrm>
            <a:off x="4623481" y="3167390"/>
            <a:ext cx="2945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Exercise: turnstile</a:t>
            </a:r>
          </a:p>
        </p:txBody>
      </p:sp>
    </p:spTree>
    <p:extLst>
      <p:ext uri="{BB962C8B-B14F-4D97-AF65-F5344CB8AC3E}">
        <p14:creationId xmlns:p14="http://schemas.microsoft.com/office/powerpoint/2010/main" val="60454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D09DE-DA14-1B0C-84AF-BC54A1220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82143-0CC2-44A8-8CDF-5D7CB361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5065D-3D2A-9E2D-3CCD-741CE5C75907}"/>
              </a:ext>
            </a:extLst>
          </p:cNvPr>
          <p:cNvSpPr txBox="1"/>
          <p:nvPr/>
        </p:nvSpPr>
        <p:spPr>
          <a:xfrm>
            <a:off x="319134" y="340688"/>
            <a:ext cx="3604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Moore vs Mealy machines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AFEB5B-E3E0-AD69-7F4A-0A3BA651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99735F-A6E1-7C36-884D-38F4154B5D2E}"/>
              </a:ext>
            </a:extLst>
          </p:cNvPr>
          <p:cNvSpPr txBox="1"/>
          <p:nvPr/>
        </p:nvSpPr>
        <p:spPr>
          <a:xfrm>
            <a:off x="319134" y="1306895"/>
            <a:ext cx="887300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Moore machine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 depends ONLY on the current STATE.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 is attached to the NODE.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 changes only when the state changes.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Tends to need more states but is easier to reason about (glitch-free in hardware).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traffic light — the </a:t>
            </a:r>
            <a:r>
              <a:rPr lang="en-US" dirty="0" err="1"/>
              <a:t>colour</a:t>
            </a:r>
            <a:r>
              <a:rPr lang="en-US" dirty="0"/>
              <a:t> IS the state.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 = f(state)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Mealy machine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 depends on the current STATE AND the current INPUT.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 is attached to the EDGE (transition).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react in the SAME step as the input → usually fewer states.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 vending machine — “insert coin” edge dispenses &amp; gives change.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output = f(state, input)</a:t>
            </a:r>
          </a:p>
        </p:txBody>
      </p:sp>
    </p:spTree>
    <p:extLst>
      <p:ext uri="{BB962C8B-B14F-4D97-AF65-F5344CB8AC3E}">
        <p14:creationId xmlns:p14="http://schemas.microsoft.com/office/powerpoint/2010/main" val="12231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D615-A803-140A-8A5F-19E87D21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0A7EE-65D8-8B92-2547-E3F5FE5EE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BCEA8-B219-DB7E-FDA7-CBF5CBA0E5F3}"/>
              </a:ext>
            </a:extLst>
          </p:cNvPr>
          <p:cNvSpPr txBox="1"/>
          <p:nvPr/>
        </p:nvSpPr>
        <p:spPr>
          <a:xfrm>
            <a:off x="424458" y="254238"/>
            <a:ext cx="4338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Moore vs. Mealy on traffic lights</a:t>
            </a:r>
          </a:p>
        </p:txBody>
      </p:sp>
      <p:grpSp>
        <p:nvGrpSpPr>
          <p:cNvPr id="1084" name="Group 1083">
            <a:extLst>
              <a:ext uri="{FF2B5EF4-FFF2-40B4-BE49-F238E27FC236}">
                <a16:creationId xmlns:a16="http://schemas.microsoft.com/office/drawing/2014/main" id="{BDD84374-755B-7FF7-7810-053AEB840596}"/>
              </a:ext>
            </a:extLst>
          </p:cNvPr>
          <p:cNvGrpSpPr/>
          <p:nvPr/>
        </p:nvGrpSpPr>
        <p:grpSpPr>
          <a:xfrm>
            <a:off x="6391564" y="1176544"/>
            <a:ext cx="5237018" cy="4900983"/>
            <a:chOff x="6391564" y="1176544"/>
            <a:chExt cx="5237018" cy="49009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6F9A6E-21A1-43CA-519B-6964C5101F4F}"/>
                </a:ext>
              </a:extLst>
            </p:cNvPr>
            <p:cNvSpPr/>
            <p:nvPr/>
          </p:nvSpPr>
          <p:spPr>
            <a:xfrm>
              <a:off x="6391564" y="1182255"/>
              <a:ext cx="5237018" cy="489527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3624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sz="1200">
                  <a:solidFill>
                    <a:schemeClr val="tx1"/>
                  </a:solidFill>
                </a:rPr>
                <a:t>Mealy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247AC2-6350-CADD-6700-8589F5D27B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91305" y="3823672"/>
              <a:ext cx="757399" cy="757399"/>
            </a:xfrm>
            <a:prstGeom prst="ellipse">
              <a:avLst/>
            </a:prstGeom>
            <a:solidFill>
              <a:srgbClr val="FF0000">
                <a:alpha val="3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RED</a:t>
              </a: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952A4151-6151-12BF-0E6E-97E48D93CAF0}"/>
                </a:ext>
              </a:extLst>
            </p:cNvPr>
            <p:cNvSpPr/>
            <p:nvPr/>
          </p:nvSpPr>
          <p:spPr>
            <a:xfrm rot="19703081">
              <a:off x="7372996" y="2865536"/>
              <a:ext cx="2538401" cy="1276075"/>
            </a:xfrm>
            <a:prstGeom prst="arc">
              <a:avLst>
                <a:gd name="adj1" fmla="val 12486267"/>
                <a:gd name="adj2" fmla="val 18854389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C05EDCE-E98C-D636-ABBF-6846F3C2A1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05552" y="2309091"/>
              <a:ext cx="757399" cy="757399"/>
            </a:xfrm>
            <a:prstGeom prst="ellipse">
              <a:avLst/>
            </a:prstGeom>
            <a:solidFill>
              <a:schemeClr val="accent6">
                <a:alpha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GREEN</a:t>
              </a: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74E272EB-AEE6-F452-CF37-3C7250EF84DC}"/>
                </a:ext>
              </a:extLst>
            </p:cNvPr>
            <p:cNvSpPr/>
            <p:nvPr/>
          </p:nvSpPr>
          <p:spPr>
            <a:xfrm rot="3679646">
              <a:off x="9021115" y="2926688"/>
              <a:ext cx="1683672" cy="1276075"/>
            </a:xfrm>
            <a:prstGeom prst="arc">
              <a:avLst>
                <a:gd name="adj1" fmla="val 12908676"/>
                <a:gd name="adj2" fmla="val 18854389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24ADF4-C7E3-1CD7-5D32-CB45C4D709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20028" y="3852066"/>
              <a:ext cx="757399" cy="757399"/>
            </a:xfrm>
            <a:prstGeom prst="ellipse">
              <a:avLst/>
            </a:prstGeom>
            <a:solidFill>
              <a:srgbClr val="FFFF00">
                <a:alpha val="3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YELLOW</a:t>
              </a: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54F8BDA0-7484-DC10-AAD6-67742C02B1FA}"/>
                </a:ext>
              </a:extLst>
            </p:cNvPr>
            <p:cNvSpPr/>
            <p:nvPr/>
          </p:nvSpPr>
          <p:spPr>
            <a:xfrm rot="10965905">
              <a:off x="7545938" y="4012032"/>
              <a:ext cx="2983466" cy="1012109"/>
            </a:xfrm>
            <a:prstGeom prst="arc">
              <a:avLst>
                <a:gd name="adj1" fmla="val 11206383"/>
                <a:gd name="adj2" fmla="val 2078288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461E10-3EA3-F67A-9CA4-B5C6616523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26852" y="3561958"/>
              <a:ext cx="757399" cy="757399"/>
            </a:xfrm>
            <a:prstGeom prst="ellipse">
              <a:avLst/>
            </a:prstGeom>
            <a:solidFill>
              <a:srgbClr val="FFC000">
                <a:alpha val="6519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FLASH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60B79CF-6A17-8511-FDBE-137B30B19F32}"/>
                </a:ext>
              </a:extLst>
            </p:cNvPr>
            <p:cNvSpPr txBox="1"/>
            <p:nvPr/>
          </p:nvSpPr>
          <p:spPr>
            <a:xfrm rot="19002481">
              <a:off x="7836095" y="2844708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tick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04CC19-7823-A46D-C6FA-DF2C0608DDFD}"/>
                </a:ext>
              </a:extLst>
            </p:cNvPr>
            <p:cNvSpPr txBox="1"/>
            <p:nvPr/>
          </p:nvSpPr>
          <p:spPr>
            <a:xfrm rot="3224603">
              <a:off x="10308440" y="2939076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tick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70A1997-1E22-4EBA-897C-1C3690EB375D}"/>
                </a:ext>
              </a:extLst>
            </p:cNvPr>
            <p:cNvSpPr txBox="1"/>
            <p:nvPr/>
          </p:nvSpPr>
          <p:spPr>
            <a:xfrm rot="10461795">
              <a:off x="9044625" y="5053134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tick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3D8EB8A-68C5-9802-0290-7B22391C5A90}"/>
                </a:ext>
              </a:extLst>
            </p:cNvPr>
            <p:cNvCxnSpPr/>
            <p:nvPr/>
          </p:nvCxnSpPr>
          <p:spPr>
            <a:xfrm flipH="1">
              <a:off x="9190182" y="3077575"/>
              <a:ext cx="138545" cy="4259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653A2B0-12D0-90B0-EDFF-396E1A0B6563}"/>
                </a:ext>
              </a:extLst>
            </p:cNvPr>
            <p:cNvCxnSpPr/>
            <p:nvPr/>
          </p:nvCxnSpPr>
          <p:spPr>
            <a:xfrm flipH="1" flipV="1">
              <a:off x="9483917" y="4073236"/>
              <a:ext cx="573582" cy="1291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29F7395-0767-1908-3202-FB6AF7CB1F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7911" y="3846671"/>
              <a:ext cx="557160" cy="923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F2CF587-A6A1-FC41-E9FA-1623C5825B8E}"/>
                </a:ext>
              </a:extLst>
            </p:cNvPr>
            <p:cNvCxnSpPr/>
            <p:nvPr/>
          </p:nvCxnSpPr>
          <p:spPr>
            <a:xfrm flipH="1">
              <a:off x="8049455" y="4230765"/>
              <a:ext cx="677397" cy="885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A652F6C-7B24-35BD-3483-79D1F1870F54}"/>
                </a:ext>
              </a:extLst>
            </p:cNvPr>
            <p:cNvSpPr txBox="1"/>
            <p:nvPr/>
          </p:nvSpPr>
          <p:spPr>
            <a:xfrm rot="21001270">
              <a:off x="8225309" y="4291540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tick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A01C581-2EFB-DBE9-558B-B3926943341E}"/>
                </a:ext>
              </a:extLst>
            </p:cNvPr>
            <p:cNvSpPr txBox="1"/>
            <p:nvPr/>
          </p:nvSpPr>
          <p:spPr>
            <a:xfrm rot="17665688">
              <a:off x="8870207" y="3040194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EMG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1482A0A-0A11-6B03-5270-2CE040D2AC3A}"/>
                </a:ext>
              </a:extLst>
            </p:cNvPr>
            <p:cNvSpPr txBox="1"/>
            <p:nvPr/>
          </p:nvSpPr>
          <p:spPr>
            <a:xfrm rot="853808">
              <a:off x="9594092" y="3846664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EMG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2087883-45B8-9527-B51A-1FE9C67ED6B9}"/>
                </a:ext>
              </a:extLst>
            </p:cNvPr>
            <p:cNvSpPr txBox="1"/>
            <p:nvPr/>
          </p:nvSpPr>
          <p:spPr>
            <a:xfrm rot="20896003">
              <a:off x="8014367" y="3595016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EMG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C507E60-5C9E-20F6-5CAC-A433E9B4235B}"/>
                </a:ext>
              </a:extLst>
            </p:cNvPr>
            <p:cNvCxnSpPr/>
            <p:nvPr/>
          </p:nvCxnSpPr>
          <p:spPr>
            <a:xfrm flipH="1" flipV="1">
              <a:off x="8264596" y="2133600"/>
              <a:ext cx="273166" cy="60249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635174A-AFF5-3295-984F-465BAD7D81C4}"/>
                </a:ext>
              </a:extLst>
            </p:cNvPr>
            <p:cNvSpPr txBox="1"/>
            <p:nvPr/>
          </p:nvSpPr>
          <p:spPr>
            <a:xfrm rot="20188962">
              <a:off x="7963018" y="1889139"/>
              <a:ext cx="4507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chemeClr val="accent1"/>
                  </a:solidFill>
                </a:rPr>
                <a:t>GO!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9B735BE-CEE3-B077-50E9-C8831B9D336A}"/>
                </a:ext>
              </a:extLst>
            </p:cNvPr>
            <p:cNvCxnSpPr>
              <a:cxnSpLocks/>
            </p:cNvCxnSpPr>
            <p:nvPr/>
          </p:nvCxnSpPr>
          <p:spPr>
            <a:xfrm>
              <a:off x="9368323" y="3290574"/>
              <a:ext cx="208131" cy="7899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F12E289-1FFE-A01A-AB94-F17DA5580B78}"/>
                </a:ext>
              </a:extLst>
            </p:cNvPr>
            <p:cNvSpPr txBox="1"/>
            <p:nvPr/>
          </p:nvSpPr>
          <p:spPr>
            <a:xfrm rot="1478205">
              <a:off x="9481777" y="3271520"/>
              <a:ext cx="5341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1"/>
                  </a:solidFill>
                </a:rPr>
                <a:t>IMM</a:t>
              </a:r>
              <a:br>
                <a:rPr lang="en-US" sz="1000" b="1">
                  <a:solidFill>
                    <a:schemeClr val="accent1"/>
                  </a:solidFill>
                </a:rPr>
              </a:br>
              <a:r>
                <a:rPr lang="en-US" sz="1000" b="1">
                  <a:solidFill>
                    <a:schemeClr val="accent1"/>
                  </a:solidFill>
                </a:rPr>
                <a:t>STOP!</a:t>
              </a:r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4EE154C4-60F8-A606-9191-E2EC917BD7D3}"/>
                </a:ext>
              </a:extLst>
            </p:cNvPr>
            <p:cNvSpPr/>
            <p:nvPr/>
          </p:nvSpPr>
          <p:spPr>
            <a:xfrm>
              <a:off x="6885316" y="4256663"/>
              <a:ext cx="526525" cy="524326"/>
            </a:xfrm>
            <a:prstGeom prst="arc">
              <a:avLst>
                <a:gd name="adj1" fmla="val 2519241"/>
                <a:gd name="adj2" fmla="val 1537562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D6774B5-67D6-F253-7CFA-2F9F6F4DAAB3}"/>
                </a:ext>
              </a:extLst>
            </p:cNvPr>
            <p:cNvSpPr txBox="1"/>
            <p:nvPr/>
          </p:nvSpPr>
          <p:spPr>
            <a:xfrm rot="19002481">
              <a:off x="6588003" y="413656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ped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F98BFE0E-E6E4-ADDC-BC2A-F69B28E3BE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2134" y="4829236"/>
              <a:ext cx="130578" cy="54510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264252AA-A700-DA44-638C-032A50B670A8}"/>
                </a:ext>
              </a:extLst>
            </p:cNvPr>
            <p:cNvSpPr txBox="1"/>
            <p:nvPr/>
          </p:nvSpPr>
          <p:spPr>
            <a:xfrm>
              <a:off x="6454117" y="5422585"/>
              <a:ext cx="13687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chemeClr val="accent1"/>
                  </a:solidFill>
                </a:rPr>
                <a:t>Already stopped</a:t>
              </a:r>
            </a:p>
          </p:txBody>
        </p: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4C774CFB-21A3-F17E-DA11-3FEB8A193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04811" y="2384004"/>
              <a:ext cx="316989" cy="41206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09E684EE-A1CE-4C36-9CE7-40BCF508D6D8}"/>
                </a:ext>
              </a:extLst>
            </p:cNvPr>
            <p:cNvSpPr txBox="1"/>
            <p:nvPr/>
          </p:nvSpPr>
          <p:spPr>
            <a:xfrm rot="1980157">
              <a:off x="10175340" y="2129411"/>
              <a:ext cx="963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chemeClr val="accent1"/>
                  </a:solidFill>
                </a:rPr>
                <a:t>HURRY UP!</a:t>
              </a:r>
            </a:p>
          </p:txBody>
        </p:sp>
        <p:sp>
          <p:nvSpPr>
            <p:cNvPr id="1031" name="Arc 1030">
              <a:extLst>
                <a:ext uri="{FF2B5EF4-FFF2-40B4-BE49-F238E27FC236}">
                  <a16:creationId xmlns:a16="http://schemas.microsoft.com/office/drawing/2014/main" id="{B7FA135B-92A2-5EAD-3B54-57752C77D9F3}"/>
                </a:ext>
              </a:extLst>
            </p:cNvPr>
            <p:cNvSpPr/>
            <p:nvPr/>
          </p:nvSpPr>
          <p:spPr>
            <a:xfrm rot="15121400">
              <a:off x="10730854" y="4295767"/>
              <a:ext cx="526525" cy="524326"/>
            </a:xfrm>
            <a:prstGeom prst="arc">
              <a:avLst>
                <a:gd name="adj1" fmla="val 2519241"/>
                <a:gd name="adj2" fmla="val 1537562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32" name="Straight Arrow Connector 1031">
              <a:extLst>
                <a:ext uri="{FF2B5EF4-FFF2-40B4-BE49-F238E27FC236}">
                  <a16:creationId xmlns:a16="http://schemas.microsoft.com/office/drawing/2014/main" id="{F8E5718C-993F-C5F6-3E28-CA6053327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27419" y="4919082"/>
              <a:ext cx="130578" cy="54510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TextBox 1032">
              <a:extLst>
                <a:ext uri="{FF2B5EF4-FFF2-40B4-BE49-F238E27FC236}">
                  <a16:creationId xmlns:a16="http://schemas.microsoft.com/office/drawing/2014/main" id="{2D089445-C9A1-712B-BD74-57EF31C9E176}"/>
                </a:ext>
              </a:extLst>
            </p:cNvPr>
            <p:cNvSpPr txBox="1"/>
            <p:nvPr/>
          </p:nvSpPr>
          <p:spPr>
            <a:xfrm>
              <a:off x="10327116" y="5552271"/>
              <a:ext cx="11006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chemeClr val="accent1"/>
                  </a:solidFill>
                </a:rPr>
                <a:t>Wait for RED!</a:t>
              </a:r>
            </a:p>
          </p:txBody>
        </p:sp>
        <p:cxnSp>
          <p:nvCxnSpPr>
            <p:cNvPr id="1034" name="Straight Arrow Connector 1033">
              <a:extLst>
                <a:ext uri="{FF2B5EF4-FFF2-40B4-BE49-F238E27FC236}">
                  <a16:creationId xmlns:a16="http://schemas.microsoft.com/office/drawing/2014/main" id="{ECB608B6-A61D-D376-A3A9-4097ECBDF5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4689" y="4210983"/>
              <a:ext cx="59811" cy="29704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0A73DD4C-1C7F-3217-8CA9-2371CB125970}"/>
                </a:ext>
              </a:extLst>
            </p:cNvPr>
            <p:cNvSpPr txBox="1"/>
            <p:nvPr/>
          </p:nvSpPr>
          <p:spPr>
            <a:xfrm rot="226153">
              <a:off x="9454638" y="4448277"/>
              <a:ext cx="5341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1"/>
                  </a:solidFill>
                </a:rPr>
                <a:t>IMM</a:t>
              </a:r>
              <a:br>
                <a:rPr lang="en-US" sz="1000" b="1">
                  <a:solidFill>
                    <a:schemeClr val="accent1"/>
                  </a:solidFill>
                </a:rPr>
              </a:br>
              <a:r>
                <a:rPr lang="en-US" sz="1000" b="1">
                  <a:solidFill>
                    <a:schemeClr val="accent1"/>
                  </a:solidFill>
                </a:rPr>
                <a:t>STOP!</a:t>
              </a:r>
            </a:p>
          </p:txBody>
        </p:sp>
        <p:cxnSp>
          <p:nvCxnSpPr>
            <p:cNvPr id="1039" name="Straight Arrow Connector 1038">
              <a:extLst>
                <a:ext uri="{FF2B5EF4-FFF2-40B4-BE49-F238E27FC236}">
                  <a16:creationId xmlns:a16="http://schemas.microsoft.com/office/drawing/2014/main" id="{E4DF045A-7D01-5C9A-EAC8-30A0BB7ED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6852" y="5116166"/>
              <a:ext cx="131630" cy="37464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2" name="Arc 1041">
              <a:extLst>
                <a:ext uri="{FF2B5EF4-FFF2-40B4-BE49-F238E27FC236}">
                  <a16:creationId xmlns:a16="http://schemas.microsoft.com/office/drawing/2014/main" id="{02BFE7BA-B0CB-AC34-BD62-20DF207BC92C}"/>
                </a:ext>
              </a:extLst>
            </p:cNvPr>
            <p:cNvSpPr/>
            <p:nvPr/>
          </p:nvSpPr>
          <p:spPr>
            <a:xfrm rot="6926704">
              <a:off x="9167013" y="1925158"/>
              <a:ext cx="526525" cy="524326"/>
            </a:xfrm>
            <a:prstGeom prst="arc">
              <a:avLst>
                <a:gd name="adj1" fmla="val 2519241"/>
                <a:gd name="adj2" fmla="val 1537562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17DCF8E9-7ADB-6ACD-E5F4-505AFA25ED1E}"/>
                </a:ext>
              </a:extLst>
            </p:cNvPr>
            <p:cNvSpPr txBox="1"/>
            <p:nvPr/>
          </p:nvSpPr>
          <p:spPr>
            <a:xfrm rot="19002481">
              <a:off x="8882995" y="1821219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ped</a:t>
              </a:r>
            </a:p>
          </p:txBody>
        </p:sp>
        <p:cxnSp>
          <p:nvCxnSpPr>
            <p:cNvPr id="1044" name="Straight Arrow Connector 1043">
              <a:extLst>
                <a:ext uri="{FF2B5EF4-FFF2-40B4-BE49-F238E27FC236}">
                  <a16:creationId xmlns:a16="http://schemas.microsoft.com/office/drawing/2014/main" id="{3C5D4942-2BEB-4148-D653-B72E4366D6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1113" y="1447832"/>
              <a:ext cx="316989" cy="41206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DDD96ED5-0A5C-9983-235E-34E3DDCA00AF}"/>
                </a:ext>
              </a:extLst>
            </p:cNvPr>
            <p:cNvSpPr txBox="1"/>
            <p:nvPr/>
          </p:nvSpPr>
          <p:spPr>
            <a:xfrm>
              <a:off x="9430275" y="1176544"/>
              <a:ext cx="11006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chemeClr val="accent1"/>
                  </a:solidFill>
                </a:rPr>
                <a:t>Wait for RED!</a:t>
              </a:r>
            </a:p>
          </p:txBody>
        </p:sp>
        <p:cxnSp>
          <p:nvCxnSpPr>
            <p:cNvPr id="1046" name="Straight Arrow Connector 1045">
              <a:extLst>
                <a:ext uri="{FF2B5EF4-FFF2-40B4-BE49-F238E27FC236}">
                  <a16:creationId xmlns:a16="http://schemas.microsoft.com/office/drawing/2014/main" id="{43A2A21C-7A51-27D3-1B08-CDA5CE3D02D7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 flipV="1">
              <a:off x="8509597" y="3424471"/>
              <a:ext cx="54839" cy="258159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96E502DE-FE03-846B-9409-7396E81B6BBB}"/>
                </a:ext>
              </a:extLst>
            </p:cNvPr>
            <p:cNvSpPr txBox="1"/>
            <p:nvPr/>
          </p:nvSpPr>
          <p:spPr>
            <a:xfrm>
              <a:off x="8387574" y="3085638"/>
              <a:ext cx="5341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solidFill>
                    <a:schemeClr val="accent1"/>
                  </a:solidFill>
                </a:rPr>
                <a:t>IMM</a:t>
              </a:r>
              <a:br>
                <a:rPr lang="en-US" sz="1000" b="1">
                  <a:solidFill>
                    <a:schemeClr val="accent1"/>
                  </a:solidFill>
                </a:rPr>
              </a:br>
              <a:r>
                <a:rPr lang="en-US" sz="1000" b="1">
                  <a:solidFill>
                    <a:schemeClr val="accent1"/>
                  </a:solidFill>
                </a:rPr>
                <a:t>STOP!</a:t>
              </a:r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C2728740-4CAD-A484-CE1F-65455E4C89F6}"/>
                </a:ext>
              </a:extLst>
            </p:cNvPr>
            <p:cNvSpPr txBox="1"/>
            <p:nvPr/>
          </p:nvSpPr>
          <p:spPr>
            <a:xfrm>
              <a:off x="8027911" y="5530213"/>
              <a:ext cx="1558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>
                  <a:solidFill>
                    <a:schemeClr val="accent1"/>
                  </a:solidFill>
                </a:rPr>
                <a:t>STOP! Peds allowed</a:t>
              </a:r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24670043-E0C2-8C39-C88D-4EEFADB9E589}"/>
                </a:ext>
              </a:extLst>
            </p:cNvPr>
            <p:cNvSpPr txBox="1"/>
            <p:nvPr/>
          </p:nvSpPr>
          <p:spPr>
            <a:xfrm rot="5752054">
              <a:off x="11149723" y="4495073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ped</a:t>
              </a:r>
            </a:p>
          </p:txBody>
        </p:sp>
        <p:cxnSp>
          <p:nvCxnSpPr>
            <p:cNvPr id="1054" name="Straight Arrow Connector 1053">
              <a:extLst>
                <a:ext uri="{FF2B5EF4-FFF2-40B4-BE49-F238E27FC236}">
                  <a16:creationId xmlns:a16="http://schemas.microsoft.com/office/drawing/2014/main" id="{84852914-417D-DB9C-6240-0971C8BF1C4B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 flipH="1">
              <a:off x="8620312" y="4393068"/>
              <a:ext cx="28489" cy="1071116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8" name="Arc 1057">
              <a:extLst>
                <a:ext uri="{FF2B5EF4-FFF2-40B4-BE49-F238E27FC236}">
                  <a16:creationId xmlns:a16="http://schemas.microsoft.com/office/drawing/2014/main" id="{B023DD80-3253-2D9D-0F7E-373371E7B403}"/>
                </a:ext>
              </a:extLst>
            </p:cNvPr>
            <p:cNvSpPr/>
            <p:nvPr/>
          </p:nvSpPr>
          <p:spPr>
            <a:xfrm rot="18007849">
              <a:off x="8960571" y="4315441"/>
              <a:ext cx="341137" cy="331946"/>
            </a:xfrm>
            <a:prstGeom prst="arc">
              <a:avLst>
                <a:gd name="adj1" fmla="val 2519241"/>
                <a:gd name="adj2" fmla="val 1537562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6694F72B-B229-5651-F828-D31891BA9857}"/>
                </a:ext>
              </a:extLst>
            </p:cNvPr>
            <p:cNvSpPr txBox="1"/>
            <p:nvPr/>
          </p:nvSpPr>
          <p:spPr>
            <a:xfrm>
              <a:off x="8879817" y="4626829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EMG</a:t>
              </a:r>
            </a:p>
          </p:txBody>
        </p:sp>
      </p:grp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720AFD60-80F4-1DB0-5324-79747E37FCB7}"/>
              </a:ext>
            </a:extLst>
          </p:cNvPr>
          <p:cNvGrpSpPr/>
          <p:nvPr/>
        </p:nvGrpSpPr>
        <p:grpSpPr>
          <a:xfrm>
            <a:off x="563418" y="1182255"/>
            <a:ext cx="5237018" cy="4895272"/>
            <a:chOff x="563418" y="1182255"/>
            <a:chExt cx="5237018" cy="489527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322BC51-4CDF-13C2-6C5B-F3EE6C04A43F}"/>
                </a:ext>
              </a:extLst>
            </p:cNvPr>
            <p:cNvSpPr/>
            <p:nvPr/>
          </p:nvSpPr>
          <p:spPr>
            <a:xfrm>
              <a:off x="563418" y="1182255"/>
              <a:ext cx="5237018" cy="4895272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3624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sz="1200">
                  <a:solidFill>
                    <a:schemeClr val="tx1"/>
                  </a:solidFill>
                </a:rPr>
                <a:t>Moore</a:t>
              </a:r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021EC22C-922D-A99E-BBB7-F81D528293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3948" y="3576778"/>
              <a:ext cx="757399" cy="757399"/>
            </a:xfrm>
            <a:prstGeom prst="ellipse">
              <a:avLst/>
            </a:prstGeom>
            <a:solidFill>
              <a:srgbClr val="FF0000">
                <a:alpha val="3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RED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-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STOP</a:t>
              </a:r>
            </a:p>
          </p:txBody>
        </p:sp>
        <p:sp>
          <p:nvSpPr>
            <p:cNvPr id="1061" name="Arc 1060">
              <a:extLst>
                <a:ext uri="{FF2B5EF4-FFF2-40B4-BE49-F238E27FC236}">
                  <a16:creationId xmlns:a16="http://schemas.microsoft.com/office/drawing/2014/main" id="{362D92E3-8952-DA6A-8BFF-FC0E2E6B8BBE}"/>
                </a:ext>
              </a:extLst>
            </p:cNvPr>
            <p:cNvSpPr/>
            <p:nvPr/>
          </p:nvSpPr>
          <p:spPr>
            <a:xfrm rot="19703081">
              <a:off x="1486985" y="2652536"/>
              <a:ext cx="2538401" cy="1276075"/>
            </a:xfrm>
            <a:prstGeom prst="arc">
              <a:avLst>
                <a:gd name="adj1" fmla="val 12486267"/>
                <a:gd name="adj2" fmla="val 18854389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2AE8879E-6BA8-8E49-19E9-6C08E5BD92AD}"/>
                </a:ext>
              </a:extLst>
            </p:cNvPr>
            <p:cNvSpPr txBox="1"/>
            <p:nvPr/>
          </p:nvSpPr>
          <p:spPr>
            <a:xfrm rot="19002481">
              <a:off x="1950084" y="2631708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tick</a:t>
              </a: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74C55DCE-DB13-F9AA-6392-D768F50D92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60770" y="2133600"/>
              <a:ext cx="757399" cy="757399"/>
            </a:xfrm>
            <a:prstGeom prst="ellipse">
              <a:avLst/>
            </a:prstGeom>
            <a:solidFill>
              <a:schemeClr val="accent6">
                <a:alpha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GREEN</a:t>
              </a:r>
              <a:br>
                <a:rPr lang="en-US" sz="800">
                  <a:solidFill>
                    <a:schemeClr val="tx1"/>
                  </a:solidFill>
                </a:rPr>
              </a:br>
              <a:r>
                <a:rPr lang="en-US" sz="800">
                  <a:solidFill>
                    <a:schemeClr val="tx1"/>
                  </a:solidFill>
                </a:rPr>
                <a:t>-</a:t>
              </a:r>
              <a:br>
                <a:rPr lang="en-US" sz="800">
                  <a:solidFill>
                    <a:schemeClr val="tx1"/>
                  </a:solidFill>
                </a:rPr>
              </a:br>
              <a:r>
                <a:rPr lang="en-US" sz="800">
                  <a:solidFill>
                    <a:schemeClr val="tx1"/>
                  </a:solidFill>
                </a:rPr>
                <a:t>GO</a:t>
              </a:r>
            </a:p>
          </p:txBody>
        </p:sp>
        <p:sp>
          <p:nvSpPr>
            <p:cNvPr id="1064" name="Arc 1063">
              <a:extLst>
                <a:ext uri="{FF2B5EF4-FFF2-40B4-BE49-F238E27FC236}">
                  <a16:creationId xmlns:a16="http://schemas.microsoft.com/office/drawing/2014/main" id="{2E631631-8D46-B47E-F98F-AA3BF65B8C85}"/>
                </a:ext>
              </a:extLst>
            </p:cNvPr>
            <p:cNvSpPr/>
            <p:nvPr/>
          </p:nvSpPr>
          <p:spPr>
            <a:xfrm rot="3679646">
              <a:off x="3029345" y="2768979"/>
              <a:ext cx="1683672" cy="1276075"/>
            </a:xfrm>
            <a:prstGeom prst="arc">
              <a:avLst>
                <a:gd name="adj1" fmla="val 12908676"/>
                <a:gd name="adj2" fmla="val 18854389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D8F1ADAF-26A9-CACB-C92E-9CE16C7B0592}"/>
                </a:ext>
              </a:extLst>
            </p:cNvPr>
            <p:cNvSpPr txBox="1"/>
            <p:nvPr/>
          </p:nvSpPr>
          <p:spPr>
            <a:xfrm rot="3224603">
              <a:off x="4316670" y="2781367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tick</a:t>
              </a:r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E9A13D74-F177-E195-3EE9-357B193A2B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40678" y="3673754"/>
              <a:ext cx="757399" cy="757399"/>
            </a:xfrm>
            <a:prstGeom prst="ellipse">
              <a:avLst/>
            </a:prstGeom>
            <a:solidFill>
              <a:srgbClr val="FFFF00">
                <a:alpha val="3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</a:rPr>
                <a:t>YELLOW</a:t>
              </a:r>
              <a:br>
                <a:rPr lang="en-US" sz="700">
                  <a:solidFill>
                    <a:schemeClr val="tx1"/>
                  </a:solidFill>
                </a:rPr>
              </a:br>
              <a:r>
                <a:rPr lang="en-US" sz="700">
                  <a:solidFill>
                    <a:schemeClr val="tx1"/>
                  </a:solidFill>
                </a:rPr>
                <a:t>-</a:t>
              </a:r>
              <a:br>
                <a:rPr lang="en-US" sz="700">
                  <a:solidFill>
                    <a:schemeClr val="tx1"/>
                  </a:solidFill>
                </a:rPr>
              </a:br>
              <a:r>
                <a:rPr lang="en-US" sz="700">
                  <a:solidFill>
                    <a:schemeClr val="tx1"/>
                  </a:solidFill>
                </a:rPr>
                <a:t>HURRY UP!</a:t>
              </a:r>
            </a:p>
          </p:txBody>
        </p:sp>
        <p:sp>
          <p:nvSpPr>
            <p:cNvPr id="1070" name="Arc 1069">
              <a:extLst>
                <a:ext uri="{FF2B5EF4-FFF2-40B4-BE49-F238E27FC236}">
                  <a16:creationId xmlns:a16="http://schemas.microsoft.com/office/drawing/2014/main" id="{357FDA16-AA69-0724-727A-66AD5D7F5503}"/>
                </a:ext>
              </a:extLst>
            </p:cNvPr>
            <p:cNvSpPr/>
            <p:nvPr/>
          </p:nvSpPr>
          <p:spPr>
            <a:xfrm rot="10965905">
              <a:off x="1566588" y="3833720"/>
              <a:ext cx="2983466" cy="1012109"/>
            </a:xfrm>
            <a:prstGeom prst="arc">
              <a:avLst>
                <a:gd name="adj1" fmla="val 11206383"/>
                <a:gd name="adj2" fmla="val 2078288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5834C1AE-A700-B5E0-AEC3-DC9AB44BEDF3}"/>
                </a:ext>
              </a:extLst>
            </p:cNvPr>
            <p:cNvSpPr txBox="1"/>
            <p:nvPr/>
          </p:nvSpPr>
          <p:spPr>
            <a:xfrm rot="10461795">
              <a:off x="3000177" y="4918912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tick</a:t>
              </a:r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FEECB111-3AA0-4A96-170F-148A3A4A09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3580" y="3448312"/>
              <a:ext cx="757399" cy="757399"/>
            </a:xfrm>
            <a:prstGeom prst="ellipse">
              <a:avLst/>
            </a:prstGeom>
            <a:solidFill>
              <a:srgbClr val="FFC000">
                <a:alpha val="6519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FLASH</a:t>
              </a:r>
              <a:br>
                <a:rPr lang="en-US" sz="800">
                  <a:solidFill>
                    <a:schemeClr val="tx1"/>
                  </a:solidFill>
                </a:rPr>
              </a:br>
              <a:r>
                <a:rPr lang="en-US" sz="800">
                  <a:solidFill>
                    <a:schemeClr val="tx1"/>
                  </a:solidFill>
                </a:rPr>
                <a:t>-</a:t>
              </a:r>
              <a:br>
                <a:rPr lang="en-US" sz="800">
                  <a:solidFill>
                    <a:schemeClr val="tx1"/>
                  </a:solidFill>
                </a:rPr>
              </a:br>
              <a:r>
                <a:rPr lang="en-US" sz="800">
                  <a:solidFill>
                    <a:schemeClr val="tx1"/>
                  </a:solidFill>
                </a:rPr>
                <a:t>IMM STOP!</a:t>
              </a:r>
            </a:p>
          </p:txBody>
        </p:sp>
        <p:cxnSp>
          <p:nvCxnSpPr>
            <p:cNvPr id="1073" name="Straight Arrow Connector 1072">
              <a:extLst>
                <a:ext uri="{FF2B5EF4-FFF2-40B4-BE49-F238E27FC236}">
                  <a16:creationId xmlns:a16="http://schemas.microsoft.com/office/drawing/2014/main" id="{773CF668-B5DD-131C-7622-DA27CC552C29}"/>
                </a:ext>
              </a:extLst>
            </p:cNvPr>
            <p:cNvCxnSpPr/>
            <p:nvPr/>
          </p:nvCxnSpPr>
          <p:spPr>
            <a:xfrm flipH="1">
              <a:off x="3178455" y="2924323"/>
              <a:ext cx="138545" cy="4259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EDA4963B-D884-9F6C-A581-109DE0D09E13}"/>
                </a:ext>
              </a:extLst>
            </p:cNvPr>
            <p:cNvSpPr txBox="1"/>
            <p:nvPr/>
          </p:nvSpPr>
          <p:spPr>
            <a:xfrm rot="17665688">
              <a:off x="2858480" y="2886942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EMG</a:t>
              </a:r>
            </a:p>
          </p:txBody>
        </p:sp>
        <p:cxnSp>
          <p:nvCxnSpPr>
            <p:cNvPr id="1075" name="Straight Arrow Connector 1074">
              <a:extLst>
                <a:ext uri="{FF2B5EF4-FFF2-40B4-BE49-F238E27FC236}">
                  <a16:creationId xmlns:a16="http://schemas.microsoft.com/office/drawing/2014/main" id="{A8AD0B07-AB1D-24F7-7EED-14ACE6DE8ED2}"/>
                </a:ext>
              </a:extLst>
            </p:cNvPr>
            <p:cNvCxnSpPr/>
            <p:nvPr/>
          </p:nvCxnSpPr>
          <p:spPr>
            <a:xfrm flipH="1" flipV="1">
              <a:off x="3532187" y="3944486"/>
              <a:ext cx="573582" cy="1291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6" name="TextBox 1075">
              <a:extLst>
                <a:ext uri="{FF2B5EF4-FFF2-40B4-BE49-F238E27FC236}">
                  <a16:creationId xmlns:a16="http://schemas.microsoft.com/office/drawing/2014/main" id="{2F736C07-0B68-CA6A-D3F3-3C28E35CDB3E}"/>
                </a:ext>
              </a:extLst>
            </p:cNvPr>
            <p:cNvSpPr txBox="1"/>
            <p:nvPr/>
          </p:nvSpPr>
          <p:spPr>
            <a:xfrm rot="853808">
              <a:off x="3642362" y="3717914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EMG</a:t>
              </a:r>
            </a:p>
          </p:txBody>
        </p:sp>
        <p:cxnSp>
          <p:nvCxnSpPr>
            <p:cNvPr id="1077" name="Straight Arrow Connector 1076">
              <a:extLst>
                <a:ext uri="{FF2B5EF4-FFF2-40B4-BE49-F238E27FC236}">
                  <a16:creationId xmlns:a16="http://schemas.microsoft.com/office/drawing/2014/main" id="{23FF2F85-F20D-2C70-1DD5-8DBCEFB326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6418" y="3750336"/>
              <a:ext cx="557160" cy="923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14185171-71D9-0098-39BD-4D8640F06043}"/>
                </a:ext>
              </a:extLst>
            </p:cNvPr>
            <p:cNvSpPr txBox="1"/>
            <p:nvPr/>
          </p:nvSpPr>
          <p:spPr>
            <a:xfrm rot="20896003">
              <a:off x="2022874" y="3498681"/>
              <a:ext cx="5004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EMG</a:t>
              </a:r>
            </a:p>
          </p:txBody>
        </p:sp>
        <p:cxnSp>
          <p:nvCxnSpPr>
            <p:cNvPr id="1079" name="Straight Arrow Connector 1078">
              <a:extLst>
                <a:ext uri="{FF2B5EF4-FFF2-40B4-BE49-F238E27FC236}">
                  <a16:creationId xmlns:a16="http://schemas.microsoft.com/office/drawing/2014/main" id="{736D56D7-7C60-C27F-A661-F23FAFD6A24A}"/>
                </a:ext>
              </a:extLst>
            </p:cNvPr>
            <p:cNvCxnSpPr/>
            <p:nvPr/>
          </p:nvCxnSpPr>
          <p:spPr>
            <a:xfrm flipH="1">
              <a:off x="2004295" y="4033077"/>
              <a:ext cx="677397" cy="885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90CD2530-628E-8494-90BC-2D9CF153788F}"/>
                </a:ext>
              </a:extLst>
            </p:cNvPr>
            <p:cNvSpPr txBox="1"/>
            <p:nvPr/>
          </p:nvSpPr>
          <p:spPr>
            <a:xfrm rot="21001270">
              <a:off x="2180149" y="4093852"/>
              <a:ext cx="4267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tick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52B9E-AD1E-2A48-BD5C-E1240E33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0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0ED95-45C6-2E17-8A9E-868B63DF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83F84-B418-1709-BF78-05DEA742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0E831-7C89-CDEE-47C3-78DA59ED24DF}"/>
              </a:ext>
            </a:extLst>
          </p:cNvPr>
          <p:cNvSpPr txBox="1"/>
          <p:nvPr/>
        </p:nvSpPr>
        <p:spPr>
          <a:xfrm>
            <a:off x="563418" y="233915"/>
            <a:ext cx="6307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Moore vs. Mealy on traffic lights – using Python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7188183-6F83-FBA5-9EE9-D711B62F78ED}"/>
              </a:ext>
            </a:extLst>
          </p:cNvPr>
          <p:cNvGrpSpPr/>
          <p:nvPr/>
        </p:nvGrpSpPr>
        <p:grpSpPr>
          <a:xfrm>
            <a:off x="563418" y="970174"/>
            <a:ext cx="5237018" cy="5190090"/>
            <a:chOff x="563418" y="1182255"/>
            <a:chExt cx="5237018" cy="519009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4D130F0-8F9C-DB39-BBD3-274D92A8BAF0}"/>
                </a:ext>
              </a:extLst>
            </p:cNvPr>
            <p:cNvSpPr/>
            <p:nvPr/>
          </p:nvSpPr>
          <p:spPr>
            <a:xfrm>
              <a:off x="563418" y="1182255"/>
              <a:ext cx="5237018" cy="519009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3624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sz="1200">
                  <a:solidFill>
                    <a:schemeClr val="tx1"/>
                  </a:solidFill>
                </a:rPr>
                <a:t>Moore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7F5604-A810-A241-5AEA-567EBC1DE64E}"/>
                </a:ext>
              </a:extLst>
            </p:cNvPr>
            <p:cNvSpPr txBox="1"/>
            <p:nvPr/>
          </p:nvSpPr>
          <p:spPr>
            <a:xfrm>
              <a:off x="682462" y="1238245"/>
              <a:ext cx="4204997" cy="46474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class TrafficLightMoore: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def __init__(self):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self.state = 'Red'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def signal(self, inp):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if self.state == 'Red':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if inp == 'tick':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'Green'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elif inp == 'emergency':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'FlashingRed'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elif self.state == 'Green':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if inp == 'tick':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'Yellow'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elif inp == 'emergency':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'FlashingRed'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elif self.state == 'Yellow':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if inp == 'tick':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'Red'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elif inp == 'emergency':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'FlashingRed'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elif self.state == 'FlashingRed':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if inp == 'tick':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'Red'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def get_output(self):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if self.state == 'Red':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return 'Display: Red - Waiting'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elif self.state == 'Green':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return 'Display: Green - Go'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elif self.state == 'Yellow':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return 'Display: Yellow - Prepare to Stop'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elif self.state == 'FlashingRed':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return 'Display: Flashing Red - Emergency Mode Active'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return 'Unknown State'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9EC2F4F-DC64-3430-9986-49022C39F39B}"/>
              </a:ext>
            </a:extLst>
          </p:cNvPr>
          <p:cNvGrpSpPr/>
          <p:nvPr/>
        </p:nvGrpSpPr>
        <p:grpSpPr>
          <a:xfrm>
            <a:off x="6391564" y="967289"/>
            <a:ext cx="5237018" cy="5195860"/>
            <a:chOff x="6391564" y="1182254"/>
            <a:chExt cx="5237018" cy="51958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88E4785-8986-B03F-14DC-E4DC497CC227}"/>
                </a:ext>
              </a:extLst>
            </p:cNvPr>
            <p:cNvSpPr/>
            <p:nvPr/>
          </p:nvSpPr>
          <p:spPr>
            <a:xfrm>
              <a:off x="6391564" y="1182254"/>
              <a:ext cx="5237018" cy="5174095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3624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r>
                <a:rPr lang="en-US" sz="1200">
                  <a:solidFill>
                    <a:schemeClr val="tx1"/>
                  </a:solidFill>
                </a:rPr>
                <a:t>Mealy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B393FD-5A00-714B-E465-2EE63FB0729F}"/>
                </a:ext>
              </a:extLst>
            </p:cNvPr>
            <p:cNvSpPr txBox="1"/>
            <p:nvPr/>
          </p:nvSpPr>
          <p:spPr>
            <a:xfrm>
              <a:off x="6557818" y="1238245"/>
              <a:ext cx="4509568" cy="51398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class TrafficLightMealy: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def __init__(self):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self.state = 'Red'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def signal(self, inp):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if self.state == 'Red':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if inp == 'tick':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'Green'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'Switching to Green'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elif inp == 'emergency':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'FlashingRed'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'EMERGENCY: Flashing Red Activated'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elif inp == 'pedestrian':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'Pedestrian: Already stopped at Red'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elif self.state == 'Green':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if inp == 'tick':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'Yellow'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'Switching to Yellow'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elif inp == 'pedestrian':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'Pedestrian: Please wait for Red'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elif inp == 'emergency':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'FlashingRed'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'EMERGENCY: Flashing Red Activated'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elif self.state == 'Yellow':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if inp == 'tick':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'Red'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'Switching to Red - Pedestrian Crossing Allowed'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elif inp == 'emergency':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'FlashingRed'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'EMERGENCY: Flashing Red Activated'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elif self.state == 'FlashingRed':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if inp == 'tick':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self.state = 'Red'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'Back to Normal: Red Light'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elif inp == 'emergency':</a:t>
              </a: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return 'Already in Emergency Mode'</a:t>
              </a:r>
            </a:p>
            <a:p>
              <a:endParaRPr lang="en-US" sz="80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800">
                  <a:latin typeface="Courier New" panose="02070309020205020404" pitchFamily="49" charset="0"/>
                  <a:cs typeface="Courier New" panose="02070309020205020404" pitchFamily="49" charset="0"/>
                </a:rPr>
                <a:t>        return 'Invalid Input or State'</a:t>
              </a: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91B9E40-AE4E-0C89-3E32-15D4A892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78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ECE0B-3569-1D43-8F21-A56C4A74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6F920-9CD3-DE64-3A92-1DEFD443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4D478-6C5C-B910-20F4-52A6F21ED7CC}"/>
              </a:ext>
            </a:extLst>
          </p:cNvPr>
          <p:cNvSpPr txBox="1"/>
          <p:nvPr/>
        </p:nvSpPr>
        <p:spPr>
          <a:xfrm>
            <a:off x="233218" y="272015"/>
            <a:ext cx="4568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Best practices &amp; common pitfalls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F4D357-916A-9BCF-C311-57A98DF3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1DFDB-59AC-B2C1-E8E2-29D66A5D9784}"/>
              </a:ext>
            </a:extLst>
          </p:cNvPr>
          <p:cNvSpPr txBox="1"/>
          <p:nvPr/>
        </p:nvSpPr>
        <p:spPr>
          <a:xfrm>
            <a:off x="233218" y="1333500"/>
            <a:ext cx="899079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Draw the state diagram FIRST, before coding.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enums</a:t>
            </a:r>
            <a:r>
              <a:rPr lang="en-US" dirty="0"/>
              <a:t> for states → type safety, exhaustive switches.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 transitions total: define behavior for every (state, input).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Handle unexpected input explicitly (ignore, error, or trap state).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Keep side-effects (actions) clearly separated from state changes.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Unit-test each transition and the accepted/rejected language.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 state transitions — invaluable for debugging.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Don’t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Boolean-flag soup (</a:t>
            </a:r>
            <a:r>
              <a:rPr lang="en-US" dirty="0" err="1"/>
              <a:t>isOpen</a:t>
            </a:r>
            <a:r>
              <a:rPr lang="en-US" dirty="0"/>
              <a:t>, </a:t>
            </a:r>
            <a:r>
              <a:rPr lang="en-US" dirty="0" err="1"/>
              <a:t>isPaused</a:t>
            </a:r>
            <a:r>
              <a:rPr lang="en-US" dirty="0"/>
              <a:t>, </a:t>
            </a:r>
            <a:r>
              <a:rPr lang="en-US" dirty="0" err="1"/>
              <a:t>isDone</a:t>
            </a:r>
            <a:r>
              <a:rPr lang="en-US" dirty="0"/>
              <a:t>...) instead of one explicit state.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Forgetting a (state, input) case → silent wrong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Mutating state from many places → make one method own the transition.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Using an FSM for something that needs unbounded counting (use a stack/parser).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Giant nested switches when the State pattern would be clearer.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Impossible states — model only the states that can really occur.</a:t>
            </a:r>
          </a:p>
        </p:txBody>
      </p:sp>
    </p:spTree>
    <p:extLst>
      <p:ext uri="{BB962C8B-B14F-4D97-AF65-F5344CB8AC3E}">
        <p14:creationId xmlns:p14="http://schemas.microsoft.com/office/powerpoint/2010/main" val="30585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BFFA-AC4F-3E19-A8E2-725070BCD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FB30F-3AAD-6230-6D52-D4703C69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Finite State Machines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9AEFDB-3E97-40EC-F750-F81FC4286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2E7D8-1FBC-6345-B95E-C1170A2E615C}" type="slidenum">
              <a:rPr lang="en-US" smtClean="0"/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6B25A6-DA61-0CB4-D7AF-D62C157BE17C}"/>
              </a:ext>
            </a:extLst>
          </p:cNvPr>
          <p:cNvSpPr txBox="1"/>
          <p:nvPr/>
        </p:nvSpPr>
        <p:spPr>
          <a:xfrm>
            <a:off x="3288532" y="3167390"/>
            <a:ext cx="56149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Exercise: string to double converter</a:t>
            </a:r>
          </a:p>
        </p:txBody>
      </p:sp>
    </p:spTree>
    <p:extLst>
      <p:ext uri="{BB962C8B-B14F-4D97-AF65-F5344CB8AC3E}">
        <p14:creationId xmlns:p14="http://schemas.microsoft.com/office/powerpoint/2010/main" val="296818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1616</Words>
  <Application>Microsoft Macintosh PowerPoint</Application>
  <PresentationFormat>Widescreen</PresentationFormat>
  <Paragraphs>284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19</cp:revision>
  <dcterms:created xsi:type="dcterms:W3CDTF">2025-02-19T20:37:30Z</dcterms:created>
  <dcterms:modified xsi:type="dcterms:W3CDTF">2026-07-11T20:13:58Z</dcterms:modified>
</cp:coreProperties>
</file>