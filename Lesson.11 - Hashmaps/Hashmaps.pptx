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9" r:id="rId4"/>
    <p:sldId id="260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403"/>
    <p:restoredTop sz="94667"/>
  </p:normalViewPr>
  <p:slideViewPr>
    <p:cSldViewPr snapToGrid="0">
      <p:cViewPr varScale="1">
        <p:scale>
          <a:sx n="78" d="100"/>
          <a:sy n="78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07293-F053-7B40-A228-5F1A48558100}" type="datetimeFigureOut">
              <a:rPr lang="en-US" smtClean="0"/>
              <a:t>08-Jun-26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41D49-4EEF-854E-9DDE-8BC5FEFD0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41D49-4EEF-854E-9DDE-8BC5FEFD084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785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33299-82CA-C34E-82BD-F69417629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1F9D9-0C1E-F024-2062-789E940A69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B2C5C-5B27-BF60-1821-10717383FF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73640-B879-088F-3FF4-473BAB276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A41D49-4EEF-854E-9DDE-8BC5FEFD084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621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39B-63FB-6C79-15F1-BAA1C47C7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9E2CF-704F-6F6C-0426-B7F84FC24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6FD8C-3A3D-445A-213A-CF6B71BA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B35056-F857-574F-9DA9-FEE3BA6A366D}" type="datetime1">
              <a:t>08-Jun-26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CA33-588F-4EAC-C341-1447D02D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C2CF-CA0A-CFA0-6B58-37C4224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5E98-1E0A-5C06-1F5F-DEBE421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2E38-AE1D-142D-1A59-8A0F47F9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4205-A97E-5C80-20A0-4B68B765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BB4CE-88AA-0E40-883C-C43CB4EF0A0F}" type="datetime1">
              <a:t>08-Jun-26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4116-E39C-BD33-E13E-AF18EB8A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E9A-B868-FE52-8CFE-689196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1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8CB-C549-0CDB-FB0B-590D1E78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19BA9-E540-1566-4B2B-E59034E8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6ECF-E7C9-D6D6-EE13-5AE02137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23E04-FEC2-6747-BBCD-3FD4BC89EA38}" type="datetime1">
              <a:t>08-Jun-26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9BBF-4527-08FB-EACA-DCAD1219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06293-AE67-6245-643E-B715DC45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3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51C7-AD92-09E3-6E4E-47CA0921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7D2D-1F7F-2B3D-CA36-7D64AE075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8E74B-CD91-A054-ADC9-1EFCB7785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2C44-3D99-F76D-41A0-E73C8318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A3811-9631-3842-827E-4B98098F6242}" type="datetime1">
              <a:t>08-Jun-26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2654B-ABB1-B4E7-D3FF-75F502E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3FF0-A6CC-BB11-1387-91380F75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3EE0-13D7-B16A-671D-37C4003E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36EBB-EB65-A1BE-9D46-0D48EAE2E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96A3D-C74C-E765-80CD-7C597B8C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A3A30-D02C-B54E-0027-C54DB7D89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242F7-89D9-4224-E2F0-D92BEC3FF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3D59E-AFA9-0483-559C-6C131C0E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CFD3C-1FF7-254C-84F1-C4391443198A}" type="datetime1">
              <a:t>08-Jun-26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6F210-EE29-8E1D-8FA8-D10028D7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38DDC-0ECF-9134-256E-293D6681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76A2-3DA5-918E-EA96-5DE7EA19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E71DD-2CDF-D942-ECFA-3348F885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DD1F2-B049-BA4A-96FB-CF2A36D0EA80}" type="datetime1">
              <a:t>08-Jun-26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4A0C1-2879-C55B-0CF2-13A64EE6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2FF08-FA4F-5E70-3D58-56BD02ED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E7684-4EDD-C720-2CDF-C7DB971D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BFBAB-1D95-8748-AF2E-54D6B0FB9839}" type="datetime1">
              <a:t>08-Jun-26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BEAB9-0036-AFDC-FD10-E5BBB32C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1F654-1E2B-5C4F-56B1-FD811F1D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9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AE98-D290-2D23-02C2-B1B9D08A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B8CB-0769-520D-1239-A592E736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52471-F5C0-4650-7641-FEC81F273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E6937-6113-2719-D75D-2A5C2922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4047C3-E302-8745-AC83-FB37FE034045}" type="datetime1">
              <a:t>08-Jun-26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6A247-0567-CD26-31DC-A70792F3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7F36-2EDB-2D13-ED56-83A06114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3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D053-C082-202E-4257-E09A2B09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8AAF1-FF16-01CE-ECAA-EFE558D8A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DDB28-7904-6C8E-701B-A3CFF3D45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7D25E-1E8D-FE8F-35CC-8D8B4328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7C9AE-0118-4E46-8AAD-2E0C713E2360}" type="datetime1">
              <a:t>08-Jun-26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BFC95-31D9-F0FD-B110-5448FD7D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AA12B-4266-61D9-EDD2-3EE5CE79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7D41-2C62-B81A-4E55-5B17754E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87ADB-41B0-0C03-1623-085306CD7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ED994-B570-EC4C-69DF-20F16C7F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973C26-9BC8-D344-99C2-60A7C08DD4BA}" type="datetime1">
              <a:t>08-Jun-26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D534-A450-A307-4B07-6C4650AC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C195-7F54-203F-CDA1-C5063171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438AF-B931-3C84-F6D4-87AB3B83A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28B3D-F088-3F99-72FF-7414B2DC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55F1-AB43-623C-C5CB-38A30E2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A10A1-3E8B-4641-865F-064315C19DA5}" type="datetime1">
              <a:t>08-Jun-26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7671F-F3CA-AD8C-AAED-1CEDA06B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B1CDC-17D0-73DC-75AA-4AC4F7A1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4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B54A4-460A-D881-CB80-B80976E9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4465D-2428-0E8F-C234-F54A0ACB2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1F970-F887-4C4D-5815-B89930B12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540EAF-8B4F-1B41-810A-47D6B8ECFBA9}" type="datetime1">
              <a:t>08-Jun-26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57DE-AC99-B9B5-5DF2-4FB364C1F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 - Hashmaps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09E07-DBC5-7183-4C8A-37012085C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08F35-8C13-E451-FF21-78133D15ADFC}"/>
              </a:ext>
            </a:extLst>
          </p:cNvPr>
          <p:cNvSpPr txBox="1"/>
          <p:nvPr/>
        </p:nvSpPr>
        <p:spPr>
          <a:xfrm>
            <a:off x="570154" y="3013501"/>
            <a:ext cx="18742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/>
              <a:t>Hashmaps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C0A45D-015B-F9B3-DB27-9D904718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22E73E-5FE4-B397-BDFC-5C186926044C}"/>
              </a:ext>
            </a:extLst>
          </p:cNvPr>
          <p:cNvSpPr txBox="1"/>
          <p:nvPr/>
        </p:nvSpPr>
        <p:spPr>
          <a:xfrm>
            <a:off x="430306" y="398033"/>
            <a:ext cx="20622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What a map 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8CB148-B9DA-5D8C-1A1B-814B601FAA86}"/>
              </a:ext>
            </a:extLst>
          </p:cNvPr>
          <p:cNvSpPr txBox="1"/>
          <p:nvPr/>
        </p:nvSpPr>
        <p:spPr>
          <a:xfrm>
            <a:off x="430306" y="1222744"/>
            <a:ext cx="1138382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map (also called a dictionary or associative array) is an abstract data type that stores key-value pairs and allows efficient lookup of values by their keys.</a:t>
            </a:r>
          </a:p>
          <a:p>
            <a:endParaRPr lang="en-US" dirty="0"/>
          </a:p>
          <a:p>
            <a:r>
              <a:rPr lang="en-US" dirty="0"/>
              <a:t>Operations: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put(key, value):		Insert or update a key-value pair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get(key):		Retrieve the value associated with a key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remove(key):		Delete a key-value pair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containsKey</a:t>
            </a:r>
            <a:r>
              <a:rPr lang="en-US" dirty="0"/>
              <a:t>(key):	Check if a key exists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size():			Return the number of key-value pairs</a:t>
            </a:r>
          </a:p>
        </p:txBody>
      </p:sp>
    </p:spTree>
    <p:extLst>
      <p:ext uri="{BB962C8B-B14F-4D97-AF65-F5344CB8AC3E}">
        <p14:creationId xmlns:p14="http://schemas.microsoft.com/office/powerpoint/2010/main" val="95759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00F3D-9E44-6EC8-CD55-1691A3910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1803F06-088E-FD73-5193-848606618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5DF0CD-4E98-5EAF-A53D-9EEC83AFAC68}"/>
              </a:ext>
            </a:extLst>
          </p:cNvPr>
          <p:cNvSpPr txBox="1"/>
          <p:nvPr/>
        </p:nvSpPr>
        <p:spPr>
          <a:xfrm>
            <a:off x="430306" y="398033"/>
            <a:ext cx="2527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Why maps matter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EFB4E9B-FEFC-001E-7E45-A42D8EFD6F03}"/>
              </a:ext>
            </a:extLst>
          </p:cNvPr>
          <p:cNvSpPr txBox="1"/>
          <p:nvPr/>
        </p:nvSpPr>
        <p:spPr>
          <a:xfrm>
            <a:off x="430306" y="1275907"/>
            <a:ext cx="110832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Arrays are excellent for index-based access, but fail when the key is not an integer. Even assuming that each element is a pair &lt;K, V&gt;, it would require a linear scan to search for the key.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Linked list have the same issue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Hash tables fixes such access speed problem.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Real word cases: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indexing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Configuration management</a:t>
            </a:r>
          </a:p>
        </p:txBody>
      </p:sp>
    </p:spTree>
    <p:extLst>
      <p:ext uri="{BB962C8B-B14F-4D97-AF65-F5344CB8AC3E}">
        <p14:creationId xmlns:p14="http://schemas.microsoft.com/office/powerpoint/2010/main" val="2165129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0FBB8-FA4F-F723-C8BA-FA16F4335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6A88BB4-C80A-E521-5140-DDD66B5B5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A3EBC1-CE03-09A4-EE44-C411B31D05D7}"/>
              </a:ext>
            </a:extLst>
          </p:cNvPr>
          <p:cNvSpPr txBox="1"/>
          <p:nvPr/>
        </p:nvSpPr>
        <p:spPr>
          <a:xfrm>
            <a:off x="430306" y="398033"/>
            <a:ext cx="3793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Hashmaps – how they work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D7A675-79A5-B665-DAFB-B1EC34F0883B}"/>
              </a:ext>
            </a:extLst>
          </p:cNvPr>
          <p:cNvSpPr txBox="1"/>
          <p:nvPr/>
        </p:nvSpPr>
        <p:spPr>
          <a:xfrm>
            <a:off x="430306" y="1222744"/>
            <a:ext cx="1106027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</a:t>
            </a:r>
            <a:r>
              <a:rPr lang="en-US" dirty="0" err="1"/>
              <a:t>hashmap</a:t>
            </a:r>
            <a:r>
              <a:rPr lang="en-US" dirty="0"/>
              <a:t> is a specific map implementation (a non-</a:t>
            </a:r>
            <a:r>
              <a:rPr lang="en-US" dirty="0" err="1"/>
              <a:t>hashmap</a:t>
            </a:r>
            <a:r>
              <a:rPr lang="en-US" dirty="0"/>
              <a:t> usually is based on trees), that is made of the following concepts: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 array of buckets: a [0...N-1] array table where each element is a “bucket”, i.e. a list of key-value pairs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hash function: a function that converts a key into an integer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collision resolution: a strategy when multiple keys map to the same bucket, i.e. to the same list of key-value</a:t>
            </a:r>
            <a:br>
              <a:rPr lang="en-US" dirty="0"/>
            </a:br>
            <a:r>
              <a:rPr lang="en-US" dirty="0"/>
              <a:t>pairs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Collision are inevitable: if you have more keys than buckets, it doesn’t matter which strategy you choose, you’ll</a:t>
            </a:r>
            <a:br>
              <a:rPr lang="en-US" dirty="0"/>
            </a:br>
            <a:r>
              <a:rPr lang="en-US" dirty="0"/>
              <a:t>end with more items per bucket (pigeonhole principle).</a:t>
            </a:r>
          </a:p>
        </p:txBody>
      </p:sp>
    </p:spTree>
    <p:extLst>
      <p:ext uri="{BB962C8B-B14F-4D97-AF65-F5344CB8AC3E}">
        <p14:creationId xmlns:p14="http://schemas.microsoft.com/office/powerpoint/2010/main" val="1502805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FE9934-6EB2-4202-CF15-47643848A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538E91-CAB7-68C9-E535-E496681E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C15696-E1A9-E96A-6CF1-C5ACD7B8B299}"/>
              </a:ext>
            </a:extLst>
          </p:cNvPr>
          <p:cNvSpPr txBox="1"/>
          <p:nvPr/>
        </p:nvSpPr>
        <p:spPr>
          <a:xfrm>
            <a:off x="430306" y="398033"/>
            <a:ext cx="2206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Hash 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1FB05B-133A-799E-C583-30445AE036F9}"/>
              </a:ext>
            </a:extLst>
          </p:cNvPr>
          <p:cNvSpPr txBox="1"/>
          <p:nvPr/>
        </p:nvSpPr>
        <p:spPr>
          <a:xfrm>
            <a:off x="430306" y="1271905"/>
            <a:ext cx="112163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hash function y = f(x) converts a type into another type, with the following requirements: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output of the hash function is deterministic, i.e. given an input it always return the same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has to be fast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A cryptographic hash function has those two additional features: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must not be invertible: given x, it must be relatively easy to calculate y, but given y it must be extremely hard</a:t>
            </a:r>
            <a:br>
              <a:rPr lang="en-US" dirty="0"/>
            </a:br>
            <a:r>
              <a:rPr lang="en-US" dirty="0"/>
              <a:t>to get x (= hard means, the only effective way would be to brute force 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probability that two different inputs give the same output (= collision) should be as close to zero as</a:t>
            </a:r>
            <a:br>
              <a:rPr lang="en-US" dirty="0"/>
            </a:br>
            <a:r>
              <a:rPr lang="en-US" dirty="0"/>
              <a:t>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For our </a:t>
            </a:r>
            <a:r>
              <a:rPr lang="en-US" dirty="0" err="1"/>
              <a:t>hashmap</a:t>
            </a:r>
            <a:r>
              <a:rPr lang="en-US" dirty="0"/>
              <a:t> needs, the non-invertibility is not a security feature but an intrinsic property. We don’t need the hash function to be protected against collisions.</a:t>
            </a:r>
          </a:p>
        </p:txBody>
      </p:sp>
    </p:spTree>
    <p:extLst>
      <p:ext uri="{BB962C8B-B14F-4D97-AF65-F5344CB8AC3E}">
        <p14:creationId xmlns:p14="http://schemas.microsoft.com/office/powerpoint/2010/main" val="369517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E7334-4F3B-74CB-3031-85232168B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BC3AF0-7C8E-2AA0-AEA3-893A540B7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931CA3-CA2E-0BA9-CC76-C0012BA3EF0F}"/>
              </a:ext>
            </a:extLst>
          </p:cNvPr>
          <p:cNvSpPr txBox="1"/>
          <p:nvPr/>
        </p:nvSpPr>
        <p:spPr>
          <a:xfrm>
            <a:off x="430306" y="398033"/>
            <a:ext cx="2206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Hash functions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C98EB-F062-2A2F-92CA-B356579FA17A}"/>
              </a:ext>
            </a:extLst>
          </p:cNvPr>
          <p:cNvSpPr txBox="1"/>
          <p:nvPr/>
        </p:nvSpPr>
        <p:spPr>
          <a:xfrm>
            <a:off x="430306" y="1166842"/>
            <a:ext cx="1121634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hash function y = f(x) converts a type into another type, a good one has the following requirements: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output of the hash function is deterministic, i.e. given an input it always return the same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has to be fast, ideally O(1)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avalanche effect: a small change in the key should generate a completely different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A cryptographic hash function has those two additional features: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must not be invertible: given x, it must be relatively easy to calculate y, but given y it must be extremely hard</a:t>
            </a:r>
            <a:br>
              <a:rPr lang="en-US" dirty="0"/>
            </a:br>
            <a:r>
              <a:rPr lang="en-US" dirty="0"/>
              <a:t>to get x (= hard means, the only effective way would be to brute force 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probability that two different inputs give the same output (= collision) should be as close to zero as</a:t>
            </a:r>
            <a:br>
              <a:rPr lang="en-US" dirty="0"/>
            </a:br>
            <a:r>
              <a:rPr lang="en-US" dirty="0"/>
              <a:t>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For our </a:t>
            </a:r>
            <a:r>
              <a:rPr lang="en-US" dirty="0" err="1"/>
              <a:t>hashmap</a:t>
            </a:r>
            <a:r>
              <a:rPr lang="en-US" dirty="0"/>
              <a:t> needs, the non-invertibility is not a security feature but an intrinsic property. We don’t need the hash function to be protected against collisions, but a nice property would be that the hash function can distribute the keys evenly among all buckets, so the collisions are at least minimized.</a:t>
            </a:r>
          </a:p>
        </p:txBody>
      </p:sp>
    </p:spTree>
    <p:extLst>
      <p:ext uri="{BB962C8B-B14F-4D97-AF65-F5344CB8AC3E}">
        <p14:creationId xmlns:p14="http://schemas.microsoft.com/office/powerpoint/2010/main" val="2799035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683A8-6386-B2D6-542B-0B8E276C5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ABFEF53-A3E6-BE5D-9D39-1E083C264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D31FAD-A27C-EEBA-E302-A4D2CDF36BDD}"/>
              </a:ext>
            </a:extLst>
          </p:cNvPr>
          <p:cNvSpPr txBox="1"/>
          <p:nvPr/>
        </p:nvSpPr>
        <p:spPr>
          <a:xfrm>
            <a:off x="430306" y="398033"/>
            <a:ext cx="36911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Collision handling strategy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BEBF3C-B266-435D-04CD-9FDFA4414CC6}"/>
              </a:ext>
            </a:extLst>
          </p:cNvPr>
          <p:cNvSpPr txBox="1"/>
          <p:nvPr/>
        </p:nvSpPr>
        <p:spPr>
          <a:xfrm>
            <a:off x="430306" y="1211426"/>
            <a:ext cx="87443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There are a lot of strategies that are available for hashmap.</a:t>
            </a:r>
          </a:p>
          <a:p>
            <a:endParaRPr lang="en-US"/>
          </a:p>
          <a:p>
            <a:r>
              <a:rPr lang="en-US"/>
              <a:t>As exercise we’ll use the Separate Chaining, i.e. each bucket is the head of a linked list.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FE8BA9D-EB45-BFCF-E6D4-140726884252}"/>
              </a:ext>
            </a:extLst>
          </p:cNvPr>
          <p:cNvGrpSpPr/>
          <p:nvPr/>
        </p:nvGrpSpPr>
        <p:grpSpPr>
          <a:xfrm>
            <a:off x="1339892" y="2794000"/>
            <a:ext cx="5651600" cy="529499"/>
            <a:chOff x="1507816" y="1531620"/>
            <a:chExt cx="9337283" cy="75176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2479B34-F3EA-BAC7-A623-7A53D88D3146}"/>
                </a:ext>
              </a:extLst>
            </p:cNvPr>
            <p:cNvGrpSpPr/>
            <p:nvPr/>
          </p:nvGrpSpPr>
          <p:grpSpPr>
            <a:xfrm>
              <a:off x="2670632" y="1531620"/>
              <a:ext cx="1247887" cy="594360"/>
              <a:chOff x="2592593" y="1463040"/>
              <a:chExt cx="1247887" cy="59436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5A93CC7-F2ED-7BE0-FF66-CACEE45BAC79}"/>
                  </a:ext>
                </a:extLst>
              </p:cNvPr>
              <p:cNvSpPr/>
              <p:nvPr/>
            </p:nvSpPr>
            <p:spPr>
              <a:xfrm>
                <a:off x="2592593" y="1463040"/>
                <a:ext cx="914400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810B819-3085-D690-447D-2D07867DBFDE}"/>
                  </a:ext>
                </a:extLst>
              </p:cNvPr>
              <p:cNvSpPr/>
              <p:nvPr/>
            </p:nvSpPr>
            <p:spPr>
              <a:xfrm>
                <a:off x="3506993" y="1463040"/>
                <a:ext cx="333487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5DBADD8-829C-E02D-6C7C-BEBB309287DA}"/>
                </a:ext>
              </a:extLst>
            </p:cNvPr>
            <p:cNvGrpSpPr/>
            <p:nvPr/>
          </p:nvGrpSpPr>
          <p:grpSpPr>
            <a:xfrm>
              <a:off x="4779579" y="1531620"/>
              <a:ext cx="1247887" cy="594360"/>
              <a:chOff x="2592593" y="1463040"/>
              <a:chExt cx="1247887" cy="594360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192DCAA7-B3A3-6169-F8F7-789FBE6D04D3}"/>
                  </a:ext>
                </a:extLst>
              </p:cNvPr>
              <p:cNvSpPr/>
              <p:nvPr/>
            </p:nvSpPr>
            <p:spPr>
              <a:xfrm>
                <a:off x="2592593" y="1463040"/>
                <a:ext cx="914400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8705AE50-49FA-3191-0C53-8911850BF133}"/>
                  </a:ext>
                </a:extLst>
              </p:cNvPr>
              <p:cNvSpPr/>
              <p:nvPr/>
            </p:nvSpPr>
            <p:spPr>
              <a:xfrm>
                <a:off x="3506993" y="1463040"/>
                <a:ext cx="333487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7C37260-2232-3626-5CDF-8E47366F3349}"/>
                </a:ext>
              </a:extLst>
            </p:cNvPr>
            <p:cNvGrpSpPr/>
            <p:nvPr/>
          </p:nvGrpSpPr>
          <p:grpSpPr>
            <a:xfrm>
              <a:off x="6884716" y="1531620"/>
              <a:ext cx="1247887" cy="594360"/>
              <a:chOff x="2592593" y="1463040"/>
              <a:chExt cx="1247887" cy="594360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512E426F-0D4F-1838-96E0-189AEA02AC33}"/>
                  </a:ext>
                </a:extLst>
              </p:cNvPr>
              <p:cNvSpPr/>
              <p:nvPr/>
            </p:nvSpPr>
            <p:spPr>
              <a:xfrm>
                <a:off x="2592593" y="1463040"/>
                <a:ext cx="914400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5EB5B9EA-A4AA-9B7E-6630-52C74C1848D9}"/>
                  </a:ext>
                </a:extLst>
              </p:cNvPr>
              <p:cNvSpPr/>
              <p:nvPr/>
            </p:nvSpPr>
            <p:spPr>
              <a:xfrm>
                <a:off x="3506993" y="1463040"/>
                <a:ext cx="333487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E201967-7262-0A37-9193-91DAA31BFCA0}"/>
                </a:ext>
              </a:extLst>
            </p:cNvPr>
            <p:cNvGrpSpPr/>
            <p:nvPr/>
          </p:nvGrpSpPr>
          <p:grpSpPr>
            <a:xfrm>
              <a:off x="9047003" y="1531620"/>
              <a:ext cx="1247887" cy="594360"/>
              <a:chOff x="2592593" y="1463040"/>
              <a:chExt cx="1247887" cy="594360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F8A9526-42BA-E2BD-2F5D-C2FBCA1C5F6F}"/>
                  </a:ext>
                </a:extLst>
              </p:cNvPr>
              <p:cNvSpPr/>
              <p:nvPr/>
            </p:nvSpPr>
            <p:spPr>
              <a:xfrm>
                <a:off x="2592593" y="1463040"/>
                <a:ext cx="914400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D4883C1-59B4-58D1-6103-96F86BF8FF59}"/>
                  </a:ext>
                </a:extLst>
              </p:cNvPr>
              <p:cNvSpPr/>
              <p:nvPr/>
            </p:nvSpPr>
            <p:spPr>
              <a:xfrm>
                <a:off x="3506993" y="1463040"/>
                <a:ext cx="333487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A8F49801-CF38-DC80-11ED-87B07F62D1CB}"/>
                </a:ext>
              </a:extLst>
            </p:cNvPr>
            <p:cNvCxnSpPr>
              <a:endCxn id="24" idx="1"/>
            </p:cNvCxnSpPr>
            <p:nvPr/>
          </p:nvCxnSpPr>
          <p:spPr>
            <a:xfrm>
              <a:off x="3751775" y="1828800"/>
              <a:ext cx="1027804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CB242DA-4F7E-2CDC-4E0F-1135BFD6C971}"/>
                </a:ext>
              </a:extLst>
            </p:cNvPr>
            <p:cNvCxnSpPr/>
            <p:nvPr/>
          </p:nvCxnSpPr>
          <p:spPr>
            <a:xfrm>
              <a:off x="5856912" y="1809750"/>
              <a:ext cx="1027804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F8FA69A-1411-EFD4-9712-D3B03062294D}"/>
                </a:ext>
              </a:extLst>
            </p:cNvPr>
            <p:cNvCxnSpPr>
              <a:cxnSpLocks/>
            </p:cNvCxnSpPr>
            <p:nvPr/>
          </p:nvCxnSpPr>
          <p:spPr>
            <a:xfrm>
              <a:off x="7965859" y="1809750"/>
              <a:ext cx="1081144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DC1C14C2-CEA6-0116-0120-1EE4E0A7FF1E}"/>
                </a:ext>
              </a:extLst>
            </p:cNvPr>
            <p:cNvGrpSpPr/>
            <p:nvPr/>
          </p:nvGrpSpPr>
          <p:grpSpPr>
            <a:xfrm>
              <a:off x="10128146" y="1809750"/>
              <a:ext cx="716953" cy="473634"/>
              <a:chOff x="9387167" y="1809750"/>
              <a:chExt cx="716953" cy="473634"/>
            </a:xfrm>
          </p:grpSpPr>
          <p:cxnSp>
            <p:nvCxnSpPr>
              <p:cNvPr id="16" name="Elbow Connector 15">
                <a:extLst>
                  <a:ext uri="{FF2B5EF4-FFF2-40B4-BE49-F238E27FC236}">
                    <a16:creationId xmlns:a16="http://schemas.microsoft.com/office/drawing/2014/main" id="{EA107313-F7C1-99E7-8AD4-56D4C5A3076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87167" y="1809750"/>
                <a:ext cx="545503" cy="316230"/>
              </a:xfrm>
              <a:prstGeom prst="bentConnector3">
                <a:avLst>
                  <a:gd name="adj1" fmla="val 100288"/>
                </a:avLst>
              </a:prstGeom>
              <a:ln>
                <a:head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D59AB25F-0AB5-37E9-F819-7447B8F7A0B2}"/>
                  </a:ext>
                </a:extLst>
              </p:cNvPr>
              <p:cNvCxnSpPr/>
              <p:nvPr/>
            </p:nvCxnSpPr>
            <p:spPr>
              <a:xfrm>
                <a:off x="9795510" y="2125980"/>
                <a:ext cx="30861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9E8F26F4-824B-3DC2-7707-930423A6DD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71710" y="2211768"/>
                <a:ext cx="15621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C7DA7752-8421-FE34-3F39-9FEE471746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920048" y="2283384"/>
                <a:ext cx="5953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1377FD4-950B-1510-8FA6-D75E1CA4F6BF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1507816" y="1823545"/>
              <a:ext cx="1162816" cy="5255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335A70B-AAF5-2EAA-6705-9F9B287340C2}"/>
              </a:ext>
            </a:extLst>
          </p:cNvPr>
          <p:cNvGrpSpPr/>
          <p:nvPr/>
        </p:nvGrpSpPr>
        <p:grpSpPr>
          <a:xfrm rot="5400000">
            <a:off x="-201369" y="3779936"/>
            <a:ext cx="2707096" cy="758197"/>
            <a:chOff x="8293395" y="3678865"/>
            <a:chExt cx="2707096" cy="758197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355504C-FC72-5780-CBAD-7F54CCD593C5}"/>
                </a:ext>
              </a:extLst>
            </p:cNvPr>
            <p:cNvSpPr/>
            <p:nvPr/>
          </p:nvSpPr>
          <p:spPr>
            <a:xfrm>
              <a:off x="8293395" y="3678865"/>
              <a:ext cx="382772" cy="3827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D56336D-863D-6A20-FF43-67B448CA0CC0}"/>
                </a:ext>
              </a:extLst>
            </p:cNvPr>
            <p:cNvSpPr/>
            <p:nvPr/>
          </p:nvSpPr>
          <p:spPr>
            <a:xfrm>
              <a:off x="8676167" y="3678865"/>
              <a:ext cx="382772" cy="3827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3E5311D-5D15-A9F7-7174-C9DEF19C3C8A}"/>
                </a:ext>
              </a:extLst>
            </p:cNvPr>
            <p:cNvSpPr/>
            <p:nvPr/>
          </p:nvSpPr>
          <p:spPr>
            <a:xfrm>
              <a:off x="9065862" y="3678865"/>
              <a:ext cx="382772" cy="3827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27BE2DB-4DA9-6FE8-D171-54B3576F1790}"/>
                </a:ext>
              </a:extLst>
            </p:cNvPr>
            <p:cNvSpPr/>
            <p:nvPr/>
          </p:nvSpPr>
          <p:spPr>
            <a:xfrm>
              <a:off x="9455557" y="3678865"/>
              <a:ext cx="382772" cy="3827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B2C51C2-FF0E-1AE4-A891-5731DF276AD2}"/>
                </a:ext>
              </a:extLst>
            </p:cNvPr>
            <p:cNvSpPr/>
            <p:nvPr/>
          </p:nvSpPr>
          <p:spPr>
            <a:xfrm>
              <a:off x="9838383" y="3678865"/>
              <a:ext cx="382772" cy="3827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0E651BD-C073-7D60-9FD5-2D4C389C8AC0}"/>
                </a:ext>
              </a:extLst>
            </p:cNvPr>
            <p:cNvSpPr/>
            <p:nvPr/>
          </p:nvSpPr>
          <p:spPr>
            <a:xfrm>
              <a:off x="10228051" y="3678865"/>
              <a:ext cx="382772" cy="3827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29B00E74-D369-8B44-01EF-1F7D12558684}"/>
                </a:ext>
              </a:extLst>
            </p:cNvPr>
            <p:cNvSpPr/>
            <p:nvPr/>
          </p:nvSpPr>
          <p:spPr>
            <a:xfrm>
              <a:off x="10617719" y="3678865"/>
              <a:ext cx="382772" cy="3827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6AA771E-FA6A-BD4F-0964-F7302BAD3F83}"/>
                </a:ext>
              </a:extLst>
            </p:cNvPr>
            <p:cNvSpPr txBox="1"/>
            <p:nvPr/>
          </p:nvSpPr>
          <p:spPr>
            <a:xfrm rot="16200000">
              <a:off x="8297070" y="4110850"/>
              <a:ext cx="3754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H0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839B806-CFEB-14FA-384E-16C1B77484F2}"/>
                </a:ext>
              </a:extLst>
            </p:cNvPr>
            <p:cNvSpPr txBox="1"/>
            <p:nvPr/>
          </p:nvSpPr>
          <p:spPr>
            <a:xfrm>
              <a:off x="9872514" y="4081251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...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C1DF539-D49C-E786-878B-0D83DA8CDAA1}"/>
                </a:ext>
              </a:extLst>
            </p:cNvPr>
            <p:cNvSpPr txBox="1"/>
            <p:nvPr/>
          </p:nvSpPr>
          <p:spPr>
            <a:xfrm>
              <a:off x="10262182" y="4081250"/>
              <a:ext cx="3145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/>
                <a:t>...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ED5E59D8-96B2-3D73-93C0-A701D0E857ED}"/>
              </a:ext>
            </a:extLst>
          </p:cNvPr>
          <p:cNvSpPr txBox="1"/>
          <p:nvPr/>
        </p:nvSpPr>
        <p:spPr>
          <a:xfrm>
            <a:off x="773081" y="3252483"/>
            <a:ext cx="375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H1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A100A00-A41C-5509-DDCB-4286BD27DCFA}"/>
              </a:ext>
            </a:extLst>
          </p:cNvPr>
          <p:cNvSpPr txBox="1"/>
          <p:nvPr/>
        </p:nvSpPr>
        <p:spPr>
          <a:xfrm>
            <a:off x="773081" y="3660758"/>
            <a:ext cx="3754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H2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7DD4060-5267-239E-CF11-CDC6B254BEEA}"/>
              </a:ext>
            </a:extLst>
          </p:cNvPr>
          <p:cNvSpPr txBox="1"/>
          <p:nvPr/>
        </p:nvSpPr>
        <p:spPr>
          <a:xfrm>
            <a:off x="773081" y="5175442"/>
            <a:ext cx="37863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/>
              <a:t>Hn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45D6EBF-95DA-D561-150C-E7F06001259A}"/>
              </a:ext>
            </a:extLst>
          </p:cNvPr>
          <p:cNvGrpSpPr/>
          <p:nvPr/>
        </p:nvGrpSpPr>
        <p:grpSpPr>
          <a:xfrm>
            <a:off x="1339892" y="3593564"/>
            <a:ext cx="3057840" cy="536624"/>
            <a:chOff x="1507816" y="1531620"/>
            <a:chExt cx="5052007" cy="76188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86EDB3CF-9F3C-9058-BA89-2A051B42A9AE}"/>
                </a:ext>
              </a:extLst>
            </p:cNvPr>
            <p:cNvGrpSpPr/>
            <p:nvPr/>
          </p:nvGrpSpPr>
          <p:grpSpPr>
            <a:xfrm>
              <a:off x="2670632" y="1531620"/>
              <a:ext cx="1247887" cy="594360"/>
              <a:chOff x="2592593" y="1463040"/>
              <a:chExt cx="1247887" cy="594360"/>
            </a:xfrm>
          </p:grpSpPr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7BA9CE02-1FF9-58C5-EE41-EED750BC2736}"/>
                  </a:ext>
                </a:extLst>
              </p:cNvPr>
              <p:cNvSpPr/>
              <p:nvPr/>
            </p:nvSpPr>
            <p:spPr>
              <a:xfrm>
                <a:off x="2592593" y="1463040"/>
                <a:ext cx="914400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F228FA9E-31EE-93AE-1784-FCD43EC934F5}"/>
                  </a:ext>
                </a:extLst>
              </p:cNvPr>
              <p:cNvSpPr/>
              <p:nvPr/>
            </p:nvSpPr>
            <p:spPr>
              <a:xfrm>
                <a:off x="3506993" y="1463040"/>
                <a:ext cx="333487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B21D444-2ED4-AA8A-235F-AF79B8FB39D3}"/>
                </a:ext>
              </a:extLst>
            </p:cNvPr>
            <p:cNvGrpSpPr/>
            <p:nvPr/>
          </p:nvGrpSpPr>
          <p:grpSpPr>
            <a:xfrm>
              <a:off x="4779579" y="1531620"/>
              <a:ext cx="1247887" cy="594360"/>
              <a:chOff x="2592593" y="1463040"/>
              <a:chExt cx="1247887" cy="594360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4D58BFF8-ADC0-EE19-6AF2-2826C39C04F1}"/>
                  </a:ext>
                </a:extLst>
              </p:cNvPr>
              <p:cNvSpPr/>
              <p:nvPr/>
            </p:nvSpPr>
            <p:spPr>
              <a:xfrm>
                <a:off x="2592593" y="1463040"/>
                <a:ext cx="914400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B5785D5C-E6F7-7516-3E5B-0E79989E6434}"/>
                  </a:ext>
                </a:extLst>
              </p:cNvPr>
              <p:cNvSpPr/>
              <p:nvPr/>
            </p:nvSpPr>
            <p:spPr>
              <a:xfrm>
                <a:off x="3506993" y="1463040"/>
                <a:ext cx="333487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A474BD30-C58F-B422-0F34-1EC2A681AF3D}"/>
                </a:ext>
              </a:extLst>
            </p:cNvPr>
            <p:cNvCxnSpPr>
              <a:endCxn id="64" idx="1"/>
            </p:cNvCxnSpPr>
            <p:nvPr/>
          </p:nvCxnSpPr>
          <p:spPr>
            <a:xfrm>
              <a:off x="3751775" y="1828800"/>
              <a:ext cx="1027804" cy="0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CE17F55-17E0-3840-AB15-57D00E920729}"/>
                </a:ext>
              </a:extLst>
            </p:cNvPr>
            <p:cNvGrpSpPr/>
            <p:nvPr/>
          </p:nvGrpSpPr>
          <p:grpSpPr>
            <a:xfrm>
              <a:off x="5860016" y="1820500"/>
              <a:ext cx="699807" cy="473000"/>
              <a:chOff x="5119037" y="1820500"/>
              <a:chExt cx="699807" cy="473000"/>
            </a:xfrm>
          </p:grpSpPr>
          <p:cxnSp>
            <p:nvCxnSpPr>
              <p:cNvPr id="56" name="Elbow Connector 55">
                <a:extLst>
                  <a:ext uri="{FF2B5EF4-FFF2-40B4-BE49-F238E27FC236}">
                    <a16:creationId xmlns:a16="http://schemas.microsoft.com/office/drawing/2014/main" id="{157D37C8-2410-93DD-7A3E-0351B66B62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19037" y="1820500"/>
                <a:ext cx="545503" cy="316230"/>
              </a:xfrm>
              <a:prstGeom prst="bentConnector3">
                <a:avLst>
                  <a:gd name="adj1" fmla="val 100288"/>
                </a:avLst>
              </a:prstGeom>
              <a:ln>
                <a:head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DEA40348-ABB5-96AB-3974-66F5BF9B8938}"/>
                  </a:ext>
                </a:extLst>
              </p:cNvPr>
              <p:cNvCxnSpPr/>
              <p:nvPr/>
            </p:nvCxnSpPr>
            <p:spPr>
              <a:xfrm>
                <a:off x="5510234" y="2136096"/>
                <a:ext cx="30861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67E8E3AC-F173-8493-8CCB-F55B4533D8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86435" y="2221884"/>
                <a:ext cx="15621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80D544FA-82DB-6C4A-D20A-152558061D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34773" y="2293500"/>
                <a:ext cx="5953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21B6135-D784-DC8F-2621-DAB75EE92652}"/>
                </a:ext>
              </a:extLst>
            </p:cNvPr>
            <p:cNvCxnSpPr>
              <a:cxnSpLocks/>
              <a:endCxn id="66" idx="1"/>
            </p:cNvCxnSpPr>
            <p:nvPr/>
          </p:nvCxnSpPr>
          <p:spPr>
            <a:xfrm>
              <a:off x="1507816" y="1823545"/>
              <a:ext cx="1162816" cy="5255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91E4469B-68EF-846E-7659-8A160B055FE8}"/>
              </a:ext>
            </a:extLst>
          </p:cNvPr>
          <p:cNvGrpSpPr/>
          <p:nvPr/>
        </p:nvGrpSpPr>
        <p:grpSpPr>
          <a:xfrm>
            <a:off x="1339892" y="4355318"/>
            <a:ext cx="1781780" cy="539350"/>
            <a:chOff x="1507816" y="1531620"/>
            <a:chExt cx="2943766" cy="765750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5EC60B8D-A1C2-48A6-ED19-6CFC4721FB79}"/>
                </a:ext>
              </a:extLst>
            </p:cNvPr>
            <p:cNvGrpSpPr/>
            <p:nvPr/>
          </p:nvGrpSpPr>
          <p:grpSpPr>
            <a:xfrm>
              <a:off x="2670632" y="1531620"/>
              <a:ext cx="1247887" cy="594360"/>
              <a:chOff x="2592593" y="1463040"/>
              <a:chExt cx="1247887" cy="594360"/>
            </a:xfrm>
          </p:grpSpPr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6717BD9B-DC23-EA58-0A9D-536B9222526D}"/>
                  </a:ext>
                </a:extLst>
              </p:cNvPr>
              <p:cNvSpPr/>
              <p:nvPr/>
            </p:nvSpPr>
            <p:spPr>
              <a:xfrm>
                <a:off x="2592593" y="1463040"/>
                <a:ext cx="914400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>
                    <a:solidFill>
                      <a:schemeClr val="tx1"/>
                    </a:solidFill>
                  </a:rPr>
                  <a:t>Item</a:t>
                </a: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D824869A-B3E3-4CC2-DD19-32F580E424D7}"/>
                  </a:ext>
                </a:extLst>
              </p:cNvPr>
              <p:cNvSpPr/>
              <p:nvPr/>
            </p:nvSpPr>
            <p:spPr>
              <a:xfrm>
                <a:off x="3506993" y="1463040"/>
                <a:ext cx="333487" cy="5943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581A1D93-81A7-53B7-4D49-4D5B6D074259}"/>
                </a:ext>
              </a:extLst>
            </p:cNvPr>
            <p:cNvGrpSpPr/>
            <p:nvPr/>
          </p:nvGrpSpPr>
          <p:grpSpPr>
            <a:xfrm>
              <a:off x="3751776" y="1824370"/>
              <a:ext cx="699806" cy="473000"/>
              <a:chOff x="3010797" y="1824370"/>
              <a:chExt cx="699806" cy="473000"/>
            </a:xfrm>
          </p:grpSpPr>
          <p:cxnSp>
            <p:nvCxnSpPr>
              <p:cNvPr id="74" name="Elbow Connector 73">
                <a:extLst>
                  <a:ext uri="{FF2B5EF4-FFF2-40B4-BE49-F238E27FC236}">
                    <a16:creationId xmlns:a16="http://schemas.microsoft.com/office/drawing/2014/main" id="{B6E432A7-4E8A-3935-CBEE-EA87B9FB04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0797" y="1824370"/>
                <a:ext cx="545503" cy="316230"/>
              </a:xfrm>
              <a:prstGeom prst="bentConnector3">
                <a:avLst>
                  <a:gd name="adj1" fmla="val 100288"/>
                </a:avLst>
              </a:prstGeom>
              <a:ln>
                <a:headEnd type="oval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FCA0ACC1-2BBE-576E-B290-1007C72ED404}"/>
                  </a:ext>
                </a:extLst>
              </p:cNvPr>
              <p:cNvCxnSpPr/>
              <p:nvPr/>
            </p:nvCxnSpPr>
            <p:spPr>
              <a:xfrm>
                <a:off x="3401993" y="2139966"/>
                <a:ext cx="308610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F3AF4055-B352-6941-7CC0-008C1ABE8F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78193" y="2225755"/>
                <a:ext cx="156211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28BD8808-E7A6-B03C-C1FD-DF5D832C69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26532" y="2297370"/>
                <a:ext cx="5953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D8E9874D-4C1B-B7B8-DB7B-528449D9470A}"/>
                </a:ext>
              </a:extLst>
            </p:cNvPr>
            <p:cNvCxnSpPr>
              <a:cxnSpLocks/>
              <a:endCxn id="80" idx="1"/>
            </p:cNvCxnSpPr>
            <p:nvPr/>
          </p:nvCxnSpPr>
          <p:spPr>
            <a:xfrm>
              <a:off x="1507816" y="1823545"/>
              <a:ext cx="1162816" cy="5255"/>
            </a:xfrm>
            <a:prstGeom prst="straightConnector1">
              <a:avLst/>
            </a:prstGeom>
            <a:ln>
              <a:headEnd type="oval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2" name="Elbow Connector 81">
            <a:extLst>
              <a:ext uri="{FF2B5EF4-FFF2-40B4-BE49-F238E27FC236}">
                <a16:creationId xmlns:a16="http://schemas.microsoft.com/office/drawing/2014/main" id="{7F3030F6-539A-7230-D76E-4FECB23D5274}"/>
              </a:ext>
            </a:extLst>
          </p:cNvPr>
          <p:cNvCxnSpPr>
            <a:cxnSpLocks/>
          </p:cNvCxnSpPr>
          <p:nvPr/>
        </p:nvCxnSpPr>
        <p:spPr>
          <a:xfrm>
            <a:off x="1339892" y="5322687"/>
            <a:ext cx="330178" cy="222734"/>
          </a:xfrm>
          <a:prstGeom prst="bentConnector3">
            <a:avLst>
              <a:gd name="adj1" fmla="val 100288"/>
            </a:avLst>
          </a:prstGeom>
          <a:ln>
            <a:head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BAB98B0-7ECC-F0C5-E3D1-C2FF36A8FB25}"/>
              </a:ext>
            </a:extLst>
          </p:cNvPr>
          <p:cNvCxnSpPr/>
          <p:nvPr/>
        </p:nvCxnSpPr>
        <p:spPr>
          <a:xfrm>
            <a:off x="1576672" y="5544975"/>
            <a:ext cx="1867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2CEC038-D64D-F7FD-6F09-3715797D0B20}"/>
              </a:ext>
            </a:extLst>
          </p:cNvPr>
          <p:cNvCxnSpPr>
            <a:cxnSpLocks/>
          </p:cNvCxnSpPr>
          <p:nvPr/>
        </p:nvCxnSpPr>
        <p:spPr>
          <a:xfrm>
            <a:off x="1622794" y="5605400"/>
            <a:ext cx="9455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3D0955A-655D-2215-09EE-C13C8253CFD3}"/>
              </a:ext>
            </a:extLst>
          </p:cNvPr>
          <p:cNvCxnSpPr>
            <a:cxnSpLocks/>
          </p:cNvCxnSpPr>
          <p:nvPr/>
        </p:nvCxnSpPr>
        <p:spPr>
          <a:xfrm>
            <a:off x="1652052" y="5655841"/>
            <a:ext cx="360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946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654F3-3851-CA05-A0AD-8170B61AB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106E72E-B543-95CF-750E-0AB2FA982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 - Hashmaps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515B9D-3DC0-E7C1-78CB-F00D9B6B4F4F}"/>
              </a:ext>
            </a:extLst>
          </p:cNvPr>
          <p:cNvSpPr txBox="1"/>
          <p:nvPr/>
        </p:nvSpPr>
        <p:spPr>
          <a:xfrm>
            <a:off x="4409192" y="3105834"/>
            <a:ext cx="33736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/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3781746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e9b6e7-e4bc-422b-b136-be52bca82e7c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749</Words>
  <Application>Microsoft Office PowerPoint</Application>
  <PresentationFormat>Widescreen</PresentationFormat>
  <Paragraphs>96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Tatiana Rubina</cp:lastModifiedBy>
  <cp:revision>45</cp:revision>
  <dcterms:created xsi:type="dcterms:W3CDTF">2025-02-17T20:26:07Z</dcterms:created>
  <dcterms:modified xsi:type="dcterms:W3CDTF">2026-06-08T19:18:12Z</dcterms:modified>
</cp:coreProperties>
</file>