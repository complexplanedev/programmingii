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98"/>
    <p:restoredTop sz="94667"/>
  </p:normalViewPr>
  <p:slideViewPr>
    <p:cSldViewPr snapToGrid="0">
      <p:cViewPr varScale="1">
        <p:scale>
          <a:sx n="78" d="100"/>
          <a:sy n="78" d="100"/>
        </p:scale>
        <p:origin x="57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D92F3-2450-724C-B86B-B5F1A28477B0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34646-E241-874D-BA86-FA9C9044EDA0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F8A9E-2D9B-F544-A378-3F4290402692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7AC8-EF68-DC46-8955-BC39DD1CEED8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F3D02-2A16-7D4F-B9CF-CB76E1546044}" type="datetime1">
              <a:t>08-Jun-26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A2FA-8FDF-1D42-A9C9-EFA6D2F24B40}" type="datetime1">
              <a:t>08-Jun-26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D6E7-8124-E348-B8BD-B45278A14B90}" type="datetime1">
              <a:t>08-Jun-26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80A0-5532-184B-9897-62860700CBE4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03A7-51E9-5544-9328-2A5476C50833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07C91-42B3-CE4F-9D55-5374E0168664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F0D1-91F5-5044-9F93-26C8623BC49A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A261F-E7DF-6548-8A7E-D9BD7FC49FDC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Stack &amp; Queues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2651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Stack &amp; Queues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18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a stack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13536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stack is a linear data structure where elements are added and removed only at one end, called the top, following the Last-In-First-Out (LIFO) principle. Think of a stack like a stack of plates in a cafeteria – you add new plates on top and remove from the top</a:t>
            </a:r>
          </a:p>
          <a:p>
            <a:endParaRPr lang="en-US" dirty="0"/>
          </a:p>
          <a:p>
            <a:r>
              <a:rPr lang="en-US" dirty="0"/>
              <a:t>LIFO Principle: The last element inserted (pushed) onto the stack is the first element removed (popped) from the stack.</a:t>
            </a:r>
          </a:p>
          <a:p>
            <a:endParaRPr lang="en-US" dirty="0"/>
          </a:p>
          <a:p>
            <a:r>
              <a:rPr lang="en-US" dirty="0"/>
              <a:t>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push(x)	Insert element x at the top of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pop()		Remove and return the top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peek() / top()	Return the top element without removing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isEmpty</a:t>
            </a:r>
            <a:r>
              <a:rPr lang="en-US" dirty="0"/>
              <a:t>()	Check if the stack contains no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size()		Return the number of elements in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Boundary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 overflow: attempting to push onto a full bounded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 underflow: attempting to pop or peek from an empty stack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0F3D-9E44-6EC8-CD55-1691A391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803F06-088E-FD73-5193-84860661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DF0CD-4E98-5EAF-A53D-9EEC83AFAC68}"/>
              </a:ext>
            </a:extLst>
          </p:cNvPr>
          <p:cNvSpPr txBox="1"/>
          <p:nvPr/>
        </p:nvSpPr>
        <p:spPr>
          <a:xfrm>
            <a:off x="430306" y="398033"/>
            <a:ext cx="264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stacks matter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B10C1-2510-88D8-E23F-228AFED8B0F8}"/>
              </a:ext>
            </a:extLst>
          </p:cNvPr>
          <p:cNvSpPr txBox="1"/>
          <p:nvPr/>
        </p:nvSpPr>
        <p:spPr>
          <a:xfrm>
            <a:off x="542260" y="1222744"/>
            <a:ext cx="629037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 of real-world applications: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Expression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Undo/Redo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Implementations: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array-based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limitations: fixed capacity (=&gt; overflow), wasted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linked-list based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C92C2-D7BC-741A-B613-9958A8A95097}"/>
              </a:ext>
            </a:extLst>
          </p:cNvPr>
          <p:cNvGrpSpPr/>
          <p:nvPr/>
        </p:nvGrpSpPr>
        <p:grpSpPr>
          <a:xfrm>
            <a:off x="1111799" y="5376509"/>
            <a:ext cx="10138522" cy="751764"/>
            <a:chOff x="706577" y="1531620"/>
            <a:chExt cx="10138522" cy="7517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1F1A3C-4ABB-0F72-56AC-2020276D436D}"/>
                </a:ext>
              </a:extLst>
            </p:cNvPr>
            <p:cNvGrpSpPr/>
            <p:nvPr/>
          </p:nvGrpSpPr>
          <p:grpSpPr>
            <a:xfrm>
              <a:off x="2670632" y="1531620"/>
              <a:ext cx="1247887" cy="594360"/>
              <a:chOff x="2592593" y="1463040"/>
              <a:chExt cx="1247887" cy="59436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E3542FF-57BD-53DA-9FC2-1DE73551636D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9002BE8-27E1-FFB4-32FA-6C2837B92261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AE861D4-D595-3D4C-69E5-3A9323ECAF0E}"/>
                </a:ext>
              </a:extLst>
            </p:cNvPr>
            <p:cNvGrpSpPr/>
            <p:nvPr/>
          </p:nvGrpSpPr>
          <p:grpSpPr>
            <a:xfrm>
              <a:off x="4779579" y="1531620"/>
              <a:ext cx="1247887" cy="594360"/>
              <a:chOff x="2592593" y="1463040"/>
              <a:chExt cx="1247887" cy="5943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B46BB61-0591-2C7B-51D9-1D69E3012EE4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04C5756-424B-B662-117E-F7CEC2BE2E05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00D2629-A108-AD42-D95C-70AD1504C1B1}"/>
                </a:ext>
              </a:extLst>
            </p:cNvPr>
            <p:cNvGrpSpPr/>
            <p:nvPr/>
          </p:nvGrpSpPr>
          <p:grpSpPr>
            <a:xfrm>
              <a:off x="6884716" y="1531620"/>
              <a:ext cx="1247887" cy="594360"/>
              <a:chOff x="2592593" y="1463040"/>
              <a:chExt cx="1247887" cy="59436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4BD24F1-E9DB-FF93-766E-7D9790354FEE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B80E0E-FCD0-1116-63F3-9F55B3F57151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5839CD-EA1C-C94F-EA84-F4392966E72C}"/>
                </a:ext>
              </a:extLst>
            </p:cNvPr>
            <p:cNvGrpSpPr/>
            <p:nvPr/>
          </p:nvGrpSpPr>
          <p:grpSpPr>
            <a:xfrm>
              <a:off x="9047003" y="1531620"/>
              <a:ext cx="1247887" cy="594360"/>
              <a:chOff x="2592593" y="1463040"/>
              <a:chExt cx="1247887" cy="5943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A4268A3-6453-E656-C70F-FFC77CDB8A5C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5D820B6-5174-D957-27F7-CDAB416FBB07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A042AE8-6A5B-4AD5-8CFE-6E3D32D778A8}"/>
                </a:ext>
              </a:extLst>
            </p:cNvPr>
            <p:cNvCxnSpPr>
              <a:endCxn id="24" idx="1"/>
            </p:cNvCxnSpPr>
            <p:nvPr/>
          </p:nvCxnSpPr>
          <p:spPr>
            <a:xfrm>
              <a:off x="3751775" y="1828800"/>
              <a:ext cx="102780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C9D67A0-15F0-C0A9-030D-E510CE6E7564}"/>
                </a:ext>
              </a:extLst>
            </p:cNvPr>
            <p:cNvCxnSpPr/>
            <p:nvPr/>
          </p:nvCxnSpPr>
          <p:spPr>
            <a:xfrm>
              <a:off x="5856912" y="1809750"/>
              <a:ext cx="102780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AA18EA6-B348-FB89-979A-97FA4DE87546}"/>
                </a:ext>
              </a:extLst>
            </p:cNvPr>
            <p:cNvCxnSpPr>
              <a:cxnSpLocks/>
            </p:cNvCxnSpPr>
            <p:nvPr/>
          </p:nvCxnSpPr>
          <p:spPr>
            <a:xfrm>
              <a:off x="7965859" y="1809750"/>
              <a:ext cx="108114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B7CDB7-BE31-5BAD-E76F-D3A712FFFE66}"/>
                </a:ext>
              </a:extLst>
            </p:cNvPr>
            <p:cNvGrpSpPr/>
            <p:nvPr/>
          </p:nvGrpSpPr>
          <p:grpSpPr>
            <a:xfrm>
              <a:off x="10128146" y="1809750"/>
              <a:ext cx="716953" cy="473634"/>
              <a:chOff x="9387167" y="1809750"/>
              <a:chExt cx="716953" cy="473634"/>
            </a:xfrm>
          </p:grpSpPr>
          <p:cxnSp>
            <p:nvCxnSpPr>
              <p:cNvPr id="16" name="Elbow Connector 15">
                <a:extLst>
                  <a:ext uri="{FF2B5EF4-FFF2-40B4-BE49-F238E27FC236}">
                    <a16:creationId xmlns:a16="http://schemas.microsoft.com/office/drawing/2014/main" id="{56B984B6-4D0F-D3E7-026B-6CC4A4056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167" y="180975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3AD974D-9170-5DD0-C32A-2CC8050B5D26}"/>
                  </a:ext>
                </a:extLst>
              </p:cNvPr>
              <p:cNvCxnSpPr/>
              <p:nvPr/>
            </p:nvCxnSpPr>
            <p:spPr>
              <a:xfrm>
                <a:off x="9795510" y="2125980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33E03D4-F5BB-F106-394C-EB0A01C618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710" y="2211768"/>
                <a:ext cx="1562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FCCD185-C42A-3C2E-166C-63077D599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048" y="2283384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2E12E3-1437-9749-F2BB-4C08282A1141}"/>
                </a:ext>
              </a:extLst>
            </p:cNvPr>
            <p:cNvSpPr/>
            <p:nvPr/>
          </p:nvSpPr>
          <p:spPr>
            <a:xfrm>
              <a:off x="706577" y="1531620"/>
              <a:ext cx="914400" cy="594360"/>
            </a:xfrm>
            <a:prstGeom prst="rect">
              <a:avLst/>
            </a:prstGeom>
            <a:solidFill>
              <a:srgbClr val="00B05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TOP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2732B9D-76BE-B515-7348-34A617F6328B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1507816" y="1823545"/>
              <a:ext cx="1162816" cy="5255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7932A6-49F1-D2F5-DD49-6A56C5CD966D}"/>
              </a:ext>
            </a:extLst>
          </p:cNvPr>
          <p:cNvGrpSpPr/>
          <p:nvPr/>
        </p:nvGrpSpPr>
        <p:grpSpPr>
          <a:xfrm>
            <a:off x="8293395" y="3678865"/>
            <a:ext cx="2707096" cy="1233382"/>
            <a:chOff x="8293395" y="3678865"/>
            <a:chExt cx="2707096" cy="123338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871555D-ED5E-BE3D-008C-3207286C4EDD}"/>
                </a:ext>
              </a:extLst>
            </p:cNvPr>
            <p:cNvGrpSpPr/>
            <p:nvPr/>
          </p:nvGrpSpPr>
          <p:grpSpPr>
            <a:xfrm>
              <a:off x="8293395" y="3678865"/>
              <a:ext cx="2707096" cy="679386"/>
              <a:chOff x="8293395" y="3678865"/>
              <a:chExt cx="2707096" cy="67938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F7D134A-03AA-8177-789F-EA02A653D18B}"/>
                  </a:ext>
                </a:extLst>
              </p:cNvPr>
              <p:cNvSpPr/>
              <p:nvPr/>
            </p:nvSpPr>
            <p:spPr>
              <a:xfrm>
                <a:off x="8293395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2919DDE-DF9A-930A-C637-35D3D6E3A732}"/>
                  </a:ext>
                </a:extLst>
              </p:cNvPr>
              <p:cNvSpPr/>
              <p:nvPr/>
            </p:nvSpPr>
            <p:spPr>
              <a:xfrm>
                <a:off x="8676167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8803357-41F1-594C-BE35-ADEFD3C14A0D}"/>
                  </a:ext>
                </a:extLst>
              </p:cNvPr>
              <p:cNvSpPr/>
              <p:nvPr/>
            </p:nvSpPr>
            <p:spPr>
              <a:xfrm>
                <a:off x="9065862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0897CA7-70C1-FACC-B155-46E609D42FD4}"/>
                  </a:ext>
                </a:extLst>
              </p:cNvPr>
              <p:cNvSpPr/>
              <p:nvPr/>
            </p:nvSpPr>
            <p:spPr>
              <a:xfrm>
                <a:off x="9455557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A6445F4-B7A1-D38E-B960-C2B02EC2E66E}"/>
                  </a:ext>
                </a:extLst>
              </p:cNvPr>
              <p:cNvSpPr/>
              <p:nvPr/>
            </p:nvSpPr>
            <p:spPr>
              <a:xfrm>
                <a:off x="9838383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BACB831-33F8-807A-CE42-0EB8D5172180}"/>
                  </a:ext>
                </a:extLst>
              </p:cNvPr>
              <p:cNvSpPr/>
              <p:nvPr/>
            </p:nvSpPr>
            <p:spPr>
              <a:xfrm>
                <a:off x="10228051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BFBFD69-7AF0-0E84-D7D8-0C9215EA111D}"/>
                  </a:ext>
                </a:extLst>
              </p:cNvPr>
              <p:cNvSpPr/>
              <p:nvPr/>
            </p:nvSpPr>
            <p:spPr>
              <a:xfrm>
                <a:off x="10617719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33A9C1-723E-E404-A27F-571741C172D1}"/>
                  </a:ext>
                </a:extLst>
              </p:cNvPr>
              <p:cNvSpPr txBox="1"/>
              <p:nvPr/>
            </p:nvSpPr>
            <p:spPr>
              <a:xfrm>
                <a:off x="8351571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2F7A58-A303-1947-AF09-CAFC3724FFF2}"/>
                  </a:ext>
                </a:extLst>
              </p:cNvPr>
              <p:cNvSpPr txBox="1"/>
              <p:nvPr/>
            </p:nvSpPr>
            <p:spPr>
              <a:xfrm>
                <a:off x="8734343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C50BA6E-68FA-F440-CD8C-F0D4FFF8C0F2}"/>
                  </a:ext>
                </a:extLst>
              </p:cNvPr>
              <p:cNvSpPr txBox="1"/>
              <p:nvPr/>
            </p:nvSpPr>
            <p:spPr>
              <a:xfrm>
                <a:off x="9124038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2282C9-856C-67A6-79F3-0D840F9267D7}"/>
                  </a:ext>
                </a:extLst>
              </p:cNvPr>
              <p:cNvSpPr txBox="1"/>
              <p:nvPr/>
            </p:nvSpPr>
            <p:spPr>
              <a:xfrm>
                <a:off x="9513733" y="4081251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7F4A941-AB11-0423-8186-0D0EA45A4CF6}"/>
                  </a:ext>
                </a:extLst>
              </p:cNvPr>
              <p:cNvSpPr txBox="1"/>
              <p:nvPr/>
            </p:nvSpPr>
            <p:spPr>
              <a:xfrm>
                <a:off x="9872514" y="4081251"/>
                <a:ext cx="3145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...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01FFF3B-1AAB-71BF-8EE0-365DB7FF7469}"/>
                  </a:ext>
                </a:extLst>
              </p:cNvPr>
              <p:cNvSpPr txBox="1"/>
              <p:nvPr/>
            </p:nvSpPr>
            <p:spPr>
              <a:xfrm>
                <a:off x="10262182" y="4081250"/>
                <a:ext cx="3145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...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4E31EB-9344-B0BB-8823-49272C50F732}"/>
                  </a:ext>
                </a:extLst>
              </p:cNvPr>
              <p:cNvSpPr txBox="1"/>
              <p:nvPr/>
            </p:nvSpPr>
            <p:spPr>
              <a:xfrm>
                <a:off x="10659284" y="4081250"/>
                <a:ext cx="2936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N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65A334-ADA8-070A-42F4-CC36690F1388}"/>
                </a:ext>
              </a:extLst>
            </p:cNvPr>
            <p:cNvCxnSpPr>
              <a:endCxn id="41" idx="2"/>
            </p:cNvCxnSpPr>
            <p:nvPr/>
          </p:nvCxnSpPr>
          <p:spPr>
            <a:xfrm flipV="1">
              <a:off x="10419437" y="4358249"/>
              <a:ext cx="0" cy="241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154F86F-7C25-6F1C-DE93-CAAEF4DA1724}"/>
                </a:ext>
              </a:extLst>
            </p:cNvPr>
            <p:cNvSpPr txBox="1"/>
            <p:nvPr/>
          </p:nvSpPr>
          <p:spPr>
            <a:xfrm>
              <a:off x="10192163" y="4635248"/>
              <a:ext cx="4664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FF0000"/>
                  </a:solidFill>
                </a:rPr>
                <a:t>TOP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51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FBB8-FA4F-F723-C8BA-FA16F433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A88BB4-C80A-E521-5140-DDD66B5B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3EBC1-CE03-09A4-EE44-C411B31D05D7}"/>
              </a:ext>
            </a:extLst>
          </p:cNvPr>
          <p:cNvSpPr txBox="1"/>
          <p:nvPr/>
        </p:nvSpPr>
        <p:spPr>
          <a:xfrm>
            <a:off x="430306" y="398033"/>
            <a:ext cx="2302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a queue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7A675-79A5-B665-DAFB-B1EC34F0883B}"/>
              </a:ext>
            </a:extLst>
          </p:cNvPr>
          <p:cNvSpPr txBox="1"/>
          <p:nvPr/>
        </p:nvSpPr>
        <p:spPr>
          <a:xfrm>
            <a:off x="430306" y="1085092"/>
            <a:ext cx="1138683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queue is a linear data structure where elements are added at one end (the rear or tail) and removed from the other end (the front or head), following the First-In-First-Out (FIFO) principle. Think of a queue like a line of people waiting at a ticket counter – first person in the line is served first.</a:t>
            </a:r>
          </a:p>
          <a:p>
            <a:endParaRPr lang="en-US" dirty="0"/>
          </a:p>
          <a:p>
            <a:r>
              <a:rPr lang="en-US" dirty="0"/>
              <a:t>FIFO Principle: The first element inserted (enqueued) into the queue is the first element removed (dequeued) from the queue.</a:t>
            </a:r>
          </a:p>
          <a:p>
            <a:endParaRPr lang="en-US" dirty="0"/>
          </a:p>
          <a:p>
            <a:r>
              <a:rPr lang="en-US" dirty="0"/>
              <a:t>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enqueue(x)	Insert element x at the rear of the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dequeue()	Remove and return the element at the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front() / peek()	Return the front element without removing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isEmpty</a:t>
            </a:r>
            <a:r>
              <a:rPr lang="en-US" dirty="0"/>
              <a:t>()	Check if the queue contains no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size()		Return the number of elements in the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isFull</a:t>
            </a:r>
            <a:r>
              <a:rPr lang="en-US" dirty="0"/>
              <a:t>()	Check if a bounded queue is at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Boundary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queue overflow: Attempting to enqueue into a full bounded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queue underflow: Attempting to dequeue or peek from an empty queue</a:t>
            </a:r>
          </a:p>
        </p:txBody>
      </p:sp>
    </p:spTree>
    <p:extLst>
      <p:ext uri="{BB962C8B-B14F-4D97-AF65-F5344CB8AC3E}">
        <p14:creationId xmlns:p14="http://schemas.microsoft.com/office/powerpoint/2010/main" val="150280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C486-81D7-F38E-09B3-E0D346AF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33458D-09B1-F4E6-465E-1A0B8DE9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BD1A2-841A-FF09-DCE5-5DD8D4B905F4}"/>
              </a:ext>
            </a:extLst>
          </p:cNvPr>
          <p:cNvSpPr txBox="1"/>
          <p:nvPr/>
        </p:nvSpPr>
        <p:spPr>
          <a:xfrm>
            <a:off x="430306" y="398033"/>
            <a:ext cx="276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queues matter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4CA16-EB0B-1E73-8CD8-5055FEC40A61}"/>
              </a:ext>
            </a:extLst>
          </p:cNvPr>
          <p:cNvSpPr txBox="1"/>
          <p:nvPr/>
        </p:nvSpPr>
        <p:spPr>
          <a:xfrm>
            <a:off x="542260" y="1222744"/>
            <a:ext cx="38069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 of real-world 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OS process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and message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BFS graph traversal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Implementations: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array-based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linked-list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A48F5B-7B0B-0BCA-A04E-E921919B218E}"/>
              </a:ext>
            </a:extLst>
          </p:cNvPr>
          <p:cNvGrpSpPr/>
          <p:nvPr/>
        </p:nvGrpSpPr>
        <p:grpSpPr>
          <a:xfrm>
            <a:off x="3654018" y="2889593"/>
            <a:ext cx="2707096" cy="1556849"/>
            <a:chOff x="3654018" y="2889593"/>
            <a:chExt cx="2707096" cy="15568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A8C786-F2D4-9992-0C55-1D35B8A4E7F8}"/>
                </a:ext>
              </a:extLst>
            </p:cNvPr>
            <p:cNvGrpSpPr/>
            <p:nvPr/>
          </p:nvGrpSpPr>
          <p:grpSpPr>
            <a:xfrm>
              <a:off x="3654018" y="2889593"/>
              <a:ext cx="2707096" cy="679386"/>
              <a:chOff x="8293395" y="3678865"/>
              <a:chExt cx="2707096" cy="67938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8325A4E-7B88-63B6-73FE-914D1E34B068}"/>
                  </a:ext>
                </a:extLst>
              </p:cNvPr>
              <p:cNvSpPr/>
              <p:nvPr/>
            </p:nvSpPr>
            <p:spPr>
              <a:xfrm>
                <a:off x="8293395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F2103E-0A79-77EC-4F51-89A33F4C05AD}"/>
                  </a:ext>
                </a:extLst>
              </p:cNvPr>
              <p:cNvSpPr/>
              <p:nvPr/>
            </p:nvSpPr>
            <p:spPr>
              <a:xfrm>
                <a:off x="8676167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B1E0E8B-8462-FB60-91E7-5CB3332FE422}"/>
                  </a:ext>
                </a:extLst>
              </p:cNvPr>
              <p:cNvSpPr/>
              <p:nvPr/>
            </p:nvSpPr>
            <p:spPr>
              <a:xfrm>
                <a:off x="9065862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D9027D-5ADB-C2BF-8D4A-6FDC4A18AF2E}"/>
                  </a:ext>
                </a:extLst>
              </p:cNvPr>
              <p:cNvSpPr/>
              <p:nvPr/>
            </p:nvSpPr>
            <p:spPr>
              <a:xfrm>
                <a:off x="9455557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11CC2F-0725-F623-2F44-2DC701ADAE19}"/>
                  </a:ext>
                </a:extLst>
              </p:cNvPr>
              <p:cNvSpPr/>
              <p:nvPr/>
            </p:nvSpPr>
            <p:spPr>
              <a:xfrm>
                <a:off x="9838383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5B6BB0-1E00-DB08-0404-9CA16357522D}"/>
                  </a:ext>
                </a:extLst>
              </p:cNvPr>
              <p:cNvSpPr/>
              <p:nvPr/>
            </p:nvSpPr>
            <p:spPr>
              <a:xfrm>
                <a:off x="10228051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15053D-55CB-625E-04EA-A2A8A44BB4CC}"/>
                  </a:ext>
                </a:extLst>
              </p:cNvPr>
              <p:cNvSpPr/>
              <p:nvPr/>
            </p:nvSpPr>
            <p:spPr>
              <a:xfrm>
                <a:off x="10617719" y="3678865"/>
                <a:ext cx="382772" cy="3827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200D01-4AB5-7DB2-A801-9237649CC182}"/>
                  </a:ext>
                </a:extLst>
              </p:cNvPr>
              <p:cNvSpPr txBox="1"/>
              <p:nvPr/>
            </p:nvSpPr>
            <p:spPr>
              <a:xfrm>
                <a:off x="8351571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0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5FC1E0-1823-A152-9346-BE7EB5A133EB}"/>
                  </a:ext>
                </a:extLst>
              </p:cNvPr>
              <p:cNvSpPr txBox="1"/>
              <p:nvPr/>
            </p:nvSpPr>
            <p:spPr>
              <a:xfrm>
                <a:off x="8734343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0B3A95-9797-C9B2-233F-E7AAF1353DFB}"/>
                  </a:ext>
                </a:extLst>
              </p:cNvPr>
              <p:cNvSpPr txBox="1"/>
              <p:nvPr/>
            </p:nvSpPr>
            <p:spPr>
              <a:xfrm>
                <a:off x="9124038" y="4081252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C36BB8-976A-C0BA-EE5E-E44DDD86162A}"/>
                  </a:ext>
                </a:extLst>
              </p:cNvPr>
              <p:cNvSpPr txBox="1"/>
              <p:nvPr/>
            </p:nvSpPr>
            <p:spPr>
              <a:xfrm>
                <a:off x="9513733" y="4081251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A05D04-6CFE-3BD8-D0DA-19B2770566F4}"/>
                  </a:ext>
                </a:extLst>
              </p:cNvPr>
              <p:cNvSpPr txBox="1"/>
              <p:nvPr/>
            </p:nvSpPr>
            <p:spPr>
              <a:xfrm>
                <a:off x="9872514" y="4081251"/>
                <a:ext cx="3145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...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E571E3-60D3-E598-E66D-8B7D53406DC3}"/>
                  </a:ext>
                </a:extLst>
              </p:cNvPr>
              <p:cNvSpPr txBox="1"/>
              <p:nvPr/>
            </p:nvSpPr>
            <p:spPr>
              <a:xfrm>
                <a:off x="10262182" y="4081250"/>
                <a:ext cx="3145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...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0345DC-43C0-1C45-8C37-8AFAF56AEC23}"/>
                  </a:ext>
                </a:extLst>
              </p:cNvPr>
              <p:cNvSpPr txBox="1"/>
              <p:nvPr/>
            </p:nvSpPr>
            <p:spPr>
              <a:xfrm>
                <a:off x="10659284" y="4081250"/>
                <a:ext cx="2936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N</a:t>
                </a: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BB88114-CACC-4967-53C9-074F52D590C9}"/>
                </a:ext>
              </a:extLst>
            </p:cNvPr>
            <p:cNvCxnSpPr/>
            <p:nvPr/>
          </p:nvCxnSpPr>
          <p:spPr>
            <a:xfrm flipV="1">
              <a:off x="4617871" y="3638349"/>
              <a:ext cx="0" cy="4235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6181679-E911-299F-2B9D-3091CFF28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4962" y="3599848"/>
              <a:ext cx="0" cy="4620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101CD7-9643-E440-F8B1-C910F1F03D99}"/>
                </a:ext>
              </a:extLst>
            </p:cNvPr>
            <p:cNvSpPr txBox="1"/>
            <p:nvPr/>
          </p:nvSpPr>
          <p:spPr>
            <a:xfrm>
              <a:off x="5476130" y="4138665"/>
              <a:ext cx="625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FF0000"/>
                  </a:solidFill>
                </a:rPr>
                <a:t>REAR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702764-8144-18C5-4ED3-EE1D43971B10}"/>
                </a:ext>
              </a:extLst>
            </p:cNvPr>
            <p:cNvSpPr txBox="1"/>
            <p:nvPr/>
          </p:nvSpPr>
          <p:spPr>
            <a:xfrm>
              <a:off x="4251399" y="4131231"/>
              <a:ext cx="745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B050"/>
                  </a:solidFill>
                </a:rPr>
                <a:t>FRONT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879BDB-C974-77C3-B717-6E4420FB8059}"/>
              </a:ext>
            </a:extLst>
          </p:cNvPr>
          <p:cNvGrpSpPr/>
          <p:nvPr/>
        </p:nvGrpSpPr>
        <p:grpSpPr>
          <a:xfrm>
            <a:off x="710799" y="4004015"/>
            <a:ext cx="10138522" cy="1937456"/>
            <a:chOff x="710799" y="4004015"/>
            <a:chExt cx="10138522" cy="19374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F02D40D-E340-1D00-5857-94466370C3F2}"/>
                </a:ext>
              </a:extLst>
            </p:cNvPr>
            <p:cNvGrpSpPr/>
            <p:nvPr/>
          </p:nvGrpSpPr>
          <p:grpSpPr>
            <a:xfrm>
              <a:off x="710799" y="5189707"/>
              <a:ext cx="10138522" cy="751764"/>
              <a:chOff x="706577" y="1531620"/>
              <a:chExt cx="10138522" cy="751764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D25FB12-4027-1682-4148-4914A33663A5}"/>
                  </a:ext>
                </a:extLst>
              </p:cNvPr>
              <p:cNvGrpSpPr/>
              <p:nvPr/>
            </p:nvGrpSpPr>
            <p:grpSpPr>
              <a:xfrm>
                <a:off x="2670632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5FDF9DF0-1085-991A-DB2B-D3F582648439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F1F8A015-1D86-1460-50FC-5747AF7C8502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36DC2BC-B152-1F52-7EF0-ADEBA6C0B245}"/>
                  </a:ext>
                </a:extLst>
              </p:cNvPr>
              <p:cNvGrpSpPr/>
              <p:nvPr/>
            </p:nvGrpSpPr>
            <p:grpSpPr>
              <a:xfrm>
                <a:off x="4779579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43CAE7E2-66F6-5F4A-805E-D5BBC746EA97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33A9083-76BC-3B5A-FB30-E534115E67E1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671CA2E-E686-7035-04EF-7B01AD3CBB24}"/>
                  </a:ext>
                </a:extLst>
              </p:cNvPr>
              <p:cNvGrpSpPr/>
              <p:nvPr/>
            </p:nvGrpSpPr>
            <p:grpSpPr>
              <a:xfrm>
                <a:off x="6884716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1B98D9C-209F-81C9-1898-8FA9B5D09E83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1188FEC-EAF0-BEAC-3E99-FA60C0E292D3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9C57483-F5E7-A715-5A4E-11E29B28A624}"/>
                  </a:ext>
                </a:extLst>
              </p:cNvPr>
              <p:cNvGrpSpPr/>
              <p:nvPr/>
            </p:nvGrpSpPr>
            <p:grpSpPr>
              <a:xfrm>
                <a:off x="9047003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64A8CFE4-D477-2B30-5C11-DD14D22D7E12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ED4F412-F1AC-6542-D945-B53D3E4C4348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96850B5-32B2-3368-67C9-1632EBC848AD}"/>
                  </a:ext>
                </a:extLst>
              </p:cNvPr>
              <p:cNvCxnSpPr>
                <a:endCxn id="46" idx="1"/>
              </p:cNvCxnSpPr>
              <p:nvPr/>
            </p:nvCxnSpPr>
            <p:spPr>
              <a:xfrm>
                <a:off x="3751775" y="1828800"/>
                <a:ext cx="102780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268079E-1334-8C0A-6CCC-6EDAF85E7ACC}"/>
                  </a:ext>
                </a:extLst>
              </p:cNvPr>
              <p:cNvCxnSpPr/>
              <p:nvPr/>
            </p:nvCxnSpPr>
            <p:spPr>
              <a:xfrm>
                <a:off x="5856912" y="1809750"/>
                <a:ext cx="102780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FC7282CC-4DB6-418D-5C10-6807DF2E6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5859" y="1809750"/>
                <a:ext cx="108114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30DD45F-68B2-06AF-FA48-4E9EDEC73936}"/>
                  </a:ext>
                </a:extLst>
              </p:cNvPr>
              <p:cNvGrpSpPr/>
              <p:nvPr/>
            </p:nvGrpSpPr>
            <p:grpSpPr>
              <a:xfrm>
                <a:off x="10128146" y="1809750"/>
                <a:ext cx="716953" cy="473634"/>
                <a:chOff x="9387167" y="1809750"/>
                <a:chExt cx="716953" cy="473634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660ABEF3-EA33-FFA5-8797-2941F0C0B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87167" y="1809750"/>
                  <a:ext cx="545503" cy="316230"/>
                </a:xfrm>
                <a:prstGeom prst="bentConnector3">
                  <a:avLst>
                    <a:gd name="adj1" fmla="val 100288"/>
                  </a:avLst>
                </a:prstGeom>
                <a:ln>
                  <a:head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99B88F8-CB85-18F6-3122-3F886D3322F7}"/>
                    </a:ext>
                  </a:extLst>
                </p:cNvPr>
                <p:cNvCxnSpPr/>
                <p:nvPr/>
              </p:nvCxnSpPr>
              <p:spPr>
                <a:xfrm>
                  <a:off x="9795510" y="2125980"/>
                  <a:ext cx="3086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3BB7798-AD6C-FC99-87D8-2C0C7AD6B4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71710" y="2211768"/>
                  <a:ext cx="1562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4AAAB24-B047-B1AB-24F4-62C76B7848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048" y="2283384"/>
                  <a:ext cx="5953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63DB3C9-E63E-234C-3F9B-738FD9C6A055}"/>
                  </a:ext>
                </a:extLst>
              </p:cNvPr>
              <p:cNvSpPr/>
              <p:nvPr/>
            </p:nvSpPr>
            <p:spPr>
              <a:xfrm>
                <a:off x="706577" y="1531620"/>
                <a:ext cx="914400" cy="594360"/>
              </a:xfrm>
              <a:prstGeom prst="rect">
                <a:avLst/>
              </a:prstGeom>
              <a:solidFill>
                <a:srgbClr val="00B050">
                  <a:alpha val="3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FRONT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7E4A9AF-A5D7-F8BF-D189-0EE821E062EE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>
                <a:off x="1507816" y="1823545"/>
                <a:ext cx="1162816" cy="5255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471B307-E026-BE14-3893-C44AECB08966}"/>
                </a:ext>
              </a:extLst>
            </p:cNvPr>
            <p:cNvSpPr/>
            <p:nvPr/>
          </p:nvSpPr>
          <p:spPr>
            <a:xfrm>
              <a:off x="9051225" y="4004015"/>
              <a:ext cx="914400" cy="59436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REAR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A3C7B59-36AA-BF03-4D8D-6428735EA8F6}"/>
                </a:ext>
              </a:extLst>
            </p:cNvPr>
            <p:cNvCxnSpPr>
              <a:stCxn id="50" idx="2"/>
              <a:endCxn id="42" idx="0"/>
            </p:cNvCxnSpPr>
            <p:nvPr/>
          </p:nvCxnSpPr>
          <p:spPr>
            <a:xfrm>
              <a:off x="9508425" y="4598375"/>
              <a:ext cx="0" cy="591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478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3148-1406-675C-0AEB-C83516A0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6E2D48-A56B-27F6-9E7C-4EF6BDC6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Stack &amp; Queues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80D2D-76EC-8D4B-A341-271A9DEC3A3A}"/>
              </a:ext>
            </a:extLst>
          </p:cNvPr>
          <p:cNvSpPr txBox="1"/>
          <p:nvPr/>
        </p:nvSpPr>
        <p:spPr>
          <a:xfrm>
            <a:off x="430306" y="398033"/>
            <a:ext cx="2304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a deque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41321-8F3E-9AF0-1D74-E1EDEA632652}"/>
              </a:ext>
            </a:extLst>
          </p:cNvPr>
          <p:cNvSpPr txBox="1"/>
          <p:nvPr/>
        </p:nvSpPr>
        <p:spPr>
          <a:xfrm>
            <a:off x="430306" y="1139800"/>
            <a:ext cx="111225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deque (double-ended queue) is a linear data structure that allows insertion and removal of elements from both ends. It’s a queue on steroids.</a:t>
            </a:r>
          </a:p>
          <a:p>
            <a:endParaRPr lang="en-US" dirty="0"/>
          </a:p>
          <a:p>
            <a:r>
              <a:rPr lang="en-US" dirty="0"/>
              <a:t>Unlike a standard queue (FIFO) or stack (LIFO), a deque permits operations at both the front and rear.</a:t>
            </a:r>
          </a:p>
          <a:p>
            <a:endParaRPr lang="en-US" dirty="0"/>
          </a:p>
          <a:p>
            <a:r>
              <a:rPr lang="en-US" dirty="0"/>
              <a:t>Operations: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addFirst</a:t>
            </a:r>
            <a:r>
              <a:rPr lang="en-US" dirty="0"/>
              <a:t>(item)		Insert at the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addLast</a:t>
            </a:r>
            <a:r>
              <a:rPr lang="en-US" dirty="0"/>
              <a:t>(item)		Insert at the rear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removeFirst</a:t>
            </a:r>
            <a:r>
              <a:rPr lang="en-US" dirty="0"/>
              <a:t>()		Remove from the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removeLast</a:t>
            </a:r>
            <a:r>
              <a:rPr lang="en-US" dirty="0"/>
              <a:t>()		Remove from the rear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getFirst</a:t>
            </a:r>
            <a:r>
              <a:rPr lang="en-US" dirty="0"/>
              <a:t>()		Access front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getLast</a:t>
            </a:r>
            <a:r>
              <a:rPr lang="en-US" dirty="0"/>
              <a:t>()		Access rear element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398D45-36AE-F36F-46B4-C5C3BC7CD8F3}"/>
              </a:ext>
            </a:extLst>
          </p:cNvPr>
          <p:cNvGrpSpPr/>
          <p:nvPr/>
        </p:nvGrpSpPr>
        <p:grpSpPr>
          <a:xfrm>
            <a:off x="898388" y="5142743"/>
            <a:ext cx="10330748" cy="941684"/>
            <a:chOff x="898388" y="5142743"/>
            <a:chExt cx="10330748" cy="9416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BBCB7F3-1CD2-4A0D-361F-06ADE8B9D4B3}"/>
                </a:ext>
              </a:extLst>
            </p:cNvPr>
            <p:cNvGrpSpPr/>
            <p:nvPr/>
          </p:nvGrpSpPr>
          <p:grpSpPr>
            <a:xfrm>
              <a:off x="2651595" y="5148001"/>
              <a:ext cx="1581375" cy="594360"/>
              <a:chOff x="2337144" y="3429000"/>
              <a:chExt cx="1581375" cy="59436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ABE50E5-8DA7-7365-A8A2-91A0EE526A87}"/>
                  </a:ext>
                </a:extLst>
              </p:cNvPr>
              <p:cNvSpPr/>
              <p:nvPr/>
            </p:nvSpPr>
            <p:spPr>
              <a:xfrm>
                <a:off x="2670632" y="3429000"/>
                <a:ext cx="914401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C6EB84-E848-A126-4DF8-59BCF9ECD199}"/>
                  </a:ext>
                </a:extLst>
              </p:cNvPr>
              <p:cNvSpPr/>
              <p:nvPr/>
            </p:nvSpPr>
            <p:spPr>
              <a:xfrm>
                <a:off x="3585032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1C90A10-8662-F6DD-B163-B3B96E120B6C}"/>
                  </a:ext>
                </a:extLst>
              </p:cNvPr>
              <p:cNvSpPr/>
              <p:nvPr/>
            </p:nvSpPr>
            <p:spPr>
              <a:xfrm>
                <a:off x="2337144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1E3A74-F7C8-8C56-4476-3807897B57F1}"/>
                </a:ext>
              </a:extLst>
            </p:cNvPr>
            <p:cNvSpPr/>
            <p:nvPr/>
          </p:nvSpPr>
          <p:spPr>
            <a:xfrm>
              <a:off x="898388" y="5148001"/>
              <a:ext cx="1037040" cy="594360"/>
            </a:xfrm>
            <a:prstGeom prst="rect">
              <a:avLst/>
            </a:prstGeom>
            <a:solidFill>
              <a:srgbClr val="00B05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FRONT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7FCB411-1584-18BE-3A03-6D43CD499AD0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1822266" y="5439925"/>
              <a:ext cx="829329" cy="5256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5C761F4-9CEC-1753-7FA7-1A9B319C9A0D}"/>
                </a:ext>
              </a:extLst>
            </p:cNvPr>
            <p:cNvGrpSpPr/>
            <p:nvPr/>
          </p:nvGrpSpPr>
          <p:grpSpPr>
            <a:xfrm flipH="1">
              <a:off x="2073588" y="5610793"/>
              <a:ext cx="716953" cy="473634"/>
              <a:chOff x="9387167" y="1809750"/>
              <a:chExt cx="716953" cy="473634"/>
            </a:xfrm>
          </p:grpSpPr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A9AFCE2A-A0D1-1BEF-E2C6-4DCBC4E0BA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167" y="180975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E45DC1F-71AB-5BD0-7F16-C0F7E7B103E7}"/>
                  </a:ext>
                </a:extLst>
              </p:cNvPr>
              <p:cNvCxnSpPr/>
              <p:nvPr/>
            </p:nvCxnSpPr>
            <p:spPr>
              <a:xfrm>
                <a:off x="9795510" y="2125980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97448E2-D8B2-64FC-8A39-C624AC2A05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710" y="2211768"/>
                <a:ext cx="1562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1161505-D39A-F78C-3EE0-884FB0D55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048" y="2283384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A4D3775-1138-8581-538F-35C0F49D702B}"/>
                </a:ext>
              </a:extLst>
            </p:cNvPr>
            <p:cNvGrpSpPr/>
            <p:nvPr/>
          </p:nvGrpSpPr>
          <p:grpSpPr>
            <a:xfrm>
              <a:off x="5217742" y="5142745"/>
              <a:ext cx="1581375" cy="594360"/>
              <a:chOff x="2337144" y="3429000"/>
              <a:chExt cx="1581375" cy="5943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BEF312B-EBEB-5286-065C-EE7B1652D520}"/>
                  </a:ext>
                </a:extLst>
              </p:cNvPr>
              <p:cNvSpPr/>
              <p:nvPr/>
            </p:nvSpPr>
            <p:spPr>
              <a:xfrm>
                <a:off x="2670632" y="3429000"/>
                <a:ext cx="914401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A638D85-EA1B-61ED-7CF5-52297A2C729E}"/>
                  </a:ext>
                </a:extLst>
              </p:cNvPr>
              <p:cNvSpPr/>
              <p:nvPr/>
            </p:nvSpPr>
            <p:spPr>
              <a:xfrm>
                <a:off x="3585032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3817E4-2F52-3409-5D8D-804783B44C21}"/>
                  </a:ext>
                </a:extLst>
              </p:cNvPr>
              <p:cNvSpPr/>
              <p:nvPr/>
            </p:nvSpPr>
            <p:spPr>
              <a:xfrm>
                <a:off x="2337144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2D559CB-927B-CC32-7B78-0EDD830E7588}"/>
                </a:ext>
              </a:extLst>
            </p:cNvPr>
            <p:cNvCxnSpPr>
              <a:cxnSpLocks/>
            </p:cNvCxnSpPr>
            <p:nvPr/>
          </p:nvCxnSpPr>
          <p:spPr>
            <a:xfrm>
              <a:off x="4066226" y="5338170"/>
              <a:ext cx="1151516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B250295-551C-EA95-1D8B-3F3BECDE3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970" y="5528340"/>
              <a:ext cx="1151515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C3DE495-991D-A9C0-359F-4C57147B2706}"/>
                </a:ext>
              </a:extLst>
            </p:cNvPr>
            <p:cNvGrpSpPr/>
            <p:nvPr/>
          </p:nvGrpSpPr>
          <p:grpSpPr>
            <a:xfrm>
              <a:off x="7780079" y="5142744"/>
              <a:ext cx="1581375" cy="594360"/>
              <a:chOff x="2337144" y="3429000"/>
              <a:chExt cx="1581375" cy="5943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996055C-E512-6AD0-4575-5F9816422617}"/>
                  </a:ext>
                </a:extLst>
              </p:cNvPr>
              <p:cNvSpPr/>
              <p:nvPr/>
            </p:nvSpPr>
            <p:spPr>
              <a:xfrm>
                <a:off x="2670632" y="3429000"/>
                <a:ext cx="914401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123115-A394-B0DE-0429-DEEED5923BA0}"/>
                  </a:ext>
                </a:extLst>
              </p:cNvPr>
              <p:cNvSpPr/>
              <p:nvPr/>
            </p:nvSpPr>
            <p:spPr>
              <a:xfrm>
                <a:off x="3585032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DD50179-C889-CCCF-0C82-A39F03590F6B}"/>
                  </a:ext>
                </a:extLst>
              </p:cNvPr>
              <p:cNvSpPr/>
              <p:nvPr/>
            </p:nvSpPr>
            <p:spPr>
              <a:xfrm>
                <a:off x="2337144" y="3429000"/>
                <a:ext cx="333487" cy="59435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33698AE-02DA-AA7E-8AA6-4ADD3E7A065C}"/>
                </a:ext>
              </a:extLst>
            </p:cNvPr>
            <p:cNvCxnSpPr>
              <a:cxnSpLocks/>
            </p:cNvCxnSpPr>
            <p:nvPr/>
          </p:nvCxnSpPr>
          <p:spPr>
            <a:xfrm>
              <a:off x="6632373" y="5338170"/>
              <a:ext cx="1151516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462D29F-88D6-F222-789F-69A1D600B1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3502" y="5530329"/>
              <a:ext cx="1151515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A88087-59A9-F622-A442-07C669DEBCA5}"/>
                </a:ext>
              </a:extLst>
            </p:cNvPr>
            <p:cNvGrpSpPr/>
            <p:nvPr/>
          </p:nvGrpSpPr>
          <p:grpSpPr>
            <a:xfrm>
              <a:off x="9181928" y="5593813"/>
              <a:ext cx="716953" cy="473634"/>
              <a:chOff x="9387167" y="1809750"/>
              <a:chExt cx="716953" cy="473634"/>
            </a:xfrm>
          </p:grpSpPr>
          <p:cxnSp>
            <p:nvCxnSpPr>
              <p:cNvPr id="17" name="Elbow Connector 16">
                <a:extLst>
                  <a:ext uri="{FF2B5EF4-FFF2-40B4-BE49-F238E27FC236}">
                    <a16:creationId xmlns:a16="http://schemas.microsoft.com/office/drawing/2014/main" id="{D6486FC4-8B8D-1BA1-6E3F-D877EE72DB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167" y="180975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78C26A6-20F3-3D9B-2F5C-60A46189B6BC}"/>
                  </a:ext>
                </a:extLst>
              </p:cNvPr>
              <p:cNvCxnSpPr/>
              <p:nvPr/>
            </p:nvCxnSpPr>
            <p:spPr>
              <a:xfrm>
                <a:off x="9795510" y="2125980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0F3D3C2-4829-5D25-85E0-01A3CA8D2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710" y="2211768"/>
                <a:ext cx="1562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6E6B1D0-50EA-D99C-EB2A-BA346C68EE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048" y="2283384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0CA917-9459-6501-0929-2083D65EEDD2}"/>
                </a:ext>
              </a:extLst>
            </p:cNvPr>
            <p:cNvSpPr/>
            <p:nvPr/>
          </p:nvSpPr>
          <p:spPr>
            <a:xfrm>
              <a:off x="10314736" y="5142743"/>
              <a:ext cx="914400" cy="59436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REAR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981C56A-A700-D0A1-4FA5-F088F3BA63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61454" y="5332038"/>
              <a:ext cx="1126154" cy="4234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117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606</Words>
  <Application>Microsoft Office PowerPoint</Application>
  <PresentationFormat>Widescreen</PresentationFormat>
  <Paragraphs>118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42</cp:revision>
  <dcterms:created xsi:type="dcterms:W3CDTF">2025-02-17T20:26:07Z</dcterms:created>
  <dcterms:modified xsi:type="dcterms:W3CDTF">2026-06-08T19:12:31Z</dcterms:modified>
</cp:coreProperties>
</file>