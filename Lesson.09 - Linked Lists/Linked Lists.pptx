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910"/>
    <p:restoredTop sz="94682"/>
  </p:normalViewPr>
  <p:slideViewPr>
    <p:cSldViewPr snapToGrid="0">
      <p:cViewPr varScale="1">
        <p:scale>
          <a:sx n="112" d="100"/>
          <a:sy n="112" d="100"/>
        </p:scale>
        <p:origin x="200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E07293-F053-7B40-A228-5F1A48558100}" type="datetimeFigureOut">
              <a:rPr lang="en-US" smtClean="0"/>
              <a:t>6/6/26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A41D49-4EEF-854E-9DDE-8BC5FEFD0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55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5439B-63FB-6C79-15F1-BAA1C47C7A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A9E2CF-704F-6F6C-0426-B7F84FC246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6FD8C-3A3D-445A-213A-CF6B71BA3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6BFAD-713B-7B4D-ADBA-A8D99AEBCB48}" type="datetime1">
              <a:t>6/6/26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7CA33-588F-4EAC-C341-1447D02D8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Linked Lists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3C2CF-CA0A-CFA0-6B58-37C42242B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665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B5E98-1E0A-5C06-1F5F-DEBE421CE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92E38-AE1D-142D-1A59-8A0F47F9C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44205-A97E-5C80-20A0-4B68B7652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FB945-106F-B94B-9D4B-FCA41DE7C72B}" type="datetime1">
              <a:t>6/6/26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D4116-E39C-BD33-E13E-AF18EB8A1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Linked Lists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89E9A-B868-FE52-8CFE-689196215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612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928CB-C549-0CDB-FB0B-590D1E78F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F19BA9-E540-1566-4B2B-E59034E89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36ECF-E7C9-D6D6-EE13-5AE021373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FBB0E-5D02-8A40-9C48-FD6470862652}" type="datetime1">
              <a:t>6/6/26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39BBF-4527-08FB-EACA-DCAD12194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Linked Lists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06293-AE67-6245-643E-B715DC450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531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D51C7-AD92-09E3-6E4E-47CA0921C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47D2D-1F7F-2B3D-CA36-7D64AE0757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88E74B-CD91-A054-ADC9-1EFCB77852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022C44-3D99-F76D-41A0-E73C8318A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724FF-19F7-D64E-9E10-D35E84906CD7}" type="datetime1">
              <a:t>6/6/26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22654B-ABB1-B4E7-D3FF-75F502EF7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Linked Lists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EB3FF0-A6CC-BB11-1387-91380F75C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964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93EE0-13D7-B16A-671D-37C4003ED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E36EBB-EB65-A1BE-9D46-0D48EAE2EC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796A3D-C74C-E765-80CD-7C597B8C64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5A3A30-D02C-B54E-0027-C54DB7D89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E242F7-89D9-4224-E2F0-D92BEC3FF1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93D59E-AFA9-0483-559C-6C131C0E0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B9A91-DFBA-0E4F-86F0-725F5348C2CE}" type="datetime1">
              <a:t>6/6/26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26F210-EE29-8E1D-8FA8-D10028D70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Linked Lists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F38DDC-0ECF-9134-256E-293D6681E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547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876A2-3DA5-918E-EA96-5DE7EA197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AE71DD-2CDF-D942-ECFA-3348F8859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7482D-4493-294A-9539-9B04B0B08289}" type="datetime1">
              <a:t>6/6/26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44A0C1-2879-C55B-0CF2-13A64EE6F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Linked Lists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B2FF08-FA4F-5E70-3D58-56BD02EDE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964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5E7684-4EDD-C720-2CDF-C7DB971DB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F216E-B043-3746-85C9-73B73B310E8F}" type="datetime1">
              <a:t>6/6/26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0BEAB9-0036-AFDC-FD10-E5BBB32CA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Linked Lists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81F654-1E2B-5C4F-56B1-FD811F1DE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799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3AE98-D290-2D23-02C2-B1B9D08A3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1B8CB-0769-520D-1239-A592E7364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E52471-F5C0-4650-7641-FEC81F273C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8E6937-6113-2719-D75D-2A5C29221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44592-3007-274F-8548-ED8383E4E44B}" type="datetime1">
              <a:t>6/6/26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06A247-0567-CD26-31DC-A70792F3C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Linked Lists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6A7F36-2EDB-2D13-ED56-83A061148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338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4D053-C082-202E-4257-E09A2B098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08AAF1-FF16-01CE-ECAA-EFE558D8AD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8DDB28-7904-6C8E-701B-A3CFF3D45F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17D25E-1E8D-FE8F-35CC-8D8B43280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62DF8-78FB-6C43-AEA9-3AC37ECA9296}" type="datetime1">
              <a:t>6/6/26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ABFC95-31D9-F0FD-B110-5448FD7D3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Linked Lists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9AA12B-4266-61D9-EDD2-3EE5CE79D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648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37D41-2C62-B81A-4E55-5B17754E8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F87ADB-41B0-0C03-1623-085306CD78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ED994-B570-EC4C-69DF-20F16C7F1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7F29B-6858-1A40-B380-615CA67B0231}" type="datetime1">
              <a:t>6/6/26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AD534-A450-A307-4B07-6C4650ACD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Linked Lists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DC195-7F54-203F-CDA1-C50631716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116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E438AF-B931-3C84-F6D4-87AB3B83A9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D28B3D-F088-3F99-72FF-7414B2DCD4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055F1-AB43-623C-C5CB-38A30E28D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313F8-BA5A-F745-B014-9E99C1BD891A}" type="datetime1">
              <a:t>6/6/26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7671F-F3CA-AD8C-AAED-1CEDA06BD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Linked Lists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B1CDC-17D0-73DC-75AA-4AC4F7A19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349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DB54A4-460A-D881-CB80-B80976E99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4465D-2428-0E8F-C234-F54A0ACB2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D1F970-F887-4C4D-5815-B89930B12E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E8CDBA-E62B-0C45-99DA-4DC077B484D3}" type="datetime1">
              <a:t>6/6/26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557DE-AC99-B9B5-5DF2-4FB364C1F4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Programming II - Linked Lists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B09E07-DBC5-7183-4C8A-37012085C0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891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75EDB5-7C26-1246-E398-1FA21B5C1782}"/>
              </a:ext>
            </a:extLst>
          </p:cNvPr>
          <p:cNvSpPr txBox="1"/>
          <p:nvPr/>
        </p:nvSpPr>
        <p:spPr>
          <a:xfrm>
            <a:off x="570154" y="915313"/>
            <a:ext cx="945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Programming II Course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86B9AB-A154-F77B-F9BB-7DC5E358FC71}"/>
              </a:ext>
            </a:extLst>
          </p:cNvPr>
          <p:cNvSpPr txBox="1"/>
          <p:nvPr/>
        </p:nvSpPr>
        <p:spPr>
          <a:xfrm>
            <a:off x="570155" y="5111690"/>
            <a:ext cx="38677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Antonio Di Monaco</a:t>
            </a:r>
          </a:p>
          <a:p>
            <a:r>
              <a:rPr lang="en-US" dirty="0"/>
              <a:t>Computer Science Bachelor Program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63B0E87-0692-1E7D-2BF8-8A674F091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Linked Lists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508F35-8C13-E451-FF21-78133D15ADFC}"/>
              </a:ext>
            </a:extLst>
          </p:cNvPr>
          <p:cNvSpPr txBox="1"/>
          <p:nvPr/>
        </p:nvSpPr>
        <p:spPr>
          <a:xfrm>
            <a:off x="570154" y="3013501"/>
            <a:ext cx="20031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Linked Lists</a:t>
            </a:r>
          </a:p>
        </p:txBody>
      </p:sp>
    </p:spTree>
    <p:extLst>
      <p:ext uri="{BB962C8B-B14F-4D97-AF65-F5344CB8AC3E}">
        <p14:creationId xmlns:p14="http://schemas.microsoft.com/office/powerpoint/2010/main" val="2794035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FC0A45D-015B-F9B3-DB27-9D9047181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Linked Lists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22E73E-5FE4-B397-BDFC-5C186926044C}"/>
              </a:ext>
            </a:extLst>
          </p:cNvPr>
          <p:cNvSpPr txBox="1"/>
          <p:nvPr/>
        </p:nvSpPr>
        <p:spPr>
          <a:xfrm>
            <a:off x="430306" y="398033"/>
            <a:ext cx="39017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What is it and why it matters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8CB148-B9DA-5D8C-1A1B-814B601FAA86}"/>
              </a:ext>
            </a:extLst>
          </p:cNvPr>
          <p:cNvSpPr txBox="1"/>
          <p:nvPr/>
        </p:nvSpPr>
        <p:spPr>
          <a:xfrm>
            <a:off x="542260" y="1222744"/>
            <a:ext cx="1063682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 linked list is a fundamental linear data structure composed of nodes that are stored at separate memory locations.</a:t>
            </a:r>
          </a:p>
          <a:p>
            <a:endParaRPr lang="en-US"/>
          </a:p>
          <a:p>
            <a:r>
              <a:rPr lang="en-US"/>
              <a:t>Each node contains: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Data: the value or object being stored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Reference(s): pointer(s) to adjacent nodes in the 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r>
              <a:rPr lang="en-US"/>
              <a:t>Unlike arrays, linked lists do not store elements in contiguous memory locations.</a:t>
            </a:r>
          </a:p>
          <a:p>
            <a:endParaRPr lang="en-US"/>
          </a:p>
          <a:p>
            <a:r>
              <a:rPr lang="en-US"/>
              <a:t>Instead, nodes are connected via references (pointers), which allows for flexible and efficient insertion and deletion operations without the need to shift large blocks of memory.</a:t>
            </a:r>
          </a:p>
        </p:txBody>
      </p:sp>
    </p:spTree>
    <p:extLst>
      <p:ext uri="{BB962C8B-B14F-4D97-AF65-F5344CB8AC3E}">
        <p14:creationId xmlns:p14="http://schemas.microsoft.com/office/powerpoint/2010/main" val="957592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E65E2-A45F-8EA3-4993-CD7B4E3A2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B01FBF2-F1DB-7BFF-CDC8-A39058EB5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Linked Lists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A4C134-1872-9D5F-B8ED-1D991F8FD0B5}"/>
              </a:ext>
            </a:extLst>
          </p:cNvPr>
          <p:cNvSpPr txBox="1"/>
          <p:nvPr/>
        </p:nvSpPr>
        <p:spPr>
          <a:xfrm>
            <a:off x="430306" y="398033"/>
            <a:ext cx="12795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Schema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88EB48D-A0EA-B1C1-30F2-F5B6D8595B01}"/>
              </a:ext>
            </a:extLst>
          </p:cNvPr>
          <p:cNvGrpSpPr/>
          <p:nvPr/>
        </p:nvGrpSpPr>
        <p:grpSpPr>
          <a:xfrm>
            <a:off x="1026739" y="1374596"/>
            <a:ext cx="10138522" cy="1446951"/>
            <a:chOff x="1026739" y="1374596"/>
            <a:chExt cx="10138522" cy="1446951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38FA67C1-EE35-274E-FC94-FC9847DC8265}"/>
                </a:ext>
              </a:extLst>
            </p:cNvPr>
            <p:cNvGrpSpPr/>
            <p:nvPr/>
          </p:nvGrpSpPr>
          <p:grpSpPr>
            <a:xfrm>
              <a:off x="1026739" y="2069783"/>
              <a:ext cx="10138522" cy="751764"/>
              <a:chOff x="706577" y="1531620"/>
              <a:chExt cx="10138522" cy="751764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CD80713B-4007-FF35-1C52-5518BBE59786}"/>
                  </a:ext>
                </a:extLst>
              </p:cNvPr>
              <p:cNvGrpSpPr/>
              <p:nvPr/>
            </p:nvGrpSpPr>
            <p:grpSpPr>
              <a:xfrm>
                <a:off x="2670632" y="1531620"/>
                <a:ext cx="1247887" cy="594360"/>
                <a:chOff x="2592593" y="1463040"/>
                <a:chExt cx="1247887" cy="594360"/>
              </a:xfrm>
            </p:grpSpPr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85C05286-37CC-E298-0FF2-0940AF59AF8B}"/>
                    </a:ext>
                  </a:extLst>
                </p:cNvPr>
                <p:cNvSpPr/>
                <p:nvPr/>
              </p:nvSpPr>
              <p:spPr>
                <a:xfrm>
                  <a:off x="2592593" y="1463040"/>
                  <a:ext cx="914400" cy="59436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>
                      <a:solidFill>
                        <a:schemeClr val="tx1"/>
                      </a:solidFill>
                    </a:rPr>
                    <a:t>Item</a:t>
                  </a:r>
                </a:p>
              </p:txBody>
            </p:sp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B7CCB164-FE68-D0EC-5666-A01711203C6D}"/>
                    </a:ext>
                  </a:extLst>
                </p:cNvPr>
                <p:cNvSpPr/>
                <p:nvPr/>
              </p:nvSpPr>
              <p:spPr>
                <a:xfrm>
                  <a:off x="3506993" y="1463040"/>
                  <a:ext cx="333487" cy="59436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87C860E3-5B52-B92E-FAFA-43517D913F1F}"/>
                  </a:ext>
                </a:extLst>
              </p:cNvPr>
              <p:cNvGrpSpPr/>
              <p:nvPr/>
            </p:nvGrpSpPr>
            <p:grpSpPr>
              <a:xfrm>
                <a:off x="4779579" y="1531620"/>
                <a:ext cx="1247887" cy="594360"/>
                <a:chOff x="2592593" y="1463040"/>
                <a:chExt cx="1247887" cy="594360"/>
              </a:xfrm>
            </p:grpSpPr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0BA0E067-A78D-9029-C536-3DA05AB5CCB1}"/>
                    </a:ext>
                  </a:extLst>
                </p:cNvPr>
                <p:cNvSpPr/>
                <p:nvPr/>
              </p:nvSpPr>
              <p:spPr>
                <a:xfrm>
                  <a:off x="2592593" y="1463040"/>
                  <a:ext cx="914400" cy="59436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>
                      <a:solidFill>
                        <a:schemeClr val="tx1"/>
                      </a:solidFill>
                    </a:rPr>
                    <a:t>Item</a:t>
                  </a: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7B38CE53-E81F-32FC-B643-1A7707603491}"/>
                    </a:ext>
                  </a:extLst>
                </p:cNvPr>
                <p:cNvSpPr/>
                <p:nvPr/>
              </p:nvSpPr>
              <p:spPr>
                <a:xfrm>
                  <a:off x="3506993" y="1463040"/>
                  <a:ext cx="333487" cy="59436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00EBCF55-FA76-4BBB-6845-E3087AF02B0B}"/>
                  </a:ext>
                </a:extLst>
              </p:cNvPr>
              <p:cNvGrpSpPr/>
              <p:nvPr/>
            </p:nvGrpSpPr>
            <p:grpSpPr>
              <a:xfrm>
                <a:off x="6884716" y="1531620"/>
                <a:ext cx="1247887" cy="594360"/>
                <a:chOff x="2592593" y="1463040"/>
                <a:chExt cx="1247887" cy="594360"/>
              </a:xfrm>
            </p:grpSpPr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CC117AE2-9D23-D50E-5BD6-001A94D76F26}"/>
                    </a:ext>
                  </a:extLst>
                </p:cNvPr>
                <p:cNvSpPr/>
                <p:nvPr/>
              </p:nvSpPr>
              <p:spPr>
                <a:xfrm>
                  <a:off x="2592593" y="1463040"/>
                  <a:ext cx="914400" cy="59436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>
                      <a:solidFill>
                        <a:schemeClr val="tx1"/>
                      </a:solidFill>
                    </a:rPr>
                    <a:t>Item</a:t>
                  </a: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34382AE2-2B79-BC1C-FC76-489D56C7F092}"/>
                    </a:ext>
                  </a:extLst>
                </p:cNvPr>
                <p:cNvSpPr/>
                <p:nvPr/>
              </p:nvSpPr>
              <p:spPr>
                <a:xfrm>
                  <a:off x="3506993" y="1463040"/>
                  <a:ext cx="333487" cy="59436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D45B2703-BE7B-8B7A-0916-EBCA0E2CA600}"/>
                  </a:ext>
                </a:extLst>
              </p:cNvPr>
              <p:cNvGrpSpPr/>
              <p:nvPr/>
            </p:nvGrpSpPr>
            <p:grpSpPr>
              <a:xfrm>
                <a:off x="9047003" y="1531620"/>
                <a:ext cx="1247887" cy="594360"/>
                <a:chOff x="2592593" y="1463040"/>
                <a:chExt cx="1247887" cy="594360"/>
              </a:xfrm>
            </p:grpSpPr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7A42C67A-560F-B379-C758-8D93C48E4F7B}"/>
                    </a:ext>
                  </a:extLst>
                </p:cNvPr>
                <p:cNvSpPr/>
                <p:nvPr/>
              </p:nvSpPr>
              <p:spPr>
                <a:xfrm>
                  <a:off x="2592593" y="1463040"/>
                  <a:ext cx="914400" cy="59436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>
                      <a:solidFill>
                        <a:schemeClr val="tx1"/>
                      </a:solidFill>
                    </a:rPr>
                    <a:t>Item</a:t>
                  </a:r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ADAF3961-F478-97B6-E78C-2E7B2FF3DE27}"/>
                    </a:ext>
                  </a:extLst>
                </p:cNvPr>
                <p:cNvSpPr/>
                <p:nvPr/>
              </p:nvSpPr>
              <p:spPr>
                <a:xfrm>
                  <a:off x="3506993" y="1463040"/>
                  <a:ext cx="333487" cy="59436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3C67C9DF-471F-3A62-FBC7-33E9E240EBAE}"/>
                  </a:ext>
                </a:extLst>
              </p:cNvPr>
              <p:cNvCxnSpPr>
                <a:endCxn id="10" idx="1"/>
              </p:cNvCxnSpPr>
              <p:nvPr/>
            </p:nvCxnSpPr>
            <p:spPr>
              <a:xfrm>
                <a:off x="3751775" y="1828800"/>
                <a:ext cx="1027804" cy="0"/>
              </a:xfrm>
              <a:prstGeom prst="straightConnector1">
                <a:avLst/>
              </a:prstGeom>
              <a:ln>
                <a:headEnd type="oval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73A74973-F744-7471-A504-DF5D9DBC93FE}"/>
                  </a:ext>
                </a:extLst>
              </p:cNvPr>
              <p:cNvCxnSpPr/>
              <p:nvPr/>
            </p:nvCxnSpPr>
            <p:spPr>
              <a:xfrm>
                <a:off x="5856912" y="1809750"/>
                <a:ext cx="1027804" cy="0"/>
              </a:xfrm>
              <a:prstGeom prst="straightConnector1">
                <a:avLst/>
              </a:prstGeom>
              <a:ln>
                <a:headEnd type="oval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4C1D648F-3B91-4F55-4C80-D47B6C7705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65859" y="1809750"/>
                <a:ext cx="1081144" cy="0"/>
              </a:xfrm>
              <a:prstGeom prst="straightConnector1">
                <a:avLst/>
              </a:prstGeom>
              <a:ln>
                <a:headEnd type="oval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36AFBAFF-BD3A-4BCC-767E-248BF93A2DC9}"/>
                  </a:ext>
                </a:extLst>
              </p:cNvPr>
              <p:cNvGrpSpPr/>
              <p:nvPr/>
            </p:nvGrpSpPr>
            <p:grpSpPr>
              <a:xfrm>
                <a:off x="10128146" y="1809750"/>
                <a:ext cx="716953" cy="473634"/>
                <a:chOff x="9387167" y="1809750"/>
                <a:chExt cx="716953" cy="473634"/>
              </a:xfrm>
            </p:grpSpPr>
            <p:cxnSp>
              <p:nvCxnSpPr>
                <p:cNvPr id="24" name="Elbow Connector 23">
                  <a:extLst>
                    <a:ext uri="{FF2B5EF4-FFF2-40B4-BE49-F238E27FC236}">
                      <a16:creationId xmlns:a16="http://schemas.microsoft.com/office/drawing/2014/main" id="{EFA36F69-285C-A5EC-9573-81D7B402EF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87167" y="1809750"/>
                  <a:ext cx="545503" cy="316230"/>
                </a:xfrm>
                <a:prstGeom prst="bentConnector3">
                  <a:avLst>
                    <a:gd name="adj1" fmla="val 100288"/>
                  </a:avLst>
                </a:prstGeom>
                <a:ln>
                  <a:headEnd type="oval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3C316EE7-CCAC-2B9A-F8C9-325D40571618}"/>
                    </a:ext>
                  </a:extLst>
                </p:cNvPr>
                <p:cNvCxnSpPr/>
                <p:nvPr/>
              </p:nvCxnSpPr>
              <p:spPr>
                <a:xfrm>
                  <a:off x="9795510" y="2125980"/>
                  <a:ext cx="308610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40DB461B-13FD-A501-59BC-884338B4A74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871710" y="2211768"/>
                  <a:ext cx="156210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E0E0D105-D7C8-3AE9-72D6-C72BED90B9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920048" y="2283384"/>
                  <a:ext cx="59534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60E3836A-729C-0CAF-E224-9D31F2A71D2E}"/>
                  </a:ext>
                </a:extLst>
              </p:cNvPr>
              <p:cNvSpPr/>
              <p:nvPr/>
            </p:nvSpPr>
            <p:spPr>
              <a:xfrm>
                <a:off x="706577" y="1531620"/>
                <a:ext cx="914400" cy="594360"/>
              </a:xfrm>
              <a:prstGeom prst="rect">
                <a:avLst/>
              </a:prstGeom>
              <a:solidFill>
                <a:srgbClr val="00B050">
                  <a:alpha val="30000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>
                    <a:solidFill>
                      <a:schemeClr val="tx1"/>
                    </a:solidFill>
                  </a:rPr>
                  <a:t>HEAD</a:t>
                </a:r>
              </a:p>
            </p:txBody>
          </p: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927638AD-70B8-5A3A-1FB8-8F119CFCCCE5}"/>
                  </a:ext>
                </a:extLst>
              </p:cNvPr>
              <p:cNvCxnSpPr>
                <a:cxnSpLocks/>
                <a:endCxn id="4" idx="1"/>
              </p:cNvCxnSpPr>
              <p:nvPr/>
            </p:nvCxnSpPr>
            <p:spPr>
              <a:xfrm>
                <a:off x="1507816" y="1823545"/>
                <a:ext cx="1162816" cy="5255"/>
              </a:xfrm>
              <a:prstGeom prst="straightConnector1">
                <a:avLst/>
              </a:prstGeom>
              <a:ln>
                <a:headEnd type="oval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67F9C7D-9810-430E-9B0A-5C89D36DE0D4}"/>
                </a:ext>
              </a:extLst>
            </p:cNvPr>
            <p:cNvSpPr txBox="1"/>
            <p:nvPr/>
          </p:nvSpPr>
          <p:spPr>
            <a:xfrm>
              <a:off x="5541707" y="1374596"/>
              <a:ext cx="14663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Single-linked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360C35F-7F82-F8CE-0507-E5C6FF90D9BB}"/>
              </a:ext>
            </a:extLst>
          </p:cNvPr>
          <p:cNvGrpSpPr/>
          <p:nvPr/>
        </p:nvGrpSpPr>
        <p:grpSpPr>
          <a:xfrm>
            <a:off x="1347599" y="3794255"/>
            <a:ext cx="8890635" cy="1636733"/>
            <a:chOff x="1347599" y="3794255"/>
            <a:chExt cx="8890635" cy="1636733"/>
          </a:xfrm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839AD0D7-D7C1-EB61-73B1-0D0AA7D901CD}"/>
                </a:ext>
              </a:extLst>
            </p:cNvPr>
            <p:cNvGrpSpPr/>
            <p:nvPr/>
          </p:nvGrpSpPr>
          <p:grpSpPr>
            <a:xfrm>
              <a:off x="1347599" y="4445965"/>
              <a:ext cx="8890635" cy="985023"/>
              <a:chOff x="706577" y="3423743"/>
              <a:chExt cx="8890635" cy="985023"/>
            </a:xfrm>
          </p:grpSpPr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680A1118-B72D-282A-B3A0-DC987034743C}"/>
                  </a:ext>
                </a:extLst>
              </p:cNvPr>
              <p:cNvGrpSpPr/>
              <p:nvPr/>
            </p:nvGrpSpPr>
            <p:grpSpPr>
              <a:xfrm>
                <a:off x="2337144" y="3429000"/>
                <a:ext cx="1581375" cy="594360"/>
                <a:chOff x="2337144" y="3429000"/>
                <a:chExt cx="1581375" cy="594360"/>
              </a:xfrm>
            </p:grpSpPr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A10CBE74-F768-2636-4E13-0E7D325A8F99}"/>
                    </a:ext>
                  </a:extLst>
                </p:cNvPr>
                <p:cNvSpPr/>
                <p:nvPr/>
              </p:nvSpPr>
              <p:spPr>
                <a:xfrm>
                  <a:off x="2670632" y="3429000"/>
                  <a:ext cx="914401" cy="59436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>
                      <a:solidFill>
                        <a:schemeClr val="tx1"/>
                      </a:solidFill>
                    </a:rPr>
                    <a:t>Item</a:t>
                  </a:r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67B35C16-7FAC-3C5F-896B-5E2354C7D62A}"/>
                    </a:ext>
                  </a:extLst>
                </p:cNvPr>
                <p:cNvSpPr/>
                <p:nvPr/>
              </p:nvSpPr>
              <p:spPr>
                <a:xfrm>
                  <a:off x="3585032" y="3429000"/>
                  <a:ext cx="333487" cy="594359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85B89EE6-BECB-BF86-93F1-7A2F68484E08}"/>
                    </a:ext>
                  </a:extLst>
                </p:cNvPr>
                <p:cNvSpPr/>
                <p:nvPr/>
              </p:nvSpPr>
              <p:spPr>
                <a:xfrm>
                  <a:off x="2337144" y="3429000"/>
                  <a:ext cx="333487" cy="594359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9322081E-77AB-C1EE-5C5E-B0DC7F8611DA}"/>
                  </a:ext>
                </a:extLst>
              </p:cNvPr>
              <p:cNvSpPr/>
              <p:nvPr/>
            </p:nvSpPr>
            <p:spPr>
              <a:xfrm>
                <a:off x="706577" y="3429000"/>
                <a:ext cx="914400" cy="594360"/>
              </a:xfrm>
              <a:prstGeom prst="rect">
                <a:avLst/>
              </a:prstGeom>
              <a:solidFill>
                <a:srgbClr val="00B050">
                  <a:alpha val="30000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>
                    <a:solidFill>
                      <a:schemeClr val="tx1"/>
                    </a:solidFill>
                  </a:rPr>
                  <a:t>HEAD</a:t>
                </a:r>
              </a:p>
            </p:txBody>
          </p: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5B53CCFE-A54B-9565-D13E-5C2EC73E7C51}"/>
                  </a:ext>
                </a:extLst>
              </p:cNvPr>
              <p:cNvCxnSpPr>
                <a:cxnSpLocks/>
                <a:endCxn id="45" idx="1"/>
              </p:cNvCxnSpPr>
              <p:nvPr/>
            </p:nvCxnSpPr>
            <p:spPr>
              <a:xfrm>
                <a:off x="1507815" y="3720924"/>
                <a:ext cx="829329" cy="5256"/>
              </a:xfrm>
              <a:prstGeom prst="straightConnector1">
                <a:avLst/>
              </a:prstGeom>
              <a:ln>
                <a:headEnd type="oval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7FE51EDB-C59F-6B0C-C282-C39AE5C142CE}"/>
                  </a:ext>
                </a:extLst>
              </p:cNvPr>
              <p:cNvGrpSpPr/>
              <p:nvPr/>
            </p:nvGrpSpPr>
            <p:grpSpPr>
              <a:xfrm flipH="1">
                <a:off x="1730747" y="3935132"/>
                <a:ext cx="716953" cy="473634"/>
                <a:chOff x="9387167" y="1809750"/>
                <a:chExt cx="716953" cy="473634"/>
              </a:xfrm>
            </p:grpSpPr>
            <p:cxnSp>
              <p:nvCxnSpPr>
                <p:cNvPr id="51" name="Elbow Connector 50">
                  <a:extLst>
                    <a:ext uri="{FF2B5EF4-FFF2-40B4-BE49-F238E27FC236}">
                      <a16:creationId xmlns:a16="http://schemas.microsoft.com/office/drawing/2014/main" id="{C220366B-8D1B-30FC-0F29-0004FCDA38C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87167" y="1809750"/>
                  <a:ext cx="545503" cy="316230"/>
                </a:xfrm>
                <a:prstGeom prst="bentConnector3">
                  <a:avLst>
                    <a:gd name="adj1" fmla="val 100288"/>
                  </a:avLst>
                </a:prstGeom>
                <a:ln>
                  <a:headEnd type="oval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998F5E0B-E9AC-BFDC-4B22-FD1F75276096}"/>
                    </a:ext>
                  </a:extLst>
                </p:cNvPr>
                <p:cNvCxnSpPr/>
                <p:nvPr/>
              </p:nvCxnSpPr>
              <p:spPr>
                <a:xfrm>
                  <a:off x="9795510" y="2125980"/>
                  <a:ext cx="308610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E148E374-FBE3-2C10-2896-D9396EFBC5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871710" y="2211768"/>
                  <a:ext cx="156210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09C431AA-A130-A0D3-743A-36B20CA0C7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920048" y="2283384"/>
                  <a:ext cx="59534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5D832F45-05D7-7E8A-7B1E-82217FF663F6}"/>
                  </a:ext>
                </a:extLst>
              </p:cNvPr>
              <p:cNvGrpSpPr/>
              <p:nvPr/>
            </p:nvGrpSpPr>
            <p:grpSpPr>
              <a:xfrm>
                <a:off x="4903291" y="3423744"/>
                <a:ext cx="1581375" cy="594360"/>
                <a:chOff x="2337144" y="3429000"/>
                <a:chExt cx="1581375" cy="594360"/>
              </a:xfrm>
            </p:grpSpPr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C20EE47B-2302-E19E-3804-21DFA0E931BA}"/>
                    </a:ext>
                  </a:extLst>
                </p:cNvPr>
                <p:cNvSpPr/>
                <p:nvPr/>
              </p:nvSpPr>
              <p:spPr>
                <a:xfrm>
                  <a:off x="2670632" y="3429000"/>
                  <a:ext cx="914401" cy="59436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>
                      <a:solidFill>
                        <a:schemeClr val="tx1"/>
                      </a:solidFill>
                    </a:rPr>
                    <a:t>Item</a:t>
                  </a:r>
                </a:p>
              </p:txBody>
            </p:sp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75D7FF10-0F01-95FB-1620-497F5A342908}"/>
                    </a:ext>
                  </a:extLst>
                </p:cNvPr>
                <p:cNvSpPr/>
                <p:nvPr/>
              </p:nvSpPr>
              <p:spPr>
                <a:xfrm>
                  <a:off x="3585032" y="3429000"/>
                  <a:ext cx="333487" cy="594359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58F1928E-B46D-85A1-727B-FB05B2602565}"/>
                    </a:ext>
                  </a:extLst>
                </p:cNvPr>
                <p:cNvSpPr/>
                <p:nvPr/>
              </p:nvSpPr>
              <p:spPr>
                <a:xfrm>
                  <a:off x="2337144" y="3429000"/>
                  <a:ext cx="333487" cy="594359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19281030-FEC2-1930-53B6-A32C6EB232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51775" y="3619169"/>
                <a:ext cx="1151516" cy="0"/>
              </a:xfrm>
              <a:prstGeom prst="straightConnector1">
                <a:avLst/>
              </a:prstGeom>
              <a:ln>
                <a:headEnd type="oval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70A12D7F-C4B1-93AF-8E8C-31BEBEF084C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18519" y="3809339"/>
                <a:ext cx="1151515" cy="0"/>
              </a:xfrm>
              <a:prstGeom prst="straightConnector1">
                <a:avLst/>
              </a:prstGeom>
              <a:ln>
                <a:headEnd type="oval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DC51A9F1-242F-3C94-A0B5-489DD073004C}"/>
                  </a:ext>
                </a:extLst>
              </p:cNvPr>
              <p:cNvGrpSpPr/>
              <p:nvPr/>
            </p:nvGrpSpPr>
            <p:grpSpPr>
              <a:xfrm>
                <a:off x="7465628" y="3423743"/>
                <a:ext cx="1581375" cy="594360"/>
                <a:chOff x="2337144" y="3429000"/>
                <a:chExt cx="1581375" cy="594360"/>
              </a:xfrm>
            </p:grpSpPr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43D327BA-927C-EE3F-1846-457260336EE2}"/>
                    </a:ext>
                  </a:extLst>
                </p:cNvPr>
                <p:cNvSpPr/>
                <p:nvPr/>
              </p:nvSpPr>
              <p:spPr>
                <a:xfrm>
                  <a:off x="2670632" y="3429000"/>
                  <a:ext cx="914401" cy="59436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>
                      <a:solidFill>
                        <a:schemeClr val="tx1"/>
                      </a:solidFill>
                    </a:rPr>
                    <a:t>Item</a:t>
                  </a:r>
                </a:p>
              </p:txBody>
            </p:sp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D8FECDE0-4059-9505-B579-423B806AF757}"/>
                    </a:ext>
                  </a:extLst>
                </p:cNvPr>
                <p:cNvSpPr/>
                <p:nvPr/>
              </p:nvSpPr>
              <p:spPr>
                <a:xfrm>
                  <a:off x="3585032" y="3429000"/>
                  <a:ext cx="333487" cy="594359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BDE835A0-E701-8B87-362C-DC4B381CBB03}"/>
                    </a:ext>
                  </a:extLst>
                </p:cNvPr>
                <p:cNvSpPr/>
                <p:nvPr/>
              </p:nvSpPr>
              <p:spPr>
                <a:xfrm>
                  <a:off x="2337144" y="3429000"/>
                  <a:ext cx="333487" cy="594359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DE46E010-0FAD-0E81-B7A6-E5F7E133FC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17922" y="3619169"/>
                <a:ext cx="1151516" cy="0"/>
              </a:xfrm>
              <a:prstGeom prst="straightConnector1">
                <a:avLst/>
              </a:prstGeom>
              <a:ln>
                <a:headEnd type="oval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C04F5462-1E1D-D8F6-EF73-72C3CF3B946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479051" y="3811328"/>
                <a:ext cx="1151515" cy="0"/>
              </a:xfrm>
              <a:prstGeom prst="straightConnector1">
                <a:avLst/>
              </a:prstGeom>
              <a:ln>
                <a:headEnd type="oval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AAC99FD7-112B-0055-6FEA-156D1353CC7B}"/>
                  </a:ext>
                </a:extLst>
              </p:cNvPr>
              <p:cNvGrpSpPr/>
              <p:nvPr/>
            </p:nvGrpSpPr>
            <p:grpSpPr>
              <a:xfrm>
                <a:off x="8880259" y="3733677"/>
                <a:ext cx="716953" cy="473634"/>
                <a:chOff x="9387167" y="1809750"/>
                <a:chExt cx="716953" cy="473634"/>
              </a:xfrm>
            </p:grpSpPr>
            <p:cxnSp>
              <p:nvCxnSpPr>
                <p:cNvPr id="73" name="Elbow Connector 72">
                  <a:extLst>
                    <a:ext uri="{FF2B5EF4-FFF2-40B4-BE49-F238E27FC236}">
                      <a16:creationId xmlns:a16="http://schemas.microsoft.com/office/drawing/2014/main" id="{E3CB8711-D854-519F-D583-C26F2BD920C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87167" y="1809750"/>
                  <a:ext cx="545503" cy="316230"/>
                </a:xfrm>
                <a:prstGeom prst="bentConnector3">
                  <a:avLst>
                    <a:gd name="adj1" fmla="val 100288"/>
                  </a:avLst>
                </a:prstGeom>
                <a:ln>
                  <a:headEnd type="oval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Straight Connector 73">
                  <a:extLst>
                    <a:ext uri="{FF2B5EF4-FFF2-40B4-BE49-F238E27FC236}">
                      <a16:creationId xmlns:a16="http://schemas.microsoft.com/office/drawing/2014/main" id="{4E4C154C-5F70-7E35-65EA-D9963A604EFF}"/>
                    </a:ext>
                  </a:extLst>
                </p:cNvPr>
                <p:cNvCxnSpPr/>
                <p:nvPr/>
              </p:nvCxnSpPr>
              <p:spPr>
                <a:xfrm>
                  <a:off x="9795510" y="2125980"/>
                  <a:ext cx="308610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Straight Connector 74">
                  <a:extLst>
                    <a:ext uri="{FF2B5EF4-FFF2-40B4-BE49-F238E27FC236}">
                      <a16:creationId xmlns:a16="http://schemas.microsoft.com/office/drawing/2014/main" id="{A762EEDE-AA1D-DC51-BB1B-762E255CDAC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871710" y="2211768"/>
                  <a:ext cx="156210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Straight Connector 75">
                  <a:extLst>
                    <a:ext uri="{FF2B5EF4-FFF2-40B4-BE49-F238E27FC236}">
                      <a16:creationId xmlns:a16="http://schemas.microsoft.com/office/drawing/2014/main" id="{82BA058F-3DD3-B96C-A2CB-7CF04D3019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920048" y="2283384"/>
                  <a:ext cx="59534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C0A772B9-80D8-D5F8-FF5B-7A52FDDD477B}"/>
                </a:ext>
              </a:extLst>
            </p:cNvPr>
            <p:cNvSpPr txBox="1"/>
            <p:nvPr/>
          </p:nvSpPr>
          <p:spPr>
            <a:xfrm>
              <a:off x="5541707" y="3794255"/>
              <a:ext cx="15865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Double-linked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33305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C005D-284A-7ED3-CB86-4D85C4931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16F5F25-EAC6-6F66-8121-9CF2F7198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Linked Lists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A6468F-41E8-9486-4C0D-1FB1C4D3DC3A}"/>
              </a:ext>
            </a:extLst>
          </p:cNvPr>
          <p:cNvSpPr txBox="1"/>
          <p:nvPr/>
        </p:nvSpPr>
        <p:spPr>
          <a:xfrm>
            <a:off x="430306" y="398033"/>
            <a:ext cx="29750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Linked lists vs. arrays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CD3745-DAAD-6596-A7C0-A0D678997BA6}"/>
              </a:ext>
            </a:extLst>
          </p:cNvPr>
          <p:cNvSpPr txBox="1"/>
          <p:nvPr/>
        </p:nvSpPr>
        <p:spPr>
          <a:xfrm>
            <a:off x="465142" y="1362124"/>
            <a:ext cx="7392216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Array: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Memory layout: contiguous block of memory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Access time: constant time O(1) for indexed access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Size: fixed at creation (or requires expensive reallocation and copying)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Insertion/deletion: O(n) in the middle (requires shifting elements)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Memory efficiency: no overhead for pointers/references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r>
              <a:rPr lang="en-US"/>
              <a:t>Linked lists: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Memory layout: nodes scattered throughout memory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Access time: linear time O(n) for indexed access (must traverse)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Size: dynamic, grows and shrinks easily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Insertion/deletion: O(1) at known positions (just relink references)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Memory overhead: extra space for references/pointers</a:t>
            </a:r>
          </a:p>
        </p:txBody>
      </p:sp>
    </p:spTree>
    <p:extLst>
      <p:ext uri="{BB962C8B-B14F-4D97-AF65-F5344CB8AC3E}">
        <p14:creationId xmlns:p14="http://schemas.microsoft.com/office/powerpoint/2010/main" val="1488216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A69F4-43DF-77F6-0268-221454047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25809F8-B968-ED40-B56E-A29A4257B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Linked Lists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B5820A-65E7-9545-502C-1C847C4F47B3}"/>
              </a:ext>
            </a:extLst>
          </p:cNvPr>
          <p:cNvSpPr txBox="1"/>
          <p:nvPr/>
        </p:nvSpPr>
        <p:spPr>
          <a:xfrm>
            <a:off x="430306" y="398033"/>
            <a:ext cx="16203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Algorithms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405B4A-3727-6422-D09E-44B42C7CC742}"/>
              </a:ext>
            </a:extLst>
          </p:cNvPr>
          <p:cNvSpPr txBox="1"/>
          <p:nvPr/>
        </p:nvSpPr>
        <p:spPr>
          <a:xfrm>
            <a:off x="430306" y="1344706"/>
            <a:ext cx="7141379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Implementation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Insertion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Deletion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Disposal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Reverse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Swap 2 adjacent elements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Exercise for you: a circular list, both single-linked and double-linked</a:t>
            </a:r>
          </a:p>
        </p:txBody>
      </p:sp>
    </p:spTree>
    <p:extLst>
      <p:ext uri="{BB962C8B-B14F-4D97-AF65-F5344CB8AC3E}">
        <p14:creationId xmlns:p14="http://schemas.microsoft.com/office/powerpoint/2010/main" val="3927098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1e9b6e7-e4bc-422b-b136-be52bca82e7c}" enabled="1" method="Privilege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1483</TotalTime>
  <Words>291</Words>
  <Application>Microsoft Macintosh PowerPoint</Application>
  <PresentationFormat>Widescreen</PresentationFormat>
  <Paragraphs>61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 Monaco, Antonio</dc:creator>
  <cp:lastModifiedBy>Di Monaco, Antonio</cp:lastModifiedBy>
  <cp:revision>40</cp:revision>
  <dcterms:created xsi:type="dcterms:W3CDTF">2025-02-17T20:26:07Z</dcterms:created>
  <dcterms:modified xsi:type="dcterms:W3CDTF">2026-06-06T20:37:23Z</dcterms:modified>
</cp:coreProperties>
</file>