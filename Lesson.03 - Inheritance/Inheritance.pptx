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0"/>
    <p:restoredTop sz="94667"/>
  </p:normalViewPr>
  <p:slideViewPr>
    <p:cSldViewPr snapToGrid="0">
      <p:cViewPr varScale="1">
        <p:scale>
          <a:sx n="78" d="100"/>
          <a:sy n="78" d="100"/>
        </p:scale>
        <p:origin x="1133" y="6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09-May-26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C36E-7E2B-544F-8310-1B240696CDDB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B5E4-878D-C44E-B68B-B0BDFEB9174C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08BA-C18E-134F-884A-2644F50ED7DC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3FF42-D41D-F647-B581-13FF6D84EB8E}" type="datetime1">
              <a:t>09-May-26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F435C-3D88-D645-98AC-4BFBBC1C7110}" type="datetime1">
              <a:t>09-May-26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6D64B-CF18-E449-9660-E730D5EFFBA1}" type="datetime1">
              <a:t>09-May-26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CFC0-9187-8741-B241-E84D7444C369}" type="datetime1">
              <a:t>09-May-26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E181-2209-A540-B218-1C3570CD792D}" type="datetime1">
              <a:t>09-May-26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3BB6-FA1F-C742-A1C1-58C7B02C6779}" type="datetime1">
              <a:t>09-May-26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95BDC-1809-064A-A690-144D64E42DAE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15CF-B2D9-A948-9E90-BD7B93788A63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F4F97-A586-164F-800B-860A8FDAA17B}" type="datetime1">
              <a:t>09-May-26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Inheritance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946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2481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inheritance?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80774-338B-D617-DA87-0F72A376D33D}"/>
              </a:ext>
            </a:extLst>
          </p:cNvPr>
          <p:cNvSpPr txBox="1"/>
          <p:nvPr/>
        </p:nvSpPr>
        <p:spPr>
          <a:xfrm>
            <a:off x="430306" y="1194099"/>
            <a:ext cx="106854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helps us create new classes built on existing ones.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reuse our code and extend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modify our code keeping the same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scale our code complexity by designing the ”is-a” relationship properly (example: UI frameworks)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8303F8-151B-B38D-94C9-E45255F2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06" y="3429000"/>
            <a:ext cx="5057110" cy="276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0FB532-E6C2-862F-DC02-408CBA2D7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093" y="3666864"/>
            <a:ext cx="5986130" cy="227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F7AB-7087-7A67-E6D0-34C9D71D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ED6B19-837B-23E4-92E8-FA870A24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00BDC-5AAD-4A0F-9699-8AD7C850C3C0}"/>
              </a:ext>
            </a:extLst>
          </p:cNvPr>
          <p:cNvSpPr txBox="1"/>
          <p:nvPr/>
        </p:nvSpPr>
        <p:spPr>
          <a:xfrm>
            <a:off x="430306" y="398033"/>
            <a:ext cx="4119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Superclasses and subclasses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0B3E7-7AC8-CED4-1970-DEF4D93C8702}"/>
              </a:ext>
            </a:extLst>
          </p:cNvPr>
          <p:cNvSpPr txBox="1"/>
          <p:nvPr/>
        </p:nvSpPr>
        <p:spPr>
          <a:xfrm>
            <a:off x="2754909" y="2034073"/>
            <a:ext cx="5125121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bonus;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Manager(....)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(....);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....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void setBonus(double bonus)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this.bonus = bonus;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double getSalary()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double baseSalary = </a:t>
            </a:r>
            <a:r>
              <a:rPr lang="en-US" sz="14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super.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getSalary();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return baseSalary + bonus;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00F434-EEE4-2449-96AB-F3B1F51DE5C9}"/>
              </a:ext>
            </a:extLst>
          </p:cNvPr>
          <p:cNvGrpSpPr/>
          <p:nvPr/>
        </p:nvGrpSpPr>
        <p:grpSpPr>
          <a:xfrm>
            <a:off x="6508745" y="778333"/>
            <a:ext cx="1968044" cy="1190426"/>
            <a:chOff x="6508745" y="778333"/>
            <a:chExt cx="1968044" cy="119042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6B6030F-5F4B-B667-DF99-C21E4E2C7C23}"/>
                </a:ext>
              </a:extLst>
            </p:cNvPr>
            <p:cNvCxnSpPr/>
            <p:nvPr/>
          </p:nvCxnSpPr>
          <p:spPr>
            <a:xfrm flipH="1">
              <a:off x="6508745" y="1147665"/>
              <a:ext cx="830425" cy="8210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3E5DA9-8E7F-381D-CDF4-8A1AFC302B5E}"/>
                </a:ext>
              </a:extLst>
            </p:cNvPr>
            <p:cNvSpPr txBox="1"/>
            <p:nvPr/>
          </p:nvSpPr>
          <p:spPr>
            <a:xfrm>
              <a:off x="7339170" y="778333"/>
              <a:ext cx="113761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superclass</a:t>
              </a:r>
              <a:br>
                <a:rPr lang="en-US" sz="1400"/>
              </a:br>
              <a:r>
                <a:rPr lang="en-US" sz="1400"/>
                <a:t>base class</a:t>
              </a:r>
            </a:p>
            <a:p>
              <a:pPr algn="ctr"/>
              <a:r>
                <a:rPr lang="en-US" sz="1400"/>
                <a:t>parent class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C18C70F-A597-A5B0-710A-15AA1BECF6EF}"/>
              </a:ext>
            </a:extLst>
          </p:cNvPr>
          <p:cNvGrpSpPr/>
          <p:nvPr/>
        </p:nvGrpSpPr>
        <p:grpSpPr>
          <a:xfrm>
            <a:off x="2489812" y="1001495"/>
            <a:ext cx="2115488" cy="1032578"/>
            <a:chOff x="2489812" y="1001495"/>
            <a:chExt cx="2115488" cy="103257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7322A7E-69B5-9F35-93C7-DF9F84B84FD1}"/>
                </a:ext>
              </a:extLst>
            </p:cNvPr>
            <p:cNvCxnSpPr/>
            <p:nvPr/>
          </p:nvCxnSpPr>
          <p:spPr>
            <a:xfrm>
              <a:off x="3661447" y="1446245"/>
              <a:ext cx="943853" cy="5878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7D3E19-C0FE-54E7-A38C-D13A88FBA194}"/>
                </a:ext>
              </a:extLst>
            </p:cNvPr>
            <p:cNvSpPr txBox="1"/>
            <p:nvPr/>
          </p:nvSpPr>
          <p:spPr>
            <a:xfrm>
              <a:off x="2489812" y="1001495"/>
              <a:ext cx="1205651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subclass</a:t>
              </a:r>
              <a:br>
                <a:rPr lang="en-US" sz="1400"/>
              </a:br>
              <a:r>
                <a:rPr lang="en-US" sz="1400"/>
                <a:t>derived class</a:t>
              </a:r>
            </a:p>
            <a:p>
              <a:pPr algn="ctr"/>
              <a:r>
                <a:rPr lang="en-US" sz="1400"/>
                <a:t>child class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D9644B-F533-4DE9-A49B-234B661EF26D}"/>
              </a:ext>
            </a:extLst>
          </p:cNvPr>
          <p:cNvGrpSpPr/>
          <p:nvPr/>
        </p:nvGrpSpPr>
        <p:grpSpPr>
          <a:xfrm>
            <a:off x="5720954" y="2435290"/>
            <a:ext cx="5380228" cy="993710"/>
            <a:chOff x="5720954" y="2435290"/>
            <a:chExt cx="5380228" cy="99371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841BB67-84D3-9617-68FA-C8D78CDDDE23}"/>
                </a:ext>
              </a:extLst>
            </p:cNvPr>
            <p:cNvCxnSpPr/>
            <p:nvPr/>
          </p:nvCxnSpPr>
          <p:spPr>
            <a:xfrm flipH="1" flipV="1">
              <a:off x="5720954" y="2435290"/>
              <a:ext cx="2999146" cy="5225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56AB436-6573-95C9-E1DB-D3EC3163E950}"/>
                </a:ext>
              </a:extLst>
            </p:cNvPr>
            <p:cNvCxnSpPr/>
            <p:nvPr/>
          </p:nvCxnSpPr>
          <p:spPr>
            <a:xfrm flipH="1">
              <a:off x="6923957" y="2957804"/>
              <a:ext cx="1777482" cy="471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DB4944-E403-BB02-E92F-E03566B79624}"/>
                </a:ext>
              </a:extLst>
            </p:cNvPr>
            <p:cNvSpPr txBox="1"/>
            <p:nvPr/>
          </p:nvSpPr>
          <p:spPr>
            <a:xfrm>
              <a:off x="8745024" y="2588472"/>
              <a:ext cx="235615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Subclasses have more</a:t>
              </a:r>
              <a:br>
                <a:rPr lang="en-US" sz="1400"/>
              </a:br>
              <a:r>
                <a:rPr lang="en-US" sz="1400"/>
                <a:t>functionalities and/or states</a:t>
              </a:r>
            </a:p>
            <a:p>
              <a:r>
                <a:rPr lang="en-US" sz="1400"/>
                <a:t>than superclasses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C698B-5A53-6184-9807-D1005AFDD59F}"/>
              </a:ext>
            </a:extLst>
          </p:cNvPr>
          <p:cNvGrpSpPr/>
          <p:nvPr/>
        </p:nvGrpSpPr>
        <p:grpSpPr>
          <a:xfrm>
            <a:off x="872486" y="2434097"/>
            <a:ext cx="2220151" cy="954107"/>
            <a:chOff x="872486" y="2434097"/>
            <a:chExt cx="2220151" cy="95410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510B7A-7294-4E0A-39EE-BD413C11E765}"/>
                </a:ext>
              </a:extLst>
            </p:cNvPr>
            <p:cNvCxnSpPr/>
            <p:nvPr/>
          </p:nvCxnSpPr>
          <p:spPr>
            <a:xfrm flipV="1">
              <a:off x="2179341" y="2864498"/>
              <a:ext cx="913296" cy="933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CB7996-7D23-6B32-3A0A-D6F9AAB2773C}"/>
                </a:ext>
              </a:extLst>
            </p:cNvPr>
            <p:cNvSpPr txBox="1"/>
            <p:nvPr/>
          </p:nvSpPr>
          <p:spPr>
            <a:xfrm>
              <a:off x="872486" y="2434097"/>
              <a:ext cx="141070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all non-private</a:t>
              </a:r>
            </a:p>
            <a:p>
              <a:pPr algn="ctr"/>
              <a:r>
                <a:rPr lang="en-US" sz="1400"/>
                <a:t>employee fields</a:t>
              </a:r>
            </a:p>
            <a:p>
              <a:pPr algn="ctr"/>
              <a:r>
                <a:rPr lang="en-US" sz="1400"/>
                <a:t>and methods</a:t>
              </a:r>
            </a:p>
            <a:p>
              <a:pPr algn="ctr"/>
              <a:r>
                <a:rPr lang="en-US" sz="1400"/>
                <a:t>are available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28CDDE-6CB8-485D-D7D1-802B2CA86649}"/>
              </a:ext>
            </a:extLst>
          </p:cNvPr>
          <p:cNvGrpSpPr/>
          <p:nvPr/>
        </p:nvGrpSpPr>
        <p:grpSpPr>
          <a:xfrm>
            <a:off x="6515542" y="5551506"/>
            <a:ext cx="4889261" cy="595258"/>
            <a:chOff x="6515542" y="5551506"/>
            <a:chExt cx="4889261" cy="595258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784FAE4-D09F-EC7B-A104-12D1AB2E32F0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 flipV="1">
              <a:off x="6515542" y="5551506"/>
              <a:ext cx="1637858" cy="3336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7DD2DF-A9D0-6610-B5A3-B425F614F097}"/>
                </a:ext>
              </a:extLst>
            </p:cNvPr>
            <p:cNvSpPr txBox="1"/>
            <p:nvPr/>
          </p:nvSpPr>
          <p:spPr>
            <a:xfrm>
              <a:off x="8153400" y="5623544"/>
              <a:ext cx="32514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Overidden methods can call superclass</a:t>
              </a:r>
            </a:p>
            <a:p>
              <a:r>
                <a:rPr lang="en-US" sz="1400"/>
                <a:t>ones through the </a:t>
              </a:r>
              <a:r>
                <a:rPr lang="en-US" sz="1400" b="1" i="1">
                  <a:solidFill>
                    <a:srgbClr val="7030A0"/>
                  </a:solidFill>
                </a:rPr>
                <a:t>super.</a:t>
              </a:r>
              <a:r>
                <a:rPr lang="en-US" sz="1400"/>
                <a:t> syntax.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CED78D-681B-485C-CACC-FB64BD0A7178}"/>
              </a:ext>
            </a:extLst>
          </p:cNvPr>
          <p:cNvGrpSpPr/>
          <p:nvPr/>
        </p:nvGrpSpPr>
        <p:grpSpPr>
          <a:xfrm>
            <a:off x="85323" y="3079102"/>
            <a:ext cx="6782562" cy="3356670"/>
            <a:chOff x="85323" y="3079102"/>
            <a:chExt cx="6782562" cy="335667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5DE956-D638-CD98-F423-A916183E84C3}"/>
                </a:ext>
              </a:extLst>
            </p:cNvPr>
            <p:cNvSpPr txBox="1"/>
            <p:nvPr/>
          </p:nvSpPr>
          <p:spPr>
            <a:xfrm>
              <a:off x="85323" y="3973559"/>
              <a:ext cx="6782562" cy="2462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There’s a difference between</a:t>
              </a:r>
            </a:p>
            <a:p>
              <a:r>
                <a:rPr lang="en-US" sz="1400" dirty="0"/>
                <a:t>the </a:t>
              </a:r>
              <a:r>
                <a:rPr lang="en-US" sz="1400" b="1" i="1" dirty="0">
                  <a:solidFill>
                    <a:srgbClr val="FFC000"/>
                  </a:solidFill>
                </a:rPr>
                <a:t>super</a:t>
              </a:r>
              <a:r>
                <a:rPr lang="en-US" sz="1400" dirty="0"/>
                <a:t> call in the constructor</a:t>
              </a:r>
            </a:p>
            <a:p>
              <a:r>
                <a:rPr lang="en-US" sz="1400" dirty="0"/>
                <a:t>and the </a:t>
              </a:r>
              <a:r>
                <a:rPr lang="en-US" sz="1400" b="1" i="1" dirty="0">
                  <a:solidFill>
                    <a:srgbClr val="7030A0"/>
                  </a:solidFill>
                </a:rPr>
                <a:t>super.</a:t>
              </a:r>
              <a:r>
                <a:rPr lang="en-US" sz="1400" dirty="0"/>
                <a:t> call in methods.</a:t>
              </a:r>
            </a:p>
            <a:p>
              <a:endParaRPr lang="en-US" sz="1400" dirty="0"/>
            </a:p>
            <a:p>
              <a:r>
                <a:rPr lang="en-US" sz="1400" dirty="0"/>
                <a:t>First one is required because we</a:t>
              </a:r>
            </a:p>
            <a:p>
              <a:r>
                <a:rPr lang="en-US" sz="1400" dirty="0"/>
                <a:t>cannot access private fields of</a:t>
              </a:r>
            </a:p>
            <a:p>
              <a:r>
                <a:rPr lang="en-US" sz="1400" dirty="0"/>
                <a:t>the superclass, but we need to initialize</a:t>
              </a:r>
              <a:br>
                <a:rPr lang="en-US" sz="1400" dirty="0"/>
              </a:br>
              <a:r>
                <a:rPr lang="en-US" sz="1400" dirty="0"/>
                <a:t>them (so, we need to call the constructor).</a:t>
              </a:r>
            </a:p>
            <a:p>
              <a:endParaRPr lang="en-US" sz="1400" dirty="0"/>
            </a:p>
            <a:p>
              <a:r>
                <a:rPr lang="en-US" sz="1400" dirty="0"/>
                <a:t>In the methods we can call just the non-private items, but we need a way to not trigger</a:t>
              </a:r>
            </a:p>
            <a:p>
              <a:r>
                <a:rPr lang="en-US" sz="1400" dirty="0"/>
                <a:t>a recursive call by using </a:t>
              </a:r>
              <a:r>
                <a:rPr lang="en-US" sz="1400" b="1" i="1" dirty="0"/>
                <a:t>this</a:t>
              </a:r>
              <a:r>
                <a:rPr lang="en-US" sz="1400" dirty="0"/>
                <a:t>. 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4A887FB-E0AC-9FC5-7650-3D4ED6B4F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4909" y="3079102"/>
              <a:ext cx="632103" cy="13248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DFE6DE3-1784-777B-B79F-E013DCC404A7}"/>
                </a:ext>
              </a:extLst>
            </p:cNvPr>
            <p:cNvCxnSpPr>
              <a:cxnSpLocks/>
            </p:cNvCxnSpPr>
            <p:nvPr/>
          </p:nvCxnSpPr>
          <p:spPr>
            <a:xfrm>
              <a:off x="2754909" y="4403959"/>
              <a:ext cx="501475" cy="9586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70592C-9856-660A-F21D-E1771966DBE2}"/>
              </a:ext>
            </a:extLst>
          </p:cNvPr>
          <p:cNvGrpSpPr/>
          <p:nvPr/>
        </p:nvGrpSpPr>
        <p:grpSpPr>
          <a:xfrm>
            <a:off x="5720954" y="4213551"/>
            <a:ext cx="5107864" cy="871633"/>
            <a:chOff x="5720954" y="4213551"/>
            <a:chExt cx="5107864" cy="87163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BDFB4B-FEA4-7F2C-9787-A268433FC6B8}"/>
                </a:ext>
              </a:extLst>
            </p:cNvPr>
            <p:cNvSpPr txBox="1"/>
            <p:nvPr/>
          </p:nvSpPr>
          <p:spPr>
            <a:xfrm>
              <a:off x="8246123" y="4213551"/>
              <a:ext cx="258269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In Java all non-private methods</a:t>
              </a:r>
            </a:p>
            <a:p>
              <a:r>
                <a:rPr lang="en-US" sz="1400"/>
                <a:t>are virtual and overridable</a:t>
              </a:r>
            </a:p>
            <a:p>
              <a:r>
                <a:rPr lang="en-US" sz="1400"/>
                <a:t>(dynamic dispatch)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6B0A921-5D3C-9CF0-1E9E-FDA4494F8992}"/>
                </a:ext>
              </a:extLst>
            </p:cNvPr>
            <p:cNvCxnSpPr>
              <a:stCxn id="36" idx="1"/>
            </p:cNvCxnSpPr>
            <p:nvPr/>
          </p:nvCxnSpPr>
          <p:spPr>
            <a:xfrm flipH="1">
              <a:off x="5720954" y="4582883"/>
              <a:ext cx="2525169" cy="5023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559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38F1-7EA0-91DA-1F03-C507DF58F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B17A13-867D-EDF4-943D-82C30F00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80AFA-95F4-FE33-3DB5-B54859F7E41F}"/>
              </a:ext>
            </a:extLst>
          </p:cNvPr>
          <p:cNvSpPr txBox="1"/>
          <p:nvPr/>
        </p:nvSpPr>
        <p:spPr>
          <a:xfrm>
            <a:off x="4253220" y="2551837"/>
            <a:ext cx="368556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Inheritance</a:t>
            </a:r>
          </a:p>
          <a:p>
            <a:pPr algn="ctr"/>
            <a:endParaRPr lang="en-US" sz="3600"/>
          </a:p>
          <a:p>
            <a:pPr algn="ctr"/>
            <a:r>
              <a:rPr lang="en-US" sz="3600"/>
              <a:t>(Manager project)</a:t>
            </a:r>
          </a:p>
        </p:txBody>
      </p:sp>
    </p:spTree>
    <p:extLst>
      <p:ext uri="{BB962C8B-B14F-4D97-AF65-F5344CB8AC3E}">
        <p14:creationId xmlns:p14="http://schemas.microsoft.com/office/powerpoint/2010/main" val="345116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F7574-D6F3-0E73-4011-F1C3F4A9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351F87-D49E-9032-B1E6-D066AB29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62F5F-07B7-6BB7-BB81-D2DA2EFD1DE3}"/>
              </a:ext>
            </a:extLst>
          </p:cNvPr>
          <p:cNvSpPr txBox="1"/>
          <p:nvPr/>
        </p:nvSpPr>
        <p:spPr>
          <a:xfrm>
            <a:off x="430306" y="398033"/>
            <a:ext cx="2104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Polymorphism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C6E27-C2B2-3EFA-4795-04D05077BD1A}"/>
              </a:ext>
            </a:extLst>
          </p:cNvPr>
          <p:cNvSpPr txBox="1"/>
          <p:nvPr/>
        </p:nvSpPr>
        <p:spPr>
          <a:xfrm>
            <a:off x="430306" y="1138334"/>
            <a:ext cx="89635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“is-a” relationship means that every object of the subclass is an object of the superclass.</a:t>
            </a:r>
          </a:p>
          <a:p>
            <a:endParaRPr lang="en-US" dirty="0"/>
          </a:p>
          <a:p>
            <a:r>
              <a:rPr lang="en-US" dirty="0"/>
              <a:t>Every Manager is an Employee ... but the opposite is not true.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1E3DE-C012-A6E1-F85A-D6C315968D7A}"/>
              </a:ext>
            </a:extLst>
          </p:cNvPr>
          <p:cNvSpPr txBox="1"/>
          <p:nvPr/>
        </p:nvSpPr>
        <p:spPr>
          <a:xfrm>
            <a:off x="430306" y="2360709"/>
            <a:ext cx="362150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e = new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e = new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e1 = new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e1.setBonus(...); //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ERROR!!!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m = e1; //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ERROR!!!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A9029-C636-BC39-EFE4-9BDE567C5CD6}"/>
              </a:ext>
            </a:extLst>
          </p:cNvPr>
          <p:cNvSpPr txBox="1"/>
          <p:nvPr/>
        </p:nvSpPr>
        <p:spPr>
          <a:xfrm>
            <a:off x="430306" y="4241423"/>
            <a:ext cx="9987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objects are polymorphic, i.e. the dynamic dispatch selects the method to be called based on the</a:t>
            </a:r>
          </a:p>
          <a:p>
            <a:r>
              <a:rPr lang="en-US"/>
              <a:t>type of the instance and not on the type of the reference.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C6126-E351-3B5E-B4C7-6FB8D0A2DF14}"/>
              </a:ext>
            </a:extLst>
          </p:cNvPr>
          <p:cNvSpPr txBox="1"/>
          <p:nvPr/>
        </p:nvSpPr>
        <p:spPr>
          <a:xfrm>
            <a:off x="430306" y="5168030"/>
            <a:ext cx="989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Inheritance can be prevented using the keyword </a:t>
            </a:r>
            <a:r>
              <a:rPr lang="en-US" i="1"/>
              <a:t>final</a:t>
            </a:r>
            <a:r>
              <a:rPr lang="en-US"/>
              <a:t>, it can be used both on classes and methods.</a:t>
            </a:r>
          </a:p>
        </p:txBody>
      </p:sp>
    </p:spTree>
    <p:extLst>
      <p:ext uri="{BB962C8B-B14F-4D97-AF65-F5344CB8AC3E}">
        <p14:creationId xmlns:p14="http://schemas.microsoft.com/office/powerpoint/2010/main" val="319225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083D0-0E20-986A-E8D8-C648E825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BD3A-51C7-D7C7-57F7-D4F28BAD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85471-0468-141E-2FA7-316997D2158D}"/>
              </a:ext>
            </a:extLst>
          </p:cNvPr>
          <p:cNvSpPr txBox="1"/>
          <p:nvPr/>
        </p:nvSpPr>
        <p:spPr>
          <a:xfrm>
            <a:off x="430306" y="398033"/>
            <a:ext cx="1200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763AE-D119-40F8-FA3F-3CFE73E0DBF1}"/>
              </a:ext>
            </a:extLst>
          </p:cNvPr>
          <p:cNvSpPr txBox="1"/>
          <p:nvPr/>
        </p:nvSpPr>
        <p:spPr>
          <a:xfrm>
            <a:off x="430306" y="1035634"/>
            <a:ext cx="568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Casting is a forced conversion from one type to another.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09776-6D79-705F-7E10-B684F994D68D}"/>
              </a:ext>
            </a:extLst>
          </p:cNvPr>
          <p:cNvSpPr txBox="1"/>
          <p:nvPr/>
        </p:nvSpPr>
        <p:spPr>
          <a:xfrm>
            <a:off x="430306" y="1613118"/>
            <a:ext cx="383630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var staff = new Employee[3];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staff[0] = new Manager(....);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staff[1] = new Employee(....);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....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....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Manager boss =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(Manager)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staff[0];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E7C5D-3588-BA93-FFC0-FCCCDC60A95A}"/>
              </a:ext>
            </a:extLst>
          </p:cNvPr>
          <p:cNvSpPr txBox="1"/>
          <p:nvPr/>
        </p:nvSpPr>
        <p:spPr>
          <a:xfrm>
            <a:off x="430306" y="3637152"/>
            <a:ext cx="11173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Casting is 99.99% a bad idea, it should be allowed only in very specific cases, when no other option is available.</a:t>
            </a:r>
          </a:p>
          <a:p>
            <a:endParaRPr lang="en-US"/>
          </a:p>
          <a:p>
            <a:r>
              <a:rPr lang="en-US"/>
              <a:t>To avoid a cast failure, the runtime type can be inspected via the </a:t>
            </a:r>
            <a:r>
              <a:rPr lang="en-US" b="1"/>
              <a:t>instanceof</a:t>
            </a:r>
            <a:r>
              <a:rPr lang="en-US"/>
              <a:t> keyword.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8B9FC-FFAE-6897-83E3-1C4A5D13D4C9}"/>
              </a:ext>
            </a:extLst>
          </p:cNvPr>
          <p:cNvSpPr txBox="1"/>
          <p:nvPr/>
        </p:nvSpPr>
        <p:spPr>
          <a:xfrm>
            <a:off x="5283960" y="1779765"/>
            <a:ext cx="57388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need casting here to access all Manager features.</a:t>
            </a:r>
          </a:p>
          <a:p>
            <a:endParaRPr lang="en-US"/>
          </a:p>
          <a:p>
            <a:r>
              <a:rPr lang="en-US"/>
              <a:t>If the cast does not apply (example, we cast the element</a:t>
            </a:r>
          </a:p>
          <a:p>
            <a:r>
              <a:rPr lang="en-US"/>
              <a:t>at index [1]), we get an exception.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F9FD3-402F-3B5E-98B6-4D5CE3013A1F}"/>
              </a:ext>
            </a:extLst>
          </p:cNvPr>
          <p:cNvSpPr txBox="1"/>
          <p:nvPr/>
        </p:nvSpPr>
        <p:spPr>
          <a:xfrm>
            <a:off x="430305" y="4768634"/>
            <a:ext cx="38363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if (staff[i]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Manager)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boss = (Manager) staff[i];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14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7B4A4-7405-4532-BE3B-4E0C74CF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71D59A-7944-E2D2-9444-7952E2EE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F747D-EA3F-E381-66EB-4734BBA52840}"/>
              </a:ext>
            </a:extLst>
          </p:cNvPr>
          <p:cNvSpPr txBox="1"/>
          <p:nvPr/>
        </p:nvSpPr>
        <p:spPr>
          <a:xfrm>
            <a:off x="430306" y="398033"/>
            <a:ext cx="2492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Protected access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5DA7F-B035-44DA-28F8-E247CF19E195}"/>
              </a:ext>
            </a:extLst>
          </p:cNvPr>
          <p:cNvSpPr txBox="1"/>
          <p:nvPr/>
        </p:nvSpPr>
        <p:spPr>
          <a:xfrm>
            <a:off x="430306" y="1035634"/>
            <a:ext cx="1056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Protected is a third access level, available only in “is-a” relationship, i.e. from superclasses to subclasses.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4C4ED-D49D-3E95-CE87-CD34BB9B0529}"/>
              </a:ext>
            </a:extLst>
          </p:cNvPr>
          <p:cNvSpPr txBox="1"/>
          <p:nvPr/>
        </p:nvSpPr>
        <p:spPr>
          <a:xfrm>
            <a:off x="430306" y="1782146"/>
            <a:ext cx="10319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Protected access level makes sense for methods that should be visible by subclasses only. It’s risky for</a:t>
            </a:r>
          </a:p>
          <a:p>
            <a:r>
              <a:rPr lang="en-US"/>
              <a:t>fields though, because this could break encapsulation.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2617C-4982-BD91-9CC7-CC8ACDD8D85C}"/>
              </a:ext>
            </a:extLst>
          </p:cNvPr>
          <p:cNvSpPr txBox="1"/>
          <p:nvPr/>
        </p:nvSpPr>
        <p:spPr>
          <a:xfrm>
            <a:off x="430306" y="2805657"/>
            <a:ext cx="10745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Protected access is visible to all subclasses as well as other classes in the same package! </a:t>
            </a:r>
            <a:r>
              <a:rPr lang="en-US">
                <a:sym typeface="Wingdings" pitchFamily="2" charset="2"/>
              </a:rPr>
              <a:t>:( Not nice, Java.</a:t>
            </a:r>
          </a:p>
          <a:p>
            <a:r>
              <a:rPr lang="en-US">
                <a:sym typeface="Wingdings" pitchFamily="2" charset="2"/>
              </a:rPr>
              <a:t>Use packages to at least make sense of it.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F4DD2-009D-A5C5-615E-56DB0DC1D300}"/>
              </a:ext>
            </a:extLst>
          </p:cNvPr>
          <p:cNvSpPr txBox="1"/>
          <p:nvPr/>
        </p:nvSpPr>
        <p:spPr>
          <a:xfrm>
            <a:off x="2090833" y="4309328"/>
            <a:ext cx="801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(PackagedEmployee_Protected project)</a:t>
            </a:r>
          </a:p>
        </p:txBody>
      </p:sp>
    </p:spTree>
    <p:extLst>
      <p:ext uri="{BB962C8B-B14F-4D97-AF65-F5344CB8AC3E}">
        <p14:creationId xmlns:p14="http://schemas.microsoft.com/office/powerpoint/2010/main" val="406304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12A7-4AE1-2026-E014-80894EDE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D61867-6AB9-200B-F4F3-895469156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D3A08-4BB7-403D-8559-8C8E5C84A51C}"/>
              </a:ext>
            </a:extLst>
          </p:cNvPr>
          <p:cNvSpPr txBox="1"/>
          <p:nvPr/>
        </p:nvSpPr>
        <p:spPr>
          <a:xfrm>
            <a:off x="430306" y="398033"/>
            <a:ext cx="2381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Abstract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974FE-F65B-52D4-66BA-3A227491E74C}"/>
              </a:ext>
            </a:extLst>
          </p:cNvPr>
          <p:cNvSpPr txBox="1"/>
          <p:nvPr/>
        </p:nvSpPr>
        <p:spPr>
          <a:xfrm>
            <a:off x="430307" y="1231641"/>
            <a:ext cx="11286072" cy="3693319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dirty="0"/>
              <a:t>An abstract class is a class that contains abstract methods in it, i.e. methods that do not offer any implementation, that will be delegated to their subclasses.</a:t>
            </a:r>
          </a:p>
          <a:p>
            <a:endParaRPr lang="en-US" dirty="0"/>
          </a:p>
          <a:p>
            <a:r>
              <a:rPr lang="en-US" dirty="0"/>
              <a:t>Thus, they cannot be allocated.</a:t>
            </a:r>
          </a:p>
          <a:p>
            <a:endParaRPr lang="en-US" dirty="0"/>
          </a:p>
          <a:p>
            <a:r>
              <a:rPr lang="en-US" dirty="0"/>
              <a:t>Instead of abstract classes a parent class can be defined with default implementation for methods that should be abstract, but that would lead to a poor design. </a:t>
            </a:r>
            <a:r>
              <a:rPr lang="en-US" i="1" dirty="0"/>
              <a:t>abstract</a:t>
            </a:r>
            <a:r>
              <a:rPr lang="en-US" dirty="0"/>
              <a:t> enforces a specific class interface, subclasses are then obliged to provide the right implementation.</a:t>
            </a:r>
          </a:p>
          <a:p>
            <a:endParaRPr lang="en-US" dirty="0"/>
          </a:p>
          <a:p>
            <a:r>
              <a:rPr lang="en-US" dirty="0"/>
              <a:t>Abstract classes make more sense when used with </a:t>
            </a:r>
            <a:r>
              <a:rPr lang="en-US" i="1" dirty="0"/>
              <a:t>interfaces</a:t>
            </a:r>
            <a:r>
              <a:rPr lang="en-US" dirty="0"/>
              <a:t>, because can provide a first common code scaffold for later subclasses that implements the full interface.</a:t>
            </a:r>
          </a:p>
          <a:p>
            <a:endParaRPr lang="en-US" dirty="0"/>
          </a:p>
          <a:p>
            <a:r>
              <a:rPr lang="en-US" dirty="0"/>
              <a:t>Abstract classes can be </a:t>
            </a:r>
            <a:r>
              <a:rPr lang="en-US" i="1" dirty="0"/>
              <a:t>sealed</a:t>
            </a:r>
            <a:r>
              <a:rPr lang="en-US" dirty="0"/>
              <a:t>, to allow only specific subclasses types for implementation (through the clause </a:t>
            </a:r>
            <a:r>
              <a:rPr lang="en-US" i="1" dirty="0"/>
              <a:t>permit</a:t>
            </a:r>
            <a:r>
              <a:rPr lang="en-US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14047-EB27-3DCA-00E8-4689EC7B7909}"/>
              </a:ext>
            </a:extLst>
          </p:cNvPr>
          <p:cNvSpPr txBox="1"/>
          <p:nvPr/>
        </p:nvSpPr>
        <p:spPr>
          <a:xfrm>
            <a:off x="2176369" y="5303193"/>
            <a:ext cx="783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(PackagedEmployee_Abstract project)</a:t>
            </a:r>
          </a:p>
        </p:txBody>
      </p:sp>
    </p:spTree>
    <p:extLst>
      <p:ext uri="{BB962C8B-B14F-4D97-AF65-F5344CB8AC3E}">
        <p14:creationId xmlns:p14="http://schemas.microsoft.com/office/powerpoint/2010/main" val="278757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F4BB-C80E-79D2-C438-843099E1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C9E862-DE81-9681-5E57-28F4D5B6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2CAD4-0883-9AF3-F35F-D3131D96DEC1}"/>
              </a:ext>
            </a:extLst>
          </p:cNvPr>
          <p:cNvSpPr txBox="1"/>
          <p:nvPr/>
        </p:nvSpPr>
        <p:spPr>
          <a:xfrm>
            <a:off x="430306" y="398033"/>
            <a:ext cx="371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Common ancestor: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C47EC-F0DD-3492-68A8-FF32C3B6CA2C}"/>
              </a:ext>
            </a:extLst>
          </p:cNvPr>
          <p:cNvSpPr txBox="1"/>
          <p:nvPr/>
        </p:nvSpPr>
        <p:spPr>
          <a:xfrm>
            <a:off x="430306" y="1231641"/>
            <a:ext cx="1054121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Java classes have a common ancestor: Object.</a:t>
            </a:r>
          </a:p>
          <a:p>
            <a:endParaRPr lang="en-US"/>
          </a:p>
          <a:p>
            <a:r>
              <a:rPr lang="en-US"/>
              <a:t>Object contains three methods worth mentioning and that should be taken into account.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equals =&gt; check if two objects have the same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by default, references are tested, and sometimes this is not what we want.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hashCode =&gt; if you override equals, most likely you’d like to override this one as well.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It’s an integer derived from an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If two objects are equal, the must return the same hash code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Hash* Java data structures use the hash code to select in whick bucket the object should go,</a:t>
            </a:r>
            <a:br>
              <a:rPr lang="en-US"/>
            </a:br>
            <a:r>
              <a:rPr lang="en-US"/>
              <a:t>if equal objects go to different buckets the data structure behavior could fall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toString =&gt; generate a textual representation of the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BAF93-9D46-C84F-3A82-6D93A739CD4C}"/>
              </a:ext>
            </a:extLst>
          </p:cNvPr>
          <p:cNvSpPr txBox="1"/>
          <p:nvPr/>
        </p:nvSpPr>
        <p:spPr>
          <a:xfrm>
            <a:off x="3354320" y="5303193"/>
            <a:ext cx="5483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/>
              <a:t>(Employee_Object project)</a:t>
            </a:r>
          </a:p>
        </p:txBody>
      </p:sp>
    </p:spTree>
    <p:extLst>
      <p:ext uri="{BB962C8B-B14F-4D97-AF65-F5344CB8AC3E}">
        <p14:creationId xmlns:p14="http://schemas.microsoft.com/office/powerpoint/2010/main" val="47372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940</Words>
  <Application>Microsoft Office PowerPoint</Application>
  <PresentationFormat>Widescreen</PresentationFormat>
  <Paragraphs>137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23</cp:revision>
  <dcterms:created xsi:type="dcterms:W3CDTF">2025-02-17T20:26:07Z</dcterms:created>
  <dcterms:modified xsi:type="dcterms:W3CDTF">2026-05-09T09:36:40Z</dcterms:modified>
</cp:coreProperties>
</file>