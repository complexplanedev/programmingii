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646"/>
    <p:restoredTop sz="94667"/>
  </p:normalViewPr>
  <p:slideViewPr>
    <p:cSldViewPr snapToGrid="0">
      <p:cViewPr varScale="1">
        <p:scale>
          <a:sx n="78" d="100"/>
          <a:sy n="78" d="100"/>
        </p:scale>
        <p:origin x="53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E07293-F053-7B40-A228-5F1A48558100}" type="datetimeFigureOut">
              <a:rPr lang="en-US" smtClean="0"/>
              <a:t>09-May-26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A41D49-4EEF-854E-9DDE-8BC5FEFD0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55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5439B-63FB-6C79-15F1-BAA1C47C7A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A9E2CF-704F-6F6C-0426-B7F84FC246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6FD8C-3A3D-445A-213A-CF6B71BA3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F075C-C251-C749-8ED8-5B76680140DB}" type="datetime1">
              <a:t>09-May-26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7CA33-588F-4EAC-C341-1447D02D8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Interfaces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3C2CF-CA0A-CFA0-6B58-37C42242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665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B5E98-1E0A-5C06-1F5F-DEBE421CE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92E38-AE1D-142D-1A59-8A0F47F9C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44205-A97E-5C80-20A0-4B68B7652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84512-612C-4C4E-A2FD-B6FEB7C480F4}" type="datetime1">
              <a:t>09-May-26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D4116-E39C-BD33-E13E-AF18EB8A1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Interfaces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89E9A-B868-FE52-8CFE-689196215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612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928CB-C549-0CDB-FB0B-590D1E78F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F19BA9-E540-1566-4B2B-E59034E89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36ECF-E7C9-D6D6-EE13-5AE021373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C5C5B-F71D-F24A-A17E-402D77793014}" type="datetime1">
              <a:t>09-May-26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39BBF-4527-08FB-EACA-DCAD12194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Interfaces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06293-AE67-6245-643E-B715DC450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531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D51C7-AD92-09E3-6E4E-47CA0921C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47D2D-1F7F-2B3D-CA36-7D64AE0757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88E74B-CD91-A054-ADC9-1EFCB7785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022C44-3D99-F76D-41A0-E73C8318A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2B9EB-6612-A34C-933E-7FD46F1D8EDA}" type="datetime1">
              <a:t>09-May-26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22654B-ABB1-B4E7-D3FF-75F502EF7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Interfaces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B3FF0-A6CC-BB11-1387-91380F75C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964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93EE0-13D7-B16A-671D-37C4003ED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36EBB-EB65-A1BE-9D46-0D48EAE2E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796A3D-C74C-E765-80CD-7C597B8C6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5A3A30-D02C-B54E-0027-C54DB7D89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E242F7-89D9-4224-E2F0-D92BEC3FF1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93D59E-AFA9-0483-559C-6C131C0E0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CA569-BF00-664D-8230-5205097E7B29}" type="datetime1">
              <a:t>09-May-26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26F210-EE29-8E1D-8FA8-D10028D70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Interfaces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F38DDC-0ECF-9134-256E-293D6681E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547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876A2-3DA5-918E-EA96-5DE7EA197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AE71DD-2CDF-D942-ECFA-3348F8859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47609-AC05-B642-B688-E6C487A66411}" type="datetime1">
              <a:t>09-May-26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44A0C1-2879-C55B-0CF2-13A64EE6F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Interfaces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B2FF08-FA4F-5E70-3D58-56BD02EDE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64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5E7684-4EDD-C720-2CDF-C7DB971DB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5E818-A79A-0047-8D66-6B9CC1D8809D}" type="datetime1">
              <a:t>09-May-26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0BEAB9-0036-AFDC-FD10-E5BBB32CA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Interfaces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1F654-1E2B-5C4F-56B1-FD811F1DE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799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3AE98-D290-2D23-02C2-B1B9D08A3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1B8CB-0769-520D-1239-A592E7364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52471-F5C0-4650-7641-FEC81F273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8E6937-6113-2719-D75D-2A5C29221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19062-6405-5A4A-A8FC-63369CEACE5D}" type="datetime1">
              <a:t>09-May-26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06A247-0567-CD26-31DC-A70792F3C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Interfaces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6A7F36-2EDB-2D13-ED56-83A06114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338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4D053-C082-202E-4257-E09A2B09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08AAF1-FF16-01CE-ECAA-EFE558D8AD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8DDB28-7904-6C8E-701B-A3CFF3D45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17D25E-1E8D-FE8F-35CC-8D8B43280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B957D-3165-0547-A3C6-889F8D074300}" type="datetime1">
              <a:t>09-May-26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ABFC95-31D9-F0FD-B110-5448FD7D3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Interfaces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9AA12B-4266-61D9-EDD2-3EE5CE79D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64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37D41-2C62-B81A-4E55-5B17754E8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F87ADB-41B0-0C03-1623-085306CD78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ED994-B570-EC4C-69DF-20F16C7F1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8C2E-7D26-D242-83CF-1E52FD728F45}" type="datetime1">
              <a:t>09-May-26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AD534-A450-A307-4B07-6C4650ACD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Interfaces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DC195-7F54-203F-CDA1-C50631716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11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E438AF-B931-3C84-F6D4-87AB3B83A9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D28B3D-F088-3F99-72FF-7414B2DCD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055F1-AB43-623C-C5CB-38A30E28D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A03C1-61C7-774A-9B82-60F1FEB39E41}" type="datetime1">
              <a:t>09-May-26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7671F-F3CA-AD8C-AAED-1CEDA06BD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Interfaces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B1CDC-17D0-73DC-75AA-4AC4F7A19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349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DB54A4-460A-D881-CB80-B80976E99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4465D-2428-0E8F-C234-F54A0ACB2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1F970-F887-4C4D-5815-B89930B12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BA1AF6-4AC7-504D-A592-03E795829160}" type="datetime1">
              <a:t>09-May-26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557DE-AC99-B9B5-5DF2-4FB364C1F4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Programming II - Interfaces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09E07-DBC5-7183-4C8A-37012085C0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891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75EDB5-7C26-1246-E398-1FA21B5C1782}"/>
              </a:ext>
            </a:extLst>
          </p:cNvPr>
          <p:cNvSpPr txBox="1"/>
          <p:nvPr/>
        </p:nvSpPr>
        <p:spPr>
          <a:xfrm>
            <a:off x="570154" y="915313"/>
            <a:ext cx="945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Programming II Course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86B9AB-A154-F77B-F9BB-7DC5E358FC71}"/>
              </a:ext>
            </a:extLst>
          </p:cNvPr>
          <p:cNvSpPr txBox="1"/>
          <p:nvPr/>
        </p:nvSpPr>
        <p:spPr>
          <a:xfrm>
            <a:off x="570155" y="5111690"/>
            <a:ext cx="38677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Antonio Di Monaco</a:t>
            </a:r>
          </a:p>
          <a:p>
            <a:r>
              <a:rPr lang="en-US" dirty="0"/>
              <a:t>Computer Science Bachelor Program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63B0E87-0692-1E7D-2BF8-8A674F091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Interfaces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08F35-8C13-E451-FF21-78133D15ADFC}"/>
              </a:ext>
            </a:extLst>
          </p:cNvPr>
          <p:cNvSpPr txBox="1"/>
          <p:nvPr/>
        </p:nvSpPr>
        <p:spPr>
          <a:xfrm>
            <a:off x="570154" y="3013501"/>
            <a:ext cx="17425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Interfaces</a:t>
            </a:r>
          </a:p>
        </p:txBody>
      </p:sp>
    </p:spTree>
    <p:extLst>
      <p:ext uri="{BB962C8B-B14F-4D97-AF65-F5344CB8AC3E}">
        <p14:creationId xmlns:p14="http://schemas.microsoft.com/office/powerpoint/2010/main" val="2794035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FC0A45D-015B-F9B3-DB27-9D9047181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Interfaces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22E73E-5FE4-B397-BDFC-5C186926044C}"/>
              </a:ext>
            </a:extLst>
          </p:cNvPr>
          <p:cNvSpPr txBox="1"/>
          <p:nvPr/>
        </p:nvSpPr>
        <p:spPr>
          <a:xfrm>
            <a:off x="430306" y="398033"/>
            <a:ext cx="23083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Why interfaces?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E05971-CF5D-C9C1-6E8E-43C15BCA0BF0}"/>
              </a:ext>
            </a:extLst>
          </p:cNvPr>
          <p:cNvSpPr txBox="1"/>
          <p:nvPr/>
        </p:nvSpPr>
        <p:spPr>
          <a:xfrm>
            <a:off x="430306" y="1268963"/>
            <a:ext cx="1106969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Interfaces decouple what classes should do from how they should it.</a:t>
            </a:r>
          </a:p>
          <a:p>
            <a:endParaRPr lang="en-US" dirty="0"/>
          </a:p>
          <a:p>
            <a:r>
              <a:rPr lang="en-US" dirty="0"/>
              <a:t>This is a fundamental brick for software scaling, it’s one of the main tool to detach components and make their behavior independent.</a:t>
            </a:r>
          </a:p>
          <a:p>
            <a:endParaRPr lang="en-US" dirty="0"/>
          </a:p>
          <a:p>
            <a:r>
              <a:rPr lang="en-US" dirty="0"/>
              <a:t>An interface is not a class but a set of requirements that the class must conform, to implement that interface.</a:t>
            </a:r>
          </a:p>
          <a:p>
            <a:endParaRPr lang="en-US" dirty="0"/>
          </a:p>
          <a:p>
            <a:r>
              <a:rPr lang="en-US" dirty="0"/>
              <a:t>The interface acts as a bridge between: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the consumer, that uses the interface services to operate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 implementer, that implements the interface requirements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dirty="0"/>
              <a:t>The implementer does not need to know how consumers will access the interface services.</a:t>
            </a:r>
          </a:p>
          <a:p>
            <a:endParaRPr lang="en-US" dirty="0"/>
          </a:p>
          <a:p>
            <a:r>
              <a:rPr lang="en-US" dirty="0"/>
              <a:t>The consumer does not need to know how implementers coded the interface services.</a:t>
            </a:r>
          </a:p>
        </p:txBody>
      </p:sp>
    </p:spTree>
    <p:extLst>
      <p:ext uri="{BB962C8B-B14F-4D97-AF65-F5344CB8AC3E}">
        <p14:creationId xmlns:p14="http://schemas.microsoft.com/office/powerpoint/2010/main" val="957592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C5B52-D0B2-B1F5-BEF5-0116F8FC2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B696B8A-3347-0B83-6F85-84B1FD3A4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Interfaces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E8BBB9-2423-6A5E-8869-C4455F095CF2}"/>
              </a:ext>
            </a:extLst>
          </p:cNvPr>
          <p:cNvSpPr txBox="1"/>
          <p:nvPr/>
        </p:nvSpPr>
        <p:spPr>
          <a:xfrm>
            <a:off x="4828881" y="205021"/>
            <a:ext cx="1579278" cy="1015663"/>
          </a:xfrm>
          <a:prstGeom prst="rect">
            <a:avLst/>
          </a:prstGeom>
          <a:solidFill>
            <a:schemeClr val="bg2">
              <a:lumMod val="75000"/>
              <a:alpha val="2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Vehicle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name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id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year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3C4A15-BC34-7EA5-4885-AB680AB09040}"/>
              </a:ext>
            </a:extLst>
          </p:cNvPr>
          <p:cNvSpPr txBox="1"/>
          <p:nvPr/>
        </p:nvSpPr>
        <p:spPr>
          <a:xfrm>
            <a:off x="494522" y="380349"/>
            <a:ext cx="2694969" cy="830997"/>
          </a:xfrm>
          <a:prstGeom prst="rect">
            <a:avLst/>
          </a:prstGeom>
          <a:solidFill>
            <a:srgbClr val="0070C0">
              <a:alpha val="20000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Car extends Vehicle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9C5CE8-6596-04CD-7C7E-2E8A3B7BBEAE}"/>
              </a:ext>
            </a:extLst>
          </p:cNvPr>
          <p:cNvSpPr txBox="1"/>
          <p:nvPr/>
        </p:nvSpPr>
        <p:spPr>
          <a:xfrm>
            <a:off x="6336977" y="4621653"/>
            <a:ext cx="2787943" cy="830997"/>
          </a:xfrm>
          <a:prstGeom prst="rect">
            <a:avLst/>
          </a:prstGeom>
          <a:solidFill>
            <a:srgbClr val="FFFF00">
              <a:alpha val="20000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Ship extends Vehicle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C4951B-E71B-0972-9C01-185CA0285D56}"/>
              </a:ext>
            </a:extLst>
          </p:cNvPr>
          <p:cNvSpPr txBox="1"/>
          <p:nvPr/>
        </p:nvSpPr>
        <p:spPr>
          <a:xfrm>
            <a:off x="8047549" y="380348"/>
            <a:ext cx="3159839" cy="830997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Airplane extends Vehicle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B5C522-BEDB-9AAC-CDDA-4576D284FFE4}"/>
              </a:ext>
            </a:extLst>
          </p:cNvPr>
          <p:cNvSpPr txBox="1"/>
          <p:nvPr/>
        </p:nvSpPr>
        <p:spPr>
          <a:xfrm>
            <a:off x="8047549" y="1814510"/>
            <a:ext cx="3345788" cy="830997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Helicopter extends Vehicle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BC0448-AC26-A7AF-BB20-A54E1D923C3B}"/>
              </a:ext>
            </a:extLst>
          </p:cNvPr>
          <p:cNvSpPr txBox="1"/>
          <p:nvPr/>
        </p:nvSpPr>
        <p:spPr>
          <a:xfrm>
            <a:off x="494522" y="1814511"/>
            <a:ext cx="3252814" cy="830997"/>
          </a:xfrm>
          <a:prstGeom prst="rect">
            <a:avLst/>
          </a:prstGeom>
          <a:solidFill>
            <a:srgbClr val="0070C0">
              <a:alpha val="20000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Motorbike extends Vehicle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4291C8-1307-9A3C-55E8-8D1DA00AA39F}"/>
              </a:ext>
            </a:extLst>
          </p:cNvPr>
          <p:cNvSpPr txBox="1"/>
          <p:nvPr/>
        </p:nvSpPr>
        <p:spPr>
          <a:xfrm>
            <a:off x="2830577" y="4658005"/>
            <a:ext cx="2787943" cy="830997"/>
          </a:xfrm>
          <a:prstGeom prst="rect">
            <a:avLst/>
          </a:prstGeom>
          <a:solidFill>
            <a:srgbClr val="FFFF00">
              <a:alpha val="20000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Boat extends Vehicle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CB8125-0C0A-5E03-4110-2305ECCFE641}"/>
              </a:ext>
            </a:extLst>
          </p:cNvPr>
          <p:cNvSpPr txBox="1"/>
          <p:nvPr/>
        </p:nvSpPr>
        <p:spPr>
          <a:xfrm>
            <a:off x="494522" y="3119828"/>
            <a:ext cx="3345788" cy="830997"/>
          </a:xfrm>
          <a:prstGeom prst="rect">
            <a:avLst/>
          </a:prstGeom>
          <a:solidFill>
            <a:srgbClr val="00B050">
              <a:alpha val="20000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Amphibious extends Vehicle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7B6A91-147C-980B-4AC5-2D27EC794B4E}"/>
              </a:ext>
            </a:extLst>
          </p:cNvPr>
          <p:cNvSpPr txBox="1"/>
          <p:nvPr/>
        </p:nvSpPr>
        <p:spPr>
          <a:xfrm>
            <a:off x="8047549" y="3119827"/>
            <a:ext cx="3159839" cy="830997"/>
          </a:xfrm>
          <a:prstGeom prst="rect">
            <a:avLst/>
          </a:prstGeom>
          <a:solidFill>
            <a:srgbClr val="FFC000">
              <a:alpha val="20000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Seaplane extends Vehicle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C24F10-C549-4291-2B6B-8E5F0B5D1781}"/>
              </a:ext>
            </a:extLst>
          </p:cNvPr>
          <p:cNvSpPr txBox="1"/>
          <p:nvPr/>
        </p:nvSpPr>
        <p:spPr>
          <a:xfrm>
            <a:off x="4265649" y="1599830"/>
            <a:ext cx="304019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Each vehicle has its own way</a:t>
            </a:r>
          </a:p>
          <a:p>
            <a:r>
              <a:rPr lang="en-US"/>
              <a:t>to park, and some vehicles</a:t>
            </a:r>
            <a:br>
              <a:rPr lang="en-US"/>
            </a:br>
            <a:r>
              <a:rPr lang="en-US"/>
              <a:t>support multiple parking</a:t>
            </a:r>
            <a:br>
              <a:rPr lang="en-US"/>
            </a:br>
            <a:r>
              <a:rPr lang="en-US"/>
              <a:t>ways ...</a:t>
            </a:r>
          </a:p>
          <a:p>
            <a:endParaRPr lang="en-US"/>
          </a:p>
          <a:p>
            <a:r>
              <a:rPr lang="en-US"/>
              <a:t>... but they don’t know where</a:t>
            </a:r>
          </a:p>
          <a:p>
            <a:r>
              <a:rPr lang="en-US"/>
              <a:t>they’ll park.</a:t>
            </a:r>
          </a:p>
        </p:txBody>
      </p:sp>
    </p:spTree>
    <p:extLst>
      <p:ext uri="{BB962C8B-B14F-4D97-AF65-F5344CB8AC3E}">
        <p14:creationId xmlns:p14="http://schemas.microsoft.com/office/powerpoint/2010/main" val="478143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7E5B9-9717-427E-8BF0-9A0669015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5D03EB5-B283-23A5-BAC8-E4056CE18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Interfaces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EAEE54-101D-2D9F-72AE-6624F8875335}"/>
              </a:ext>
            </a:extLst>
          </p:cNvPr>
          <p:cNvSpPr txBox="1"/>
          <p:nvPr/>
        </p:nvSpPr>
        <p:spPr>
          <a:xfrm>
            <a:off x="4828881" y="205021"/>
            <a:ext cx="1486304" cy="830997"/>
          </a:xfrm>
          <a:prstGeom prst="rect">
            <a:avLst/>
          </a:prstGeom>
          <a:solidFill>
            <a:schemeClr val="bg2">
              <a:lumMod val="50000"/>
              <a:alpha val="2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Hub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location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id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7B048A-A79B-91D7-1400-856FE577B7CC}"/>
              </a:ext>
            </a:extLst>
          </p:cNvPr>
          <p:cNvSpPr txBox="1"/>
          <p:nvPr/>
        </p:nvSpPr>
        <p:spPr>
          <a:xfrm>
            <a:off x="1418253" y="1822993"/>
            <a:ext cx="2694969" cy="1015663"/>
          </a:xfrm>
          <a:prstGeom prst="rect">
            <a:avLst/>
          </a:prstGeom>
          <a:solidFill>
            <a:srgbClr val="0070C0">
              <a:alpha val="20000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Parking extends Hub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places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floors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AE9036-0A9B-9936-95E2-8634403B36CF}"/>
              </a:ext>
            </a:extLst>
          </p:cNvPr>
          <p:cNvSpPr txBox="1"/>
          <p:nvPr/>
        </p:nvSpPr>
        <p:spPr>
          <a:xfrm>
            <a:off x="6315185" y="1915327"/>
            <a:ext cx="2787943" cy="830997"/>
          </a:xfrm>
          <a:prstGeom prst="rect">
            <a:avLst/>
          </a:prstGeom>
          <a:solidFill>
            <a:srgbClr val="FFC000">
              <a:alpha val="20000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Terminal extends Hub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gateId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destinations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AB9628-AF24-FEE0-7BD4-61CB3A5DCD7D}"/>
              </a:ext>
            </a:extLst>
          </p:cNvPr>
          <p:cNvSpPr txBox="1"/>
          <p:nvPr/>
        </p:nvSpPr>
        <p:spPr>
          <a:xfrm>
            <a:off x="4363843" y="3672667"/>
            <a:ext cx="2973891" cy="830997"/>
          </a:xfrm>
          <a:prstGeom prst="rect">
            <a:avLst/>
          </a:prstGeom>
          <a:solidFill>
            <a:srgbClr val="FFFF00">
              <a:alpha val="20000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Ferry extends Terminal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boats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7B551E-7E51-011C-FE5A-991CEAA2BFB4}"/>
              </a:ext>
            </a:extLst>
          </p:cNvPr>
          <p:cNvSpPr txBox="1"/>
          <p:nvPr/>
        </p:nvSpPr>
        <p:spPr>
          <a:xfrm>
            <a:off x="8317341" y="3672667"/>
            <a:ext cx="3159839" cy="1015663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Airport extends Terminal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isInternational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planes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C5A4B5-E0FE-DE0E-C2C2-AD122BBE2909}"/>
              </a:ext>
            </a:extLst>
          </p:cNvPr>
          <p:cNvSpPr txBox="1"/>
          <p:nvPr/>
        </p:nvSpPr>
        <p:spPr>
          <a:xfrm>
            <a:off x="494522" y="3640001"/>
            <a:ext cx="305551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Each hub needs to park</a:t>
            </a:r>
          </a:p>
          <a:p>
            <a:r>
              <a:rPr lang="en-US"/>
              <a:t>vehicles ...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... but how they can handle</a:t>
            </a:r>
          </a:p>
          <a:p>
            <a:r>
              <a:rPr lang="en-US"/>
              <a:t>all vehicle types according to</a:t>
            </a:r>
          </a:p>
          <a:p>
            <a:r>
              <a:rPr lang="en-US"/>
              <a:t>their parking methods?</a:t>
            </a:r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DCC18D0D-CF4D-D34F-9913-5DC9CDEA7290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rot="5400000" flipH="1" flipV="1">
            <a:off x="3775398" y="26359"/>
            <a:ext cx="786975" cy="2806295"/>
          </a:xfrm>
          <a:prstGeom prst="bentConnector3">
            <a:avLst>
              <a:gd name="adj1" fmla="val 4407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DBECC7F6-CFE7-93EB-90A7-28E4F2684F4E}"/>
              </a:ext>
            </a:extLst>
          </p:cNvPr>
          <p:cNvCxnSpPr>
            <a:cxnSpLocks/>
            <a:stCxn id="11" idx="0"/>
            <a:endCxn id="5" idx="2"/>
          </p:cNvCxnSpPr>
          <p:nvPr/>
        </p:nvCxnSpPr>
        <p:spPr>
          <a:xfrm rot="16200000" flipV="1">
            <a:off x="6200941" y="407111"/>
            <a:ext cx="879309" cy="213712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45C80E54-D108-B230-1B89-0BF381B4271B}"/>
              </a:ext>
            </a:extLst>
          </p:cNvPr>
          <p:cNvCxnSpPr>
            <a:cxnSpLocks/>
            <a:stCxn id="3" idx="0"/>
            <a:endCxn id="11" idx="2"/>
          </p:cNvCxnSpPr>
          <p:nvPr/>
        </p:nvCxnSpPr>
        <p:spPr>
          <a:xfrm rot="5400000" flipH="1" flipV="1">
            <a:off x="6316802" y="2280312"/>
            <a:ext cx="926343" cy="185836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6CC4C240-AA6C-3736-BBDA-744FA83CF35C}"/>
              </a:ext>
            </a:extLst>
          </p:cNvPr>
          <p:cNvCxnSpPr>
            <a:stCxn id="4" idx="0"/>
            <a:endCxn id="11" idx="2"/>
          </p:cNvCxnSpPr>
          <p:nvPr/>
        </p:nvCxnSpPr>
        <p:spPr>
          <a:xfrm rot="16200000" flipV="1">
            <a:off x="8340038" y="2115444"/>
            <a:ext cx="926343" cy="218810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050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DBA2B-CFB8-6384-48BC-2097A6457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DF3B677-55AB-A71F-9D79-793C42774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Interfaces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103AB8-ED47-0E78-0364-367714D7B5B8}"/>
              </a:ext>
            </a:extLst>
          </p:cNvPr>
          <p:cNvSpPr txBox="1"/>
          <p:nvPr/>
        </p:nvSpPr>
        <p:spPr>
          <a:xfrm>
            <a:off x="430306" y="398033"/>
            <a:ext cx="58046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What if we just use the OOP that we know?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A56D5B-4317-909E-977B-38CDE19E25C1}"/>
              </a:ext>
            </a:extLst>
          </p:cNvPr>
          <p:cNvSpPr txBox="1"/>
          <p:nvPr/>
        </p:nvSpPr>
        <p:spPr>
          <a:xfrm>
            <a:off x="430306" y="1268963"/>
            <a:ext cx="110592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 naïve one would be, for each Hub class, for example Parking, to write a park method for each allowed vehicle</a:t>
            </a:r>
            <a:br>
              <a:rPr lang="en-US"/>
            </a:br>
            <a:r>
              <a:rPr lang="en-US"/>
              <a:t>type that can park.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CB6CBE-A199-5D59-515F-EE95C35712F7}"/>
              </a:ext>
            </a:extLst>
          </p:cNvPr>
          <p:cNvSpPr txBox="1"/>
          <p:nvPr/>
        </p:nvSpPr>
        <p:spPr>
          <a:xfrm>
            <a:off x="430306" y="2195803"/>
            <a:ext cx="9640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It doesn’t scale vertically: we need to keep adding methods for each new vehicle that can “park”.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9A77FA-3AB8-FA7E-5CF7-F2D2CB77F09F}"/>
              </a:ext>
            </a:extLst>
          </p:cNvPr>
          <p:cNvSpPr txBox="1"/>
          <p:nvPr/>
        </p:nvSpPr>
        <p:spPr>
          <a:xfrm>
            <a:off x="430305" y="2845644"/>
            <a:ext cx="109454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It doesn’t scale horizontally: what if we want to park something else? Like an elephant, or a wheelchair. Those</a:t>
            </a:r>
            <a:br>
              <a:rPr lang="en-US"/>
            </a:br>
            <a:r>
              <a:rPr lang="en-US"/>
              <a:t>are not vehicles, but one could park them. Maybe.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30C48C-CFC1-55A5-49BA-884920C186D1}"/>
              </a:ext>
            </a:extLst>
          </p:cNvPr>
          <p:cNvSpPr txBox="1"/>
          <p:nvPr/>
        </p:nvSpPr>
        <p:spPr>
          <a:xfrm>
            <a:off x="430305" y="3775994"/>
            <a:ext cx="1134458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It binds forever two class hierarchies that have nothing in common, and they should not.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 binding means that any change to one of the hierarchy must require at best a recompilation of the depending</a:t>
            </a:r>
            <a:br>
              <a:rPr lang="en-US"/>
            </a:br>
            <a:r>
              <a:rPr lang="en-US"/>
              <a:t>one, at worst a change in the code of the depending 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It heavily reduces any chance of refactoring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It makes testing way more complicated, in some cases it can make the code untestable</a:t>
            </a:r>
          </a:p>
        </p:txBody>
      </p:sp>
    </p:spTree>
    <p:extLst>
      <p:ext uri="{BB962C8B-B14F-4D97-AF65-F5344CB8AC3E}">
        <p14:creationId xmlns:p14="http://schemas.microsoft.com/office/powerpoint/2010/main" val="3650303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A3953-FF1A-C3D7-1DE9-857CEFC96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C46C24E-310E-6BA0-DF02-BEA0E6DE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Interfaces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72D893-BB32-949D-6B94-19339D51C657}"/>
              </a:ext>
            </a:extLst>
          </p:cNvPr>
          <p:cNvSpPr txBox="1"/>
          <p:nvPr/>
        </p:nvSpPr>
        <p:spPr>
          <a:xfrm>
            <a:off x="430306" y="398033"/>
            <a:ext cx="3402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Interfaces to the rescue!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8CC3E2E-3E9B-F808-7D5F-1CEFD469C087}"/>
              </a:ext>
            </a:extLst>
          </p:cNvPr>
          <p:cNvGrpSpPr/>
          <p:nvPr/>
        </p:nvGrpSpPr>
        <p:grpSpPr>
          <a:xfrm>
            <a:off x="430306" y="1328352"/>
            <a:ext cx="10792611" cy="646450"/>
            <a:chOff x="430306" y="1328352"/>
            <a:chExt cx="10792611" cy="64645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44AC70-1A6C-B350-38D6-1BE95A0CD3B8}"/>
                </a:ext>
              </a:extLst>
            </p:cNvPr>
            <p:cNvSpPr txBox="1"/>
            <p:nvPr/>
          </p:nvSpPr>
          <p:spPr>
            <a:xfrm>
              <a:off x="430306" y="1328471"/>
              <a:ext cx="2323072" cy="646331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interface </a:t>
              </a:r>
              <a:r>
                <a:rPr lang="en-US" sz="12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Parkable</a:t>
              </a:r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{</a:t>
              </a:r>
            </a:p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</a:t>
              </a:r>
              <a:r>
                <a:rPr lang="en-US" sz="12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retType</a:t>
              </a:r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park(....);</a:t>
              </a:r>
            </a:p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2F37AC0-C4A7-33D4-29CB-A0AA2270C987}"/>
                </a:ext>
              </a:extLst>
            </p:cNvPr>
            <p:cNvCxnSpPr/>
            <p:nvPr/>
          </p:nvCxnSpPr>
          <p:spPr>
            <a:xfrm>
              <a:off x="3032449" y="1651518"/>
              <a:ext cx="110101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C43ED90-0258-1057-AC2F-0BD46A75E03A}"/>
                </a:ext>
              </a:extLst>
            </p:cNvPr>
            <p:cNvSpPr txBox="1"/>
            <p:nvPr/>
          </p:nvSpPr>
          <p:spPr>
            <a:xfrm>
              <a:off x="4516016" y="1328352"/>
              <a:ext cx="670690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It states the concept of parking, anything (REALLY ANYTHING) that</a:t>
              </a:r>
            </a:p>
            <a:p>
              <a:r>
                <a:rPr lang="en-US"/>
                <a:t>supports this interface can be parked.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A44D13B-5188-6159-3F21-001EC68E4F04}"/>
              </a:ext>
            </a:extLst>
          </p:cNvPr>
          <p:cNvGrpSpPr/>
          <p:nvPr/>
        </p:nvGrpSpPr>
        <p:grpSpPr>
          <a:xfrm>
            <a:off x="430306" y="2443575"/>
            <a:ext cx="7688940" cy="646331"/>
            <a:chOff x="430306" y="2443575"/>
            <a:chExt cx="7688940" cy="64633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FB88167-9C9B-66E4-F324-744FA1BE3713}"/>
                </a:ext>
              </a:extLst>
            </p:cNvPr>
            <p:cNvSpPr txBox="1"/>
            <p:nvPr/>
          </p:nvSpPr>
          <p:spPr>
            <a:xfrm>
              <a:off x="430306" y="2443575"/>
              <a:ext cx="2323072" cy="646331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</p:spPr>
          <p:txBody>
            <a:bodyPr wrap="none" rtlCol="0">
              <a:spAutoFit/>
            </a:bodyPr>
            <a:lstStyle/>
            <a:p>
              <a:r>
                <a:rPr lang="en-US" sz="1200">
                  <a:latin typeface="Courier New" panose="02070309020205020404" pitchFamily="49" charset="0"/>
                  <a:cs typeface="Courier New" panose="02070309020205020404" pitchFamily="49" charset="0"/>
                </a:rPr>
                <a:t>interface Dockable {</a:t>
              </a:r>
            </a:p>
            <a:p>
              <a:r>
                <a:rPr lang="en-US" sz="1200">
                  <a:latin typeface="Courier New" panose="02070309020205020404" pitchFamily="49" charset="0"/>
                  <a:cs typeface="Courier New" panose="02070309020205020404" pitchFamily="49" charset="0"/>
                </a:rPr>
                <a:t>    retType dock(....);</a:t>
              </a:r>
            </a:p>
            <a:p>
              <a:r>
                <a:rPr lang="en-US" sz="120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41341F0-381D-BEDE-230D-E8DBAF36FF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37588" y="2766740"/>
              <a:ext cx="1195873" cy="1689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7FA5138-8C60-DE6B-E22A-D1784E1B99F4}"/>
                </a:ext>
              </a:extLst>
            </p:cNvPr>
            <p:cNvSpPr txBox="1"/>
            <p:nvPr/>
          </p:nvSpPr>
          <p:spPr>
            <a:xfrm>
              <a:off x="4516016" y="2598966"/>
              <a:ext cx="36032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It states the concept of docking, ...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B2384C3-2B83-7357-1FEA-2DD9C0F48145}"/>
              </a:ext>
            </a:extLst>
          </p:cNvPr>
          <p:cNvGrpSpPr/>
          <p:nvPr/>
        </p:nvGrpSpPr>
        <p:grpSpPr>
          <a:xfrm>
            <a:off x="430306" y="3558679"/>
            <a:ext cx="7498888" cy="646331"/>
            <a:chOff x="430306" y="3558679"/>
            <a:chExt cx="7498888" cy="64633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9AEE5C8-B221-8734-70F7-628106719478}"/>
                </a:ext>
              </a:extLst>
            </p:cNvPr>
            <p:cNvSpPr txBox="1"/>
            <p:nvPr/>
          </p:nvSpPr>
          <p:spPr>
            <a:xfrm>
              <a:off x="430306" y="3558679"/>
              <a:ext cx="2323072" cy="646331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</p:spPr>
          <p:txBody>
            <a:bodyPr wrap="none" rtlCol="0">
              <a:spAutoFit/>
            </a:bodyPr>
            <a:lstStyle/>
            <a:p>
              <a:r>
                <a:rPr lang="en-US" sz="1200">
                  <a:latin typeface="Courier New" panose="02070309020205020404" pitchFamily="49" charset="0"/>
                  <a:cs typeface="Courier New" panose="02070309020205020404" pitchFamily="49" charset="0"/>
                </a:rPr>
                <a:t>interface Taxiable {</a:t>
              </a:r>
            </a:p>
            <a:p>
              <a:r>
                <a:rPr lang="en-US" sz="1200">
                  <a:latin typeface="Courier New" panose="02070309020205020404" pitchFamily="49" charset="0"/>
                  <a:cs typeface="Courier New" panose="02070309020205020404" pitchFamily="49" charset="0"/>
                </a:rPr>
                <a:t>    retType taxi(....);</a:t>
              </a:r>
            </a:p>
            <a:p>
              <a:r>
                <a:rPr lang="en-US" sz="120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A2F4C65-BBE9-2E3D-5918-AE68575F44BD}"/>
                </a:ext>
              </a:extLst>
            </p:cNvPr>
            <p:cNvCxnSpPr>
              <a:cxnSpLocks/>
            </p:cNvCxnSpPr>
            <p:nvPr/>
          </p:nvCxnSpPr>
          <p:spPr>
            <a:xfrm>
              <a:off x="2937588" y="3889703"/>
              <a:ext cx="119587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670F3EF-0060-7621-000D-15FF37D9CF71}"/>
                </a:ext>
              </a:extLst>
            </p:cNvPr>
            <p:cNvSpPr txBox="1"/>
            <p:nvPr/>
          </p:nvSpPr>
          <p:spPr>
            <a:xfrm>
              <a:off x="4516016" y="3705037"/>
              <a:ext cx="34131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It states the concept of taxing, ...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E59C2AD3-4DF3-2581-C770-0F301CF1F9D7}"/>
              </a:ext>
            </a:extLst>
          </p:cNvPr>
          <p:cNvSpPr txBox="1"/>
          <p:nvPr/>
        </p:nvSpPr>
        <p:spPr>
          <a:xfrm>
            <a:off x="430306" y="4917233"/>
            <a:ext cx="110366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Interfaces define </a:t>
            </a:r>
            <a:r>
              <a:rPr lang="en-US" b="1"/>
              <a:t>concepts</a:t>
            </a:r>
            <a:r>
              <a:rPr lang="en-US"/>
              <a:t>, requirements that classes must comply to, if they declare to implement them.</a:t>
            </a:r>
          </a:p>
          <a:p>
            <a:endParaRPr lang="en-US"/>
          </a:p>
          <a:p>
            <a:r>
              <a:rPr lang="en-US"/>
              <a:t>Interfaces consumers leverages such concepts only, they don’t care anymore in which ending implementation</a:t>
            </a:r>
          </a:p>
          <a:p>
            <a:r>
              <a:rPr lang="en-US"/>
              <a:t>they turn into.</a:t>
            </a:r>
          </a:p>
        </p:txBody>
      </p:sp>
    </p:spTree>
    <p:extLst>
      <p:ext uri="{BB962C8B-B14F-4D97-AF65-F5344CB8AC3E}">
        <p14:creationId xmlns:p14="http://schemas.microsoft.com/office/powerpoint/2010/main" val="918935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6261F-99D9-7131-3F88-3EFF4441A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4BB0DC0-35F6-FA72-CAC7-D37F757F8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Interfaces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180CEC-CB09-197A-4562-59994F3D81BD}"/>
              </a:ext>
            </a:extLst>
          </p:cNvPr>
          <p:cNvSpPr txBox="1"/>
          <p:nvPr/>
        </p:nvSpPr>
        <p:spPr>
          <a:xfrm>
            <a:off x="4828881" y="205021"/>
            <a:ext cx="1486304" cy="830997"/>
          </a:xfrm>
          <a:prstGeom prst="rect">
            <a:avLst/>
          </a:prstGeom>
          <a:solidFill>
            <a:schemeClr val="bg2">
              <a:lumMod val="50000"/>
              <a:alpha val="2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Hub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location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id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8420B5-9D71-38F1-352F-B1FD45049C42}"/>
              </a:ext>
            </a:extLst>
          </p:cNvPr>
          <p:cNvSpPr txBox="1"/>
          <p:nvPr/>
        </p:nvSpPr>
        <p:spPr>
          <a:xfrm>
            <a:off x="1418253" y="1822993"/>
            <a:ext cx="2694969" cy="2123658"/>
          </a:xfrm>
          <a:prstGeom prst="rect">
            <a:avLst/>
          </a:prstGeom>
          <a:solidFill>
            <a:srgbClr val="0070C0">
              <a:alpha val="20000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Parking extends Hub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places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floors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void doPark(Parkable p)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p.park(....);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8B4CF6-8376-C653-C4FB-9FEB73A671CC}"/>
              </a:ext>
            </a:extLst>
          </p:cNvPr>
          <p:cNvSpPr txBox="1"/>
          <p:nvPr/>
        </p:nvSpPr>
        <p:spPr>
          <a:xfrm>
            <a:off x="6315185" y="1915327"/>
            <a:ext cx="2787943" cy="830997"/>
          </a:xfrm>
          <a:prstGeom prst="rect">
            <a:avLst/>
          </a:prstGeom>
          <a:solidFill>
            <a:srgbClr val="FFC000">
              <a:alpha val="20000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Terminal extends Hub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gateId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destinations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E0FFFF-7910-9D14-7B92-225C421C33D6}"/>
              </a:ext>
            </a:extLst>
          </p:cNvPr>
          <p:cNvSpPr txBox="1"/>
          <p:nvPr/>
        </p:nvSpPr>
        <p:spPr>
          <a:xfrm>
            <a:off x="4363843" y="3672667"/>
            <a:ext cx="2973891" cy="2123658"/>
          </a:xfrm>
          <a:prstGeom prst="rect">
            <a:avLst/>
          </a:prstGeom>
          <a:solidFill>
            <a:srgbClr val="FFFF00">
              <a:alpha val="20000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Ferry extends Terminal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boats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void doDock(Dockable d)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d.dock(....);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BC7663-7F53-9A2D-0425-E7ADFF574A53}"/>
              </a:ext>
            </a:extLst>
          </p:cNvPr>
          <p:cNvSpPr txBox="1"/>
          <p:nvPr/>
        </p:nvSpPr>
        <p:spPr>
          <a:xfrm>
            <a:off x="8317341" y="3672667"/>
            <a:ext cx="3159839" cy="2308324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Airport extends Terminal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isInternational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planes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void doTaxi(Taxiable t)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t.taxi(....);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B9F28A71-6B1F-7336-780D-51D5CD7AAB71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rot="5400000" flipH="1" flipV="1">
            <a:off x="3775398" y="26359"/>
            <a:ext cx="786975" cy="2806295"/>
          </a:xfrm>
          <a:prstGeom prst="bentConnector3">
            <a:avLst>
              <a:gd name="adj1" fmla="val 4407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54A47B09-92C2-7B38-F924-45280D1C7D76}"/>
              </a:ext>
            </a:extLst>
          </p:cNvPr>
          <p:cNvCxnSpPr>
            <a:cxnSpLocks/>
            <a:stCxn id="11" idx="0"/>
            <a:endCxn id="5" idx="2"/>
          </p:cNvCxnSpPr>
          <p:nvPr/>
        </p:nvCxnSpPr>
        <p:spPr>
          <a:xfrm rot="16200000" flipV="1">
            <a:off x="6200941" y="407111"/>
            <a:ext cx="879309" cy="213712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41F73E11-39AE-A5B0-3BF2-F868EE68941E}"/>
              </a:ext>
            </a:extLst>
          </p:cNvPr>
          <p:cNvCxnSpPr>
            <a:cxnSpLocks/>
            <a:stCxn id="3" idx="0"/>
            <a:endCxn id="11" idx="2"/>
          </p:cNvCxnSpPr>
          <p:nvPr/>
        </p:nvCxnSpPr>
        <p:spPr>
          <a:xfrm rot="5400000" flipH="1" flipV="1">
            <a:off x="6316802" y="2280312"/>
            <a:ext cx="926343" cy="185836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6A17E6B0-DD29-8CE9-6506-7D23830BA43B}"/>
              </a:ext>
            </a:extLst>
          </p:cNvPr>
          <p:cNvCxnSpPr>
            <a:stCxn id="4" idx="0"/>
            <a:endCxn id="11" idx="2"/>
          </p:cNvCxnSpPr>
          <p:nvPr/>
        </p:nvCxnSpPr>
        <p:spPr>
          <a:xfrm rot="16200000" flipV="1">
            <a:off x="8340038" y="2115444"/>
            <a:ext cx="926343" cy="218810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3787F68-AE16-DC35-7865-8476E5247976}"/>
              </a:ext>
            </a:extLst>
          </p:cNvPr>
          <p:cNvSpPr txBox="1"/>
          <p:nvPr/>
        </p:nvSpPr>
        <p:spPr>
          <a:xfrm>
            <a:off x="175497" y="4275845"/>
            <a:ext cx="638976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The consumers just use interfaces.</a:t>
            </a:r>
          </a:p>
          <a:p>
            <a:endParaRPr lang="en-US"/>
          </a:p>
          <a:p>
            <a:r>
              <a:rPr lang="en-US"/>
              <a:t>They don’t even know what a Vehicle is.</a:t>
            </a:r>
          </a:p>
          <a:p>
            <a:endParaRPr lang="en-US"/>
          </a:p>
          <a:p>
            <a:r>
              <a:rPr lang="en-US"/>
              <a:t>They don’t even care if it’s a Vehicle.</a:t>
            </a:r>
          </a:p>
          <a:p>
            <a:endParaRPr lang="en-US"/>
          </a:p>
          <a:p>
            <a:r>
              <a:rPr lang="en-US"/>
              <a:t>As long as something can be parked, docked or taxi-ed, it’s fine.</a:t>
            </a:r>
          </a:p>
        </p:txBody>
      </p:sp>
    </p:spTree>
    <p:extLst>
      <p:ext uri="{BB962C8B-B14F-4D97-AF65-F5344CB8AC3E}">
        <p14:creationId xmlns:p14="http://schemas.microsoft.com/office/powerpoint/2010/main" val="93008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0ACD2-29FF-5B5B-130C-ADA89C5C8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885C466-7AB4-7E1A-B16D-8CCDD80CC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Interfaces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33EA53-4351-A502-4F3F-D3043DB1F34A}"/>
              </a:ext>
            </a:extLst>
          </p:cNvPr>
          <p:cNvSpPr txBox="1"/>
          <p:nvPr/>
        </p:nvSpPr>
        <p:spPr>
          <a:xfrm>
            <a:off x="494522" y="380349"/>
            <a:ext cx="4554452" cy="1384995"/>
          </a:xfrm>
          <a:prstGeom prst="rect">
            <a:avLst/>
          </a:prstGeom>
          <a:solidFill>
            <a:srgbClr val="0070C0">
              <a:alpha val="20000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Car extends Vehicle implements Parkable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retType park(...)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....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68CF71-F67F-11FC-D17A-731C9688C33D}"/>
              </a:ext>
            </a:extLst>
          </p:cNvPr>
          <p:cNvSpPr txBox="1"/>
          <p:nvPr/>
        </p:nvSpPr>
        <p:spPr>
          <a:xfrm>
            <a:off x="3772287" y="4770277"/>
            <a:ext cx="4647426" cy="1384995"/>
          </a:xfrm>
          <a:prstGeom prst="rect">
            <a:avLst/>
          </a:prstGeom>
          <a:solidFill>
            <a:srgbClr val="FFFF00">
              <a:alpha val="20000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Ship extends Vehicle implements Dockable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retType dock(...)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....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9297ED-C13E-4C2D-4D39-4B53794EF829}"/>
              </a:ext>
            </a:extLst>
          </p:cNvPr>
          <p:cNvSpPr txBox="1"/>
          <p:nvPr/>
        </p:nvSpPr>
        <p:spPr>
          <a:xfrm>
            <a:off x="6788465" y="380349"/>
            <a:ext cx="5019323" cy="138499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Airplane extends Vehicle implements Taxiable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retType taxi(...)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....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A716CA-DBC5-53C0-398C-00AACF0E6CA3}"/>
              </a:ext>
            </a:extLst>
          </p:cNvPr>
          <p:cNvSpPr txBox="1"/>
          <p:nvPr/>
        </p:nvSpPr>
        <p:spPr>
          <a:xfrm>
            <a:off x="1145341" y="2077424"/>
            <a:ext cx="3252814" cy="2308324"/>
          </a:xfrm>
          <a:prstGeom prst="rect">
            <a:avLst/>
          </a:prstGeom>
          <a:solidFill>
            <a:srgbClr val="00B050">
              <a:alpha val="20000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Amphibious extends Vehicle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implements Parkable, Dockable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retType park(...)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....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retType dock(...)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....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2B154A-37C6-92DF-3D5E-B36B8B466DDD}"/>
              </a:ext>
            </a:extLst>
          </p:cNvPr>
          <p:cNvSpPr txBox="1"/>
          <p:nvPr/>
        </p:nvSpPr>
        <p:spPr>
          <a:xfrm>
            <a:off x="7671719" y="2077424"/>
            <a:ext cx="3252814" cy="2308324"/>
          </a:xfrm>
          <a:prstGeom prst="rect">
            <a:avLst/>
          </a:prstGeom>
          <a:solidFill>
            <a:srgbClr val="FFC000">
              <a:alpha val="20000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Seaplane extends Vehicle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implements Dockable, Taxiable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retType dock(...)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....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retType taxi(...)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....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4B1450-AB46-0402-1222-D86C460B2E59}"/>
              </a:ext>
            </a:extLst>
          </p:cNvPr>
          <p:cNvSpPr txBox="1"/>
          <p:nvPr/>
        </p:nvSpPr>
        <p:spPr>
          <a:xfrm>
            <a:off x="4899871" y="2344480"/>
            <a:ext cx="23922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We have vehicles</a:t>
            </a:r>
          </a:p>
          <a:p>
            <a:pPr algn="ctr"/>
            <a:r>
              <a:rPr lang="en-US"/>
              <a:t>that supports multiple</a:t>
            </a:r>
          </a:p>
          <a:p>
            <a:pPr algn="ctr"/>
            <a:r>
              <a:rPr lang="en-US"/>
              <a:t>parking methods!!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5FF3393-3277-FF56-5133-4B30CD38F9DE}"/>
              </a:ext>
            </a:extLst>
          </p:cNvPr>
          <p:cNvCxnSpPr/>
          <p:nvPr/>
        </p:nvCxnSpPr>
        <p:spPr>
          <a:xfrm flipH="1">
            <a:off x="4534678" y="3267810"/>
            <a:ext cx="998375" cy="240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AC26554-B6F5-E568-0DCF-4C2BB38CD8C2}"/>
              </a:ext>
            </a:extLst>
          </p:cNvPr>
          <p:cNvCxnSpPr/>
          <p:nvPr/>
        </p:nvCxnSpPr>
        <p:spPr>
          <a:xfrm>
            <a:off x="6606073" y="3231586"/>
            <a:ext cx="905070" cy="2767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9486A22-74A8-E7F7-8168-E11C553FE520}"/>
              </a:ext>
            </a:extLst>
          </p:cNvPr>
          <p:cNvSpPr txBox="1"/>
          <p:nvPr/>
        </p:nvSpPr>
        <p:spPr>
          <a:xfrm>
            <a:off x="205273" y="5001109"/>
            <a:ext cx="33211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Vehicles have no idea about</a:t>
            </a:r>
          </a:p>
          <a:p>
            <a:r>
              <a:rPr lang="en-US"/>
              <a:t>which component will use</a:t>
            </a:r>
          </a:p>
          <a:p>
            <a:r>
              <a:rPr lang="en-US"/>
              <a:t>their concepts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670856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2" grpId="0" animBg="1"/>
      <p:bldP spid="13" grpId="0" animBg="1"/>
      <p:bldP spid="3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75388-2F2D-0823-4BBD-2F266E407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E58EC55-FD9D-EA99-BC7B-6A07C87E8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Interfaces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2DD9EE-8B4E-3F4C-3969-E75DAA0748C9}"/>
              </a:ext>
            </a:extLst>
          </p:cNvPr>
          <p:cNvSpPr txBox="1"/>
          <p:nvPr/>
        </p:nvSpPr>
        <p:spPr>
          <a:xfrm>
            <a:off x="7182248" y="2274838"/>
            <a:ext cx="3252814" cy="2308324"/>
          </a:xfrm>
          <a:prstGeom prst="rect">
            <a:avLst/>
          </a:prstGeom>
          <a:solidFill>
            <a:srgbClr val="00B050">
              <a:alpha val="20000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Amphibious extends Vehicle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implements Parkable, Dockable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retType park(...)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....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retType dock(...)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....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5DFC1F-18B7-9A74-44F4-D01B2B9A63AE}"/>
              </a:ext>
            </a:extLst>
          </p:cNvPr>
          <p:cNvSpPr txBox="1"/>
          <p:nvPr/>
        </p:nvSpPr>
        <p:spPr>
          <a:xfrm>
            <a:off x="2023150" y="931619"/>
            <a:ext cx="2694969" cy="2123658"/>
          </a:xfrm>
          <a:prstGeom prst="rect">
            <a:avLst/>
          </a:prstGeom>
          <a:solidFill>
            <a:srgbClr val="0070C0">
              <a:alpha val="20000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Parking extends Hub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places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floors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void doPark(Parkable p)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p.park(....);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77E68A-B529-E220-FD95-10F19E7EDCB8}"/>
              </a:ext>
            </a:extLst>
          </p:cNvPr>
          <p:cNvSpPr txBox="1"/>
          <p:nvPr/>
        </p:nvSpPr>
        <p:spPr>
          <a:xfrm>
            <a:off x="1744228" y="3710390"/>
            <a:ext cx="2973891" cy="2123658"/>
          </a:xfrm>
          <a:prstGeom prst="rect">
            <a:avLst/>
          </a:prstGeom>
          <a:solidFill>
            <a:srgbClr val="FFFF00">
              <a:alpha val="20000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Ferry extends Terminal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boats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void doDock(Dockable d)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d.dock(....);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4F56200-0EFB-75E6-E26E-E58EEAA30529}"/>
              </a:ext>
            </a:extLst>
          </p:cNvPr>
          <p:cNvGrpSpPr/>
          <p:nvPr/>
        </p:nvGrpSpPr>
        <p:grpSpPr>
          <a:xfrm>
            <a:off x="4817374" y="1670282"/>
            <a:ext cx="2309136" cy="1859667"/>
            <a:chOff x="4817374" y="1670282"/>
            <a:chExt cx="2309136" cy="1859667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89E6E48-28B3-AFE4-EF16-560AC30E20FA}"/>
                </a:ext>
              </a:extLst>
            </p:cNvPr>
            <p:cNvCxnSpPr/>
            <p:nvPr/>
          </p:nvCxnSpPr>
          <p:spPr>
            <a:xfrm flipH="1" flipV="1">
              <a:off x="4926563" y="1912776"/>
              <a:ext cx="2136710" cy="71845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C2A5CE2-4011-BBBF-4842-7CCE2FEC9B7C}"/>
                </a:ext>
              </a:extLst>
            </p:cNvPr>
            <p:cNvSpPr txBox="1"/>
            <p:nvPr/>
          </p:nvSpPr>
          <p:spPr>
            <a:xfrm rot="1140252">
              <a:off x="5310308" y="1670282"/>
              <a:ext cx="181620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/>
                <a:t>Here we just see</a:t>
              </a:r>
            </a:p>
            <a:p>
              <a:pPr algn="ctr"/>
              <a:r>
                <a:rPr lang="en-US"/>
                <a:t>a parkable item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9D55014-F635-8AE4-BB3A-F2826F3EE204}"/>
                </a:ext>
              </a:extLst>
            </p:cNvPr>
            <p:cNvSpPr txBox="1"/>
            <p:nvPr/>
          </p:nvSpPr>
          <p:spPr>
            <a:xfrm rot="1140252">
              <a:off x="4817374" y="2329620"/>
              <a:ext cx="2265620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/>
                <a:t>Parking doesn’t</a:t>
              </a:r>
              <a:br>
                <a:rPr lang="en-US"/>
              </a:br>
              <a:r>
                <a:rPr lang="en-US"/>
                <a:t>care that is a vehicle,</a:t>
              </a:r>
            </a:p>
            <a:p>
              <a:pPr algn="ctr"/>
              <a:r>
                <a:rPr lang="en-US"/>
                <a:t>it doesn’t care that it</a:t>
              </a:r>
              <a:br>
                <a:rPr lang="en-US"/>
              </a:br>
              <a:r>
                <a:rPr lang="en-US"/>
                <a:t>can dock too!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18BED48-46E4-8890-2A90-4360831C911B}"/>
              </a:ext>
            </a:extLst>
          </p:cNvPr>
          <p:cNvGrpSpPr/>
          <p:nvPr/>
        </p:nvGrpSpPr>
        <p:grpSpPr>
          <a:xfrm>
            <a:off x="4926563" y="4114800"/>
            <a:ext cx="2136710" cy="1000361"/>
            <a:chOff x="4926563" y="4114800"/>
            <a:chExt cx="2136710" cy="1000361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FF439CC7-9DDF-26DA-412D-EA11425BE3D9}"/>
                </a:ext>
              </a:extLst>
            </p:cNvPr>
            <p:cNvCxnSpPr/>
            <p:nvPr/>
          </p:nvCxnSpPr>
          <p:spPr>
            <a:xfrm flipH="1">
              <a:off x="4926563" y="4114800"/>
              <a:ext cx="2136710" cy="6574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3BA05C4-A6B9-8F3E-4244-4A95095C8098}"/>
                </a:ext>
              </a:extLst>
            </p:cNvPr>
            <p:cNvSpPr txBox="1"/>
            <p:nvPr/>
          </p:nvSpPr>
          <p:spPr>
            <a:xfrm rot="20551099">
              <a:off x="5191298" y="4468830"/>
              <a:ext cx="181620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/>
                <a:t>Here we just see</a:t>
              </a:r>
            </a:p>
            <a:p>
              <a:pPr algn="ctr"/>
              <a:r>
                <a:rPr lang="en-US"/>
                <a:t>a dockable item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9A998BB-13E1-106A-EC51-5E0D71B0D08A}"/>
              </a:ext>
            </a:extLst>
          </p:cNvPr>
          <p:cNvGrpSpPr/>
          <p:nvPr/>
        </p:nvGrpSpPr>
        <p:grpSpPr>
          <a:xfrm>
            <a:off x="6099399" y="382555"/>
            <a:ext cx="1747789" cy="5691674"/>
            <a:chOff x="6099399" y="382555"/>
            <a:chExt cx="1747789" cy="5691674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64DE29-5355-1E89-2CE8-FE64CB6994CD}"/>
                </a:ext>
              </a:extLst>
            </p:cNvPr>
            <p:cNvCxnSpPr/>
            <p:nvPr/>
          </p:nvCxnSpPr>
          <p:spPr>
            <a:xfrm>
              <a:off x="6099399" y="382555"/>
              <a:ext cx="0" cy="5691674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1B8833C-0885-538D-FFFE-B7E9D26A93E8}"/>
                </a:ext>
              </a:extLst>
            </p:cNvPr>
            <p:cNvSpPr txBox="1"/>
            <p:nvPr/>
          </p:nvSpPr>
          <p:spPr>
            <a:xfrm>
              <a:off x="6218409" y="727788"/>
              <a:ext cx="16287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rgbClr val="FF0000"/>
                  </a:solidFill>
                </a:rPr>
                <a:t>DECOUPLING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A163F32B-E6DE-33C0-C4E1-DD1ACDCDA705}"/>
              </a:ext>
            </a:extLst>
          </p:cNvPr>
          <p:cNvSpPr txBox="1"/>
          <p:nvPr/>
        </p:nvSpPr>
        <p:spPr>
          <a:xfrm>
            <a:off x="7182248" y="5014218"/>
            <a:ext cx="491031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Parking parking = new Parking(...);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Amphibious amphibious = new Amphibious(...);</a:t>
            </a:r>
          </a:p>
          <a:p>
            <a:endParaRPr 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parking.doPark(amphibious);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F94F35-DBCC-6907-724D-98053CD8AF6D}"/>
              </a:ext>
            </a:extLst>
          </p:cNvPr>
          <p:cNvSpPr txBox="1"/>
          <p:nvPr/>
        </p:nvSpPr>
        <p:spPr>
          <a:xfrm>
            <a:off x="58124" y="840385"/>
            <a:ext cx="196502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 consumer</a:t>
            </a:r>
          </a:p>
          <a:p>
            <a:r>
              <a:rPr lang="en-US"/>
              <a:t>just sees the</a:t>
            </a:r>
          </a:p>
          <a:p>
            <a:r>
              <a:rPr lang="en-US"/>
              <a:t>interface that is</a:t>
            </a:r>
            <a:br>
              <a:rPr lang="en-US"/>
            </a:br>
            <a:r>
              <a:rPr lang="en-US"/>
              <a:t>interested in.</a:t>
            </a:r>
          </a:p>
          <a:p>
            <a:endParaRPr lang="en-US"/>
          </a:p>
          <a:p>
            <a:r>
              <a:rPr lang="en-US"/>
              <a:t>Interfaces change</a:t>
            </a:r>
            <a:br>
              <a:rPr lang="en-US"/>
            </a:br>
            <a:r>
              <a:rPr lang="en-US"/>
              <a:t>the way you see</a:t>
            </a:r>
            <a:br>
              <a:rPr lang="en-US"/>
            </a:br>
            <a:r>
              <a:rPr lang="en-US"/>
              <a:t>an object.</a:t>
            </a:r>
          </a:p>
        </p:txBody>
      </p:sp>
    </p:spTree>
    <p:extLst>
      <p:ext uri="{BB962C8B-B14F-4D97-AF65-F5344CB8AC3E}">
        <p14:creationId xmlns:p14="http://schemas.microsoft.com/office/powerpoint/2010/main" val="434884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E817C-056F-3E65-8E2C-EE0701318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738EBF1-0F28-DBEF-3FC5-87655AB41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Interfaces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1E4C31-C6F1-A857-5B84-6A36CD6697BB}"/>
              </a:ext>
            </a:extLst>
          </p:cNvPr>
          <p:cNvSpPr txBox="1"/>
          <p:nvPr/>
        </p:nvSpPr>
        <p:spPr>
          <a:xfrm>
            <a:off x="7182248" y="2274838"/>
            <a:ext cx="3252814" cy="2308324"/>
          </a:xfrm>
          <a:prstGeom prst="rect">
            <a:avLst/>
          </a:prstGeom>
          <a:solidFill>
            <a:srgbClr val="00B050">
              <a:alpha val="20000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Amphibious extends Vehicle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implements Parkable, Dockable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retType park(...)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....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retType dock(...)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....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B73DF6-8D4A-E46A-B92D-1FA37DA7001C}"/>
              </a:ext>
            </a:extLst>
          </p:cNvPr>
          <p:cNvSpPr txBox="1"/>
          <p:nvPr/>
        </p:nvSpPr>
        <p:spPr>
          <a:xfrm>
            <a:off x="2321582" y="2273396"/>
            <a:ext cx="2694969" cy="2123658"/>
          </a:xfrm>
          <a:prstGeom prst="rect">
            <a:avLst/>
          </a:prstGeom>
          <a:solidFill>
            <a:srgbClr val="0070C0">
              <a:alpha val="20000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Parking extends Hub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places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floors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void doPark(Parkable p)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p.park(....);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0B194CE-A4F6-4520-3639-D8AE942B59CE}"/>
              </a:ext>
            </a:extLst>
          </p:cNvPr>
          <p:cNvGrpSpPr/>
          <p:nvPr/>
        </p:nvGrpSpPr>
        <p:grpSpPr>
          <a:xfrm>
            <a:off x="6099399" y="382555"/>
            <a:ext cx="1747789" cy="5430416"/>
            <a:chOff x="6099399" y="382555"/>
            <a:chExt cx="1747789" cy="5430416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521EB65-92FC-C0EC-76C2-E761AB539839}"/>
                </a:ext>
              </a:extLst>
            </p:cNvPr>
            <p:cNvCxnSpPr>
              <a:cxnSpLocks/>
            </p:cNvCxnSpPr>
            <p:nvPr/>
          </p:nvCxnSpPr>
          <p:spPr>
            <a:xfrm>
              <a:off x="6099399" y="382555"/>
              <a:ext cx="0" cy="5430416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BB4FC0D-3468-8C12-B6A5-5410A58603DD}"/>
                </a:ext>
              </a:extLst>
            </p:cNvPr>
            <p:cNvSpPr txBox="1"/>
            <p:nvPr/>
          </p:nvSpPr>
          <p:spPr>
            <a:xfrm>
              <a:off x="6218409" y="727788"/>
              <a:ext cx="16287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rgbClr val="FF0000"/>
                  </a:solidFill>
                </a:rPr>
                <a:t>DECOUPLING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5214382-C8FA-470D-D584-646E3026D894}"/>
              </a:ext>
            </a:extLst>
          </p:cNvPr>
          <p:cNvSpPr txBox="1"/>
          <p:nvPr/>
        </p:nvSpPr>
        <p:spPr>
          <a:xfrm>
            <a:off x="430306" y="398033"/>
            <a:ext cx="5307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Parallel and independent development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F0B64A-AAD2-FBD6-570A-64120FA4B0BE}"/>
              </a:ext>
            </a:extLst>
          </p:cNvPr>
          <p:cNvSpPr txBox="1"/>
          <p:nvPr/>
        </p:nvSpPr>
        <p:spPr>
          <a:xfrm>
            <a:off x="522514" y="1212980"/>
            <a:ext cx="47405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Parking developers do not need to know about</a:t>
            </a:r>
          </a:p>
          <a:p>
            <a:r>
              <a:rPr lang="en-US"/>
              <a:t>Vehicles or whatever they are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10F97F-A71F-A985-1D2C-9477514690F5}"/>
              </a:ext>
            </a:extLst>
          </p:cNvPr>
          <p:cNvSpPr txBox="1"/>
          <p:nvPr/>
        </p:nvSpPr>
        <p:spPr>
          <a:xfrm>
            <a:off x="430306" y="4998689"/>
            <a:ext cx="3582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They just work with Parkable items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FEFA26-BBE8-5969-E497-6439EB2F55FC}"/>
              </a:ext>
            </a:extLst>
          </p:cNvPr>
          <p:cNvSpPr txBox="1"/>
          <p:nvPr/>
        </p:nvSpPr>
        <p:spPr>
          <a:xfrm>
            <a:off x="6543869" y="1212980"/>
            <a:ext cx="47400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Vehicle developers do not need to know about</a:t>
            </a:r>
          </a:p>
          <a:p>
            <a:r>
              <a:rPr lang="en-US"/>
              <a:t>Parking systems or whatever they are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CC38F7-0809-EBED-90E5-6CE861826370}"/>
              </a:ext>
            </a:extLst>
          </p:cNvPr>
          <p:cNvSpPr txBox="1"/>
          <p:nvPr/>
        </p:nvSpPr>
        <p:spPr>
          <a:xfrm>
            <a:off x="6543869" y="4998689"/>
            <a:ext cx="4675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They just work on the parking implementation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5493B1-C77E-A758-403A-0232C914CB58}"/>
              </a:ext>
            </a:extLst>
          </p:cNvPr>
          <p:cNvSpPr txBox="1"/>
          <p:nvPr/>
        </p:nvSpPr>
        <p:spPr>
          <a:xfrm>
            <a:off x="2056711" y="5889563"/>
            <a:ext cx="8974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 change on one side does not affect the other, as long as the interface does not change!!</a:t>
            </a:r>
          </a:p>
        </p:txBody>
      </p:sp>
    </p:spTree>
    <p:extLst>
      <p:ext uri="{BB962C8B-B14F-4D97-AF65-F5344CB8AC3E}">
        <p14:creationId xmlns:p14="http://schemas.microsoft.com/office/powerpoint/2010/main" val="2969767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320A8-127E-A26A-7266-AFBC7A956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1C61D29-E7C4-C62C-5000-3732F873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Interfaces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96F173-68A1-9417-390F-F88FACD1F0FA}"/>
              </a:ext>
            </a:extLst>
          </p:cNvPr>
          <p:cNvSpPr txBox="1"/>
          <p:nvPr/>
        </p:nvSpPr>
        <p:spPr>
          <a:xfrm>
            <a:off x="7182248" y="2274838"/>
            <a:ext cx="3252814" cy="2308324"/>
          </a:xfrm>
          <a:prstGeom prst="rect">
            <a:avLst/>
          </a:prstGeom>
          <a:solidFill>
            <a:srgbClr val="00B050">
              <a:alpha val="20000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Amphibious extends Vehicle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implements Parkable, Dockable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retType park(...)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....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retType dock(...)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....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145A99-807C-70EC-844F-3FE2CD8E6425}"/>
              </a:ext>
            </a:extLst>
          </p:cNvPr>
          <p:cNvSpPr txBox="1"/>
          <p:nvPr/>
        </p:nvSpPr>
        <p:spPr>
          <a:xfrm>
            <a:off x="2321582" y="2273396"/>
            <a:ext cx="2694969" cy="2123658"/>
          </a:xfrm>
          <a:prstGeom prst="rect">
            <a:avLst/>
          </a:prstGeom>
          <a:solidFill>
            <a:srgbClr val="0070C0">
              <a:alpha val="20000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Parking extends Hub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places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floors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void doPark(Parkable p)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p.park(....);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200CBC-F5BF-2A75-DF1D-2E5740E95C87}"/>
              </a:ext>
            </a:extLst>
          </p:cNvPr>
          <p:cNvGrpSpPr/>
          <p:nvPr/>
        </p:nvGrpSpPr>
        <p:grpSpPr>
          <a:xfrm>
            <a:off x="6099399" y="382555"/>
            <a:ext cx="1747789" cy="5691674"/>
            <a:chOff x="6099399" y="382555"/>
            <a:chExt cx="1747789" cy="5691674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AF7D87D-BABF-95ED-C8A4-7E6021782C20}"/>
                </a:ext>
              </a:extLst>
            </p:cNvPr>
            <p:cNvCxnSpPr/>
            <p:nvPr/>
          </p:nvCxnSpPr>
          <p:spPr>
            <a:xfrm>
              <a:off x="6099399" y="382555"/>
              <a:ext cx="0" cy="5691674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2AE4D0B-2C3B-8BF7-1E26-EBD416C87CFF}"/>
                </a:ext>
              </a:extLst>
            </p:cNvPr>
            <p:cNvSpPr txBox="1"/>
            <p:nvPr/>
          </p:nvSpPr>
          <p:spPr>
            <a:xfrm>
              <a:off x="6218409" y="727788"/>
              <a:ext cx="16287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rgbClr val="FF0000"/>
                  </a:solidFill>
                </a:rPr>
                <a:t>DECOUPLING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2865A10-7541-1D18-3D88-4754184AB4AB}"/>
              </a:ext>
            </a:extLst>
          </p:cNvPr>
          <p:cNvSpPr txBox="1"/>
          <p:nvPr/>
        </p:nvSpPr>
        <p:spPr>
          <a:xfrm>
            <a:off x="430306" y="398033"/>
            <a:ext cx="1108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Testing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40969C-0EA2-C0EE-11FB-7F8E466932AA}"/>
              </a:ext>
            </a:extLst>
          </p:cNvPr>
          <p:cNvSpPr txBox="1"/>
          <p:nvPr/>
        </p:nvSpPr>
        <p:spPr>
          <a:xfrm>
            <a:off x="522514" y="1212980"/>
            <a:ext cx="46044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Parking developers just need a Parkable item</a:t>
            </a:r>
          </a:p>
          <a:p>
            <a:r>
              <a:rPr lang="en-US"/>
              <a:t>to test their doPark method.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7F1F87-E3DB-76C1-7BBA-6BA4E990FD4D}"/>
              </a:ext>
            </a:extLst>
          </p:cNvPr>
          <p:cNvSpPr txBox="1"/>
          <p:nvPr/>
        </p:nvSpPr>
        <p:spPr>
          <a:xfrm>
            <a:off x="430306" y="4664160"/>
            <a:ext cx="4991879" cy="1723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They can develop a dummy implementation of it:</a:t>
            </a:r>
          </a:p>
          <a:p>
            <a:endParaRPr lang="en-US"/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class Dummy implements Parkable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retType park(....)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B6B2B1-884B-1E2B-D809-497B0EAD72A9}"/>
              </a:ext>
            </a:extLst>
          </p:cNvPr>
          <p:cNvSpPr txBox="1"/>
          <p:nvPr/>
        </p:nvSpPr>
        <p:spPr>
          <a:xfrm>
            <a:off x="6543869" y="1212980"/>
            <a:ext cx="49931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Vehicle developers just need to write a tester</a:t>
            </a:r>
          </a:p>
          <a:p>
            <a:r>
              <a:rPr lang="en-US"/>
              <a:t>that calls the park method, and verify the correct</a:t>
            </a:r>
            <a:br>
              <a:rPr lang="en-US"/>
            </a:br>
            <a:r>
              <a:rPr lang="en-US"/>
              <a:t>execution.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360399-497F-BE7A-0EFA-039695D801D4}"/>
              </a:ext>
            </a:extLst>
          </p:cNvPr>
          <p:cNvSpPr txBox="1"/>
          <p:nvPr/>
        </p:nvSpPr>
        <p:spPr>
          <a:xfrm>
            <a:off x="7238789" y="4817758"/>
            <a:ext cx="286969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class Tester {</a:t>
            </a:r>
          </a:p>
          <a:p>
            <a:endParaRPr 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void test(Parkable p)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p.park(....)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89517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DE26D-9CD1-8BA3-87D9-593437F47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D052F65-F92B-45E2-5224-EF6FB9C8E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Interfaces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21773C-90C1-4F84-ADBB-B06234AC3332}"/>
              </a:ext>
            </a:extLst>
          </p:cNvPr>
          <p:cNvSpPr txBox="1"/>
          <p:nvPr/>
        </p:nvSpPr>
        <p:spPr>
          <a:xfrm>
            <a:off x="2340795" y="1765565"/>
            <a:ext cx="2694969" cy="2123658"/>
          </a:xfrm>
          <a:prstGeom prst="rect">
            <a:avLst/>
          </a:prstGeom>
          <a:solidFill>
            <a:srgbClr val="0070C0">
              <a:alpha val="20000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Parking extends Hub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places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floors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void doPark(Parkable p)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p.park(....);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F2A1828-FD5F-C9AC-9AE0-038A6B1B80A9}"/>
              </a:ext>
            </a:extLst>
          </p:cNvPr>
          <p:cNvGrpSpPr/>
          <p:nvPr/>
        </p:nvGrpSpPr>
        <p:grpSpPr>
          <a:xfrm>
            <a:off x="6099399" y="382555"/>
            <a:ext cx="1747789" cy="5691674"/>
            <a:chOff x="6099399" y="382555"/>
            <a:chExt cx="1747789" cy="5691674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F6BCF3D-5378-BFE9-3DA8-BA04CF611CEC}"/>
                </a:ext>
              </a:extLst>
            </p:cNvPr>
            <p:cNvCxnSpPr/>
            <p:nvPr/>
          </p:nvCxnSpPr>
          <p:spPr>
            <a:xfrm>
              <a:off x="6099399" y="382555"/>
              <a:ext cx="0" cy="5691674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BD03295-082C-3B91-E88B-E24810302711}"/>
                </a:ext>
              </a:extLst>
            </p:cNvPr>
            <p:cNvSpPr txBox="1"/>
            <p:nvPr/>
          </p:nvSpPr>
          <p:spPr>
            <a:xfrm>
              <a:off x="6218409" y="727788"/>
              <a:ext cx="16287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rgbClr val="FF0000"/>
                  </a:solidFill>
                </a:rPr>
                <a:t>DECOUPLING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3C0024B-6791-CC9F-D6AF-3D600D200613}"/>
              </a:ext>
            </a:extLst>
          </p:cNvPr>
          <p:cNvSpPr txBox="1"/>
          <p:nvPr/>
        </p:nvSpPr>
        <p:spPr>
          <a:xfrm>
            <a:off x="430306" y="398033"/>
            <a:ext cx="1427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Evolution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D0A72D-1A37-6B7B-CAF3-5BE3FCD9BC1A}"/>
              </a:ext>
            </a:extLst>
          </p:cNvPr>
          <p:cNvSpPr txBox="1"/>
          <p:nvPr/>
        </p:nvSpPr>
        <p:spPr>
          <a:xfrm>
            <a:off x="522514" y="1212980"/>
            <a:ext cx="4620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Parking class can really accept any Parkable!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8E5221-D31B-AA2B-979C-DBE5D191065B}"/>
              </a:ext>
            </a:extLst>
          </p:cNvPr>
          <p:cNvSpPr txBox="1"/>
          <p:nvPr/>
        </p:nvSpPr>
        <p:spPr>
          <a:xfrm>
            <a:off x="6667096" y="1397646"/>
            <a:ext cx="1486304" cy="1015663"/>
          </a:xfrm>
          <a:prstGeom prst="rect">
            <a:avLst/>
          </a:prstGeom>
          <a:solidFill>
            <a:schemeClr val="bg2">
              <a:lumMod val="75000"/>
              <a:alpha val="2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Animal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family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name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382ADF-A1B2-D396-E77C-59B720B81263}"/>
              </a:ext>
            </a:extLst>
          </p:cNvPr>
          <p:cNvSpPr txBox="1"/>
          <p:nvPr/>
        </p:nvSpPr>
        <p:spPr>
          <a:xfrm>
            <a:off x="6667096" y="2827394"/>
            <a:ext cx="4926349" cy="1569660"/>
          </a:xfrm>
          <a:prstGeom prst="rect">
            <a:avLst/>
          </a:prstGeom>
          <a:solidFill>
            <a:srgbClr val="00B050">
              <a:alpha val="20000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Elephant extends Animal implements Parkable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 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retType park(....) {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DCF56B-6110-2E2F-4EA9-155941BD96EE}"/>
              </a:ext>
            </a:extLst>
          </p:cNvPr>
          <p:cNvSpPr txBox="1"/>
          <p:nvPr/>
        </p:nvSpPr>
        <p:spPr>
          <a:xfrm>
            <a:off x="8556235" y="1143024"/>
            <a:ext cx="356860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Another development team</a:t>
            </a:r>
          </a:p>
          <a:p>
            <a:r>
              <a:rPr lang="en-US" dirty="0"/>
              <a:t>is working on Animal classes</a:t>
            </a:r>
          </a:p>
          <a:p>
            <a:r>
              <a:rPr lang="en-US" dirty="0"/>
              <a:t>hierarchy, and they found out that,</a:t>
            </a:r>
          </a:p>
          <a:p>
            <a:r>
              <a:rPr lang="en-US" dirty="0"/>
              <a:t>sure, it’s weird, but we can park</a:t>
            </a:r>
          </a:p>
          <a:p>
            <a:r>
              <a:rPr lang="en-US" dirty="0"/>
              <a:t>an elephant.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0B99A5-87F5-92EA-7D41-7B623715419B}"/>
              </a:ext>
            </a:extLst>
          </p:cNvPr>
          <p:cNvSpPr txBox="1"/>
          <p:nvPr/>
        </p:nvSpPr>
        <p:spPr>
          <a:xfrm>
            <a:off x="6975513" y="4494509"/>
            <a:ext cx="4309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Easy breezy, just implement the interface!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E33F4B-A877-FE1B-089C-CD32592DA03D}"/>
              </a:ext>
            </a:extLst>
          </p:cNvPr>
          <p:cNvSpPr txBox="1"/>
          <p:nvPr/>
        </p:nvSpPr>
        <p:spPr>
          <a:xfrm>
            <a:off x="430306" y="4202121"/>
            <a:ext cx="426591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Parking parking = new Parking(...);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Elephant elephant = new Elephant(...);</a:t>
            </a:r>
          </a:p>
          <a:p>
            <a:endParaRPr 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parking.doPark(elephant);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FF8867-D119-2231-FF53-C7FE1E38FF9A}"/>
              </a:ext>
            </a:extLst>
          </p:cNvPr>
          <p:cNvSpPr txBox="1"/>
          <p:nvPr/>
        </p:nvSpPr>
        <p:spPr>
          <a:xfrm>
            <a:off x="430306" y="5414261"/>
            <a:ext cx="4927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Nothing has changed in the Parking class!!! 😎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F63DCF6-CD4B-92C1-C44F-9A769135B900}"/>
              </a:ext>
            </a:extLst>
          </p:cNvPr>
          <p:cNvCxnSpPr>
            <a:stCxn id="13" idx="1"/>
            <a:endCxn id="14" idx="3"/>
          </p:cNvCxnSpPr>
          <p:nvPr/>
        </p:nvCxnSpPr>
        <p:spPr>
          <a:xfrm flipH="1">
            <a:off x="4696217" y="4679175"/>
            <a:ext cx="22792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4757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 animBg="1"/>
      <p:bldP spid="5" grpId="0" animBg="1"/>
      <p:bldP spid="11" grpId="0"/>
      <p:bldP spid="13" grpId="0"/>
      <p:bldP spid="14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7D80E-8E81-E4D3-6E7B-3AA22C2F2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0848188-2089-BF97-E379-BFA57A29D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Interfaces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3A1402-A024-BA9E-9B0C-5A6CDEC14244}"/>
              </a:ext>
            </a:extLst>
          </p:cNvPr>
          <p:cNvSpPr txBox="1"/>
          <p:nvPr/>
        </p:nvSpPr>
        <p:spPr>
          <a:xfrm>
            <a:off x="4299290" y="2844225"/>
            <a:ext cx="35934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Documents project</a:t>
            </a:r>
          </a:p>
        </p:txBody>
      </p:sp>
    </p:spTree>
    <p:extLst>
      <p:ext uri="{BB962C8B-B14F-4D97-AF65-F5344CB8AC3E}">
        <p14:creationId xmlns:p14="http://schemas.microsoft.com/office/powerpoint/2010/main" val="1671690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0BC91-276D-6B96-DCF8-7BBEC1E66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59A4224-DF3A-7F0D-B8D1-642ABDE5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Interfaces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8C6FB8-56BE-7036-9C35-8F53D6D8BD5A}"/>
              </a:ext>
            </a:extLst>
          </p:cNvPr>
          <p:cNvSpPr txBox="1"/>
          <p:nvPr/>
        </p:nvSpPr>
        <p:spPr>
          <a:xfrm>
            <a:off x="4187272" y="2844225"/>
            <a:ext cx="38174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MediaCenter project</a:t>
            </a:r>
          </a:p>
        </p:txBody>
      </p:sp>
    </p:spTree>
    <p:extLst>
      <p:ext uri="{BB962C8B-B14F-4D97-AF65-F5344CB8AC3E}">
        <p14:creationId xmlns:p14="http://schemas.microsoft.com/office/powerpoint/2010/main" val="18224536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9F059-291B-4038-29CB-1FE028FAD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5311DD4-8970-3D50-94DD-4D5B53E10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Interfaces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A94CB5-0D2E-F8DA-A0ED-9493AB719DC7}"/>
              </a:ext>
            </a:extLst>
          </p:cNvPr>
          <p:cNvSpPr txBox="1"/>
          <p:nvPr/>
        </p:nvSpPr>
        <p:spPr>
          <a:xfrm>
            <a:off x="430306" y="398033"/>
            <a:ext cx="22720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Why OOP then?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066779-28FC-A536-667A-8EA615790733}"/>
              </a:ext>
            </a:extLst>
          </p:cNvPr>
          <p:cNvSpPr txBox="1"/>
          <p:nvPr/>
        </p:nvSpPr>
        <p:spPr>
          <a:xfrm>
            <a:off x="430306" y="1268963"/>
            <a:ext cx="4149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Consider the following procedural code: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2BF899-F02E-958A-156E-113FAA011E79}"/>
              </a:ext>
            </a:extLst>
          </p:cNvPr>
          <p:cNvSpPr txBox="1"/>
          <p:nvPr/>
        </p:nvSpPr>
        <p:spPr>
          <a:xfrm>
            <a:off x="522514" y="1894114"/>
            <a:ext cx="232307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Square {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public double side;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Rectangle {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public double height;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public double width;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Circle {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public double radius;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D81A36-DF2F-A40D-319F-DE0517DE1FCB}"/>
              </a:ext>
            </a:extLst>
          </p:cNvPr>
          <p:cNvSpPr txBox="1"/>
          <p:nvPr/>
        </p:nvSpPr>
        <p:spPr>
          <a:xfrm>
            <a:off x="3138196" y="1884783"/>
            <a:ext cx="3717684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Geometry {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double area(Object s) {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if (s instanceof Square) {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return s.side * s.side;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if (s instanceof Rectangle) {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return s.height * s.width;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if (s instanceof Circle) {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return s.radius * s.radius * PI;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AE4068B-5A48-5AD9-03CF-3974D464EA9F}"/>
              </a:ext>
            </a:extLst>
          </p:cNvPr>
          <p:cNvGrpSpPr/>
          <p:nvPr/>
        </p:nvGrpSpPr>
        <p:grpSpPr>
          <a:xfrm>
            <a:off x="1352939" y="4387104"/>
            <a:ext cx="971293" cy="1440636"/>
            <a:chOff x="1352939" y="4387104"/>
            <a:chExt cx="971293" cy="1440636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1DF74759-DBCC-601D-8530-D35AECEC786A}"/>
                </a:ext>
              </a:extLst>
            </p:cNvPr>
            <p:cNvCxnSpPr/>
            <p:nvPr/>
          </p:nvCxnSpPr>
          <p:spPr>
            <a:xfrm flipH="1" flipV="1">
              <a:off x="1352939" y="4387104"/>
              <a:ext cx="597159" cy="92201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1378317-4DA3-5A0F-0F90-89DDC23A3FBE}"/>
                </a:ext>
              </a:extLst>
            </p:cNvPr>
            <p:cNvSpPr txBox="1"/>
            <p:nvPr/>
          </p:nvSpPr>
          <p:spPr>
            <a:xfrm>
              <a:off x="1623527" y="5458408"/>
              <a:ext cx="7007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DATA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29C9ED-0A1F-98A1-233F-C2AB9BBD2B85}"/>
              </a:ext>
            </a:extLst>
          </p:cNvPr>
          <p:cNvGrpSpPr/>
          <p:nvPr/>
        </p:nvGrpSpPr>
        <p:grpSpPr>
          <a:xfrm>
            <a:off x="3816220" y="4387104"/>
            <a:ext cx="1245213" cy="1440636"/>
            <a:chOff x="3816220" y="4387104"/>
            <a:chExt cx="1245213" cy="1440636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19E4A7A-2A25-57E6-7E6F-4D196B8861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9404" y="4387104"/>
              <a:ext cx="345233" cy="91268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EB9CE36-80A2-DC1B-D9A6-D8837634400B}"/>
                </a:ext>
              </a:extLst>
            </p:cNvPr>
            <p:cNvSpPr txBox="1"/>
            <p:nvPr/>
          </p:nvSpPr>
          <p:spPr>
            <a:xfrm>
              <a:off x="3816220" y="5458408"/>
              <a:ext cx="12452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BEHAVIOR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A1D5C62-5A86-C083-5004-A7FABE666951}"/>
              </a:ext>
            </a:extLst>
          </p:cNvPr>
          <p:cNvSpPr txBox="1"/>
          <p:nvPr/>
        </p:nvSpPr>
        <p:spPr>
          <a:xfrm>
            <a:off x="7440739" y="416694"/>
            <a:ext cx="2512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If we add new behavior: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AC15C7-5C99-3082-6BFD-11C991661166}"/>
              </a:ext>
            </a:extLst>
          </p:cNvPr>
          <p:cNvSpPr txBox="1"/>
          <p:nvPr/>
        </p:nvSpPr>
        <p:spPr>
          <a:xfrm>
            <a:off x="2118049" y="5952931"/>
            <a:ext cx="2231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(in separate classes)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4ABB7D-FDE7-372A-BFCA-5C8456FA848A}"/>
              </a:ext>
            </a:extLst>
          </p:cNvPr>
          <p:cNvSpPr txBox="1"/>
          <p:nvPr/>
        </p:nvSpPr>
        <p:spPr>
          <a:xfrm>
            <a:off x="7440739" y="949512"/>
            <a:ext cx="3717684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Geometry {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double area(Object s) {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if (s instanceof Square) {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return s.side * s.side;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if (s instanceof Rectangle) {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return s.height * s.width;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if (s instanceof Circle) {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return s.radius * s.radius * PI;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perimeter(Object s) {</a:t>
            </a:r>
            <a:br>
              <a:rPr lang="en-US" sz="12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(s instanceof Square) {</a:t>
            </a:r>
            <a:br>
              <a:rPr lang="en-US" sz="12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return s.side * 2;</a:t>
            </a:r>
            <a:br>
              <a:rPr lang="en-US" sz="12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sz="12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(s instanceof Rectangle) {</a:t>
            </a:r>
            <a:br>
              <a:rPr lang="en-US" sz="12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return (s.height + s.width) * 2;</a:t>
            </a:r>
            <a:br>
              <a:rPr lang="en-US" sz="12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sz="12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(s instanceof Circle) {</a:t>
            </a:r>
            <a:br>
              <a:rPr lang="en-US" sz="12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return 2 * PI * s.radius;</a:t>
            </a:r>
            <a:br>
              <a:rPr lang="en-US" sz="12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sz="12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br>
              <a:rPr lang="en-US" sz="12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1DAA0E-68AC-5C54-69E3-5B4FB5809271}"/>
              </a:ext>
            </a:extLst>
          </p:cNvPr>
          <p:cNvSpPr txBox="1"/>
          <p:nvPr/>
        </p:nvSpPr>
        <p:spPr>
          <a:xfrm>
            <a:off x="7440739" y="5629765"/>
            <a:ext cx="42247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We extend the behavior, we don’t change</a:t>
            </a:r>
            <a:br>
              <a:rPr lang="en-US"/>
            </a:br>
            <a:r>
              <a:rPr lang="en-US"/>
              <a:t>the data!</a:t>
            </a:r>
          </a:p>
        </p:txBody>
      </p:sp>
    </p:spTree>
    <p:extLst>
      <p:ext uri="{BB962C8B-B14F-4D97-AF65-F5344CB8AC3E}">
        <p14:creationId xmlns:p14="http://schemas.microsoft.com/office/powerpoint/2010/main" val="3611864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5" grpId="0"/>
      <p:bldP spid="16" grpId="0"/>
      <p:bldP spid="17" grpId="0"/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FA742-2EB3-F22D-6331-77788EA4C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11D9D90-DDDC-6E72-139B-CF339CE16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Interfaces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CF8C90-1841-D1C3-FFED-7B106EA2D620}"/>
              </a:ext>
            </a:extLst>
          </p:cNvPr>
          <p:cNvSpPr txBox="1"/>
          <p:nvPr/>
        </p:nvSpPr>
        <p:spPr>
          <a:xfrm>
            <a:off x="430306" y="398033"/>
            <a:ext cx="22720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Why OOP then?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354288-E7E9-DA7A-27D5-21875BE30179}"/>
              </a:ext>
            </a:extLst>
          </p:cNvPr>
          <p:cNvSpPr txBox="1"/>
          <p:nvPr/>
        </p:nvSpPr>
        <p:spPr>
          <a:xfrm>
            <a:off x="430306" y="1268963"/>
            <a:ext cx="3500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What happens if we add a shape?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839401-00A7-7CA7-4A0F-FFCE047C2664}"/>
              </a:ext>
            </a:extLst>
          </p:cNvPr>
          <p:cNvSpPr txBox="1"/>
          <p:nvPr/>
        </p:nvSpPr>
        <p:spPr>
          <a:xfrm>
            <a:off x="522514" y="1894114"/>
            <a:ext cx="2323072" cy="3231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class Square {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public double side;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class Rectangle {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public double height;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public double width;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class Circle {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public double radius;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Triangle {</a:t>
            </a:r>
            <a:br>
              <a:rPr lang="en-US" sz="1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double base;</a:t>
            </a:r>
          </a:p>
          <a:p>
            <a:r>
              <a:rPr lang="en-US" sz="1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double height;</a:t>
            </a:r>
          </a:p>
          <a:p>
            <a:r>
              <a:rPr lang="en-US" sz="1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6A15EF-DAFE-A596-1E5B-7D744F42B0DD}"/>
              </a:ext>
            </a:extLst>
          </p:cNvPr>
          <p:cNvSpPr txBox="1"/>
          <p:nvPr/>
        </p:nvSpPr>
        <p:spPr>
          <a:xfrm>
            <a:off x="4237158" y="996165"/>
            <a:ext cx="3108543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class Geometry {</a:t>
            </a:r>
            <a:b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double area(Object s) {</a:t>
            </a:r>
            <a:b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if (s instanceof Square) {</a:t>
            </a:r>
            <a:b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  return s.side * s.side;</a:t>
            </a:r>
            <a:b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if (s instanceof Rectangle) {</a:t>
            </a:r>
            <a:b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  return s.height * s.width;</a:t>
            </a:r>
            <a:b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if (s instanceof Circle) {</a:t>
            </a:r>
            <a:b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  return s.radius * s.radius * PI;</a:t>
            </a:r>
            <a:b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>
                <a:latin typeface="Courier New" panose="02070309020205020404" pitchFamily="49" charset="0"/>
                <a:cs typeface="Courier New" panose="02070309020205020404" pitchFamily="49" charset="0"/>
              </a:rPr>
              <a:t>if (s instanceof Triangle) {</a:t>
            </a:r>
            <a:br>
              <a:rPr lang="en-US" sz="10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 b="1">
                <a:latin typeface="Courier New" panose="02070309020205020404" pitchFamily="49" charset="0"/>
                <a:cs typeface="Courier New" panose="02070309020205020404" pitchFamily="49" charset="0"/>
              </a:rPr>
              <a:t>      return s.height * s.base / 2;</a:t>
            </a:r>
            <a:br>
              <a:rPr lang="en-US" sz="10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 b="1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sz="10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b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0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perimeter(Object s) {</a:t>
            </a:r>
            <a:br>
              <a:rPr lang="en-US" sz="10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(s instanceof Square) {</a:t>
            </a:r>
            <a:br>
              <a:rPr lang="en-US" sz="10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return s.side * 2;</a:t>
            </a:r>
            <a:br>
              <a:rPr lang="en-US" sz="10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sz="10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(s instanceof Rectangle) {</a:t>
            </a:r>
            <a:br>
              <a:rPr lang="en-US" sz="10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return (s.height + s.width) * 2;</a:t>
            </a:r>
            <a:br>
              <a:rPr lang="en-US" sz="10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sz="10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(s instanceof Circle) {</a:t>
            </a:r>
            <a:br>
              <a:rPr lang="en-US" sz="10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return 2 * PI * s.radius;</a:t>
            </a:r>
            <a:br>
              <a:rPr lang="en-US" sz="10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sz="10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(s instanceof Triangle) {</a:t>
            </a:r>
            <a:br>
              <a:rPr lang="en-US" sz="1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return ...;</a:t>
            </a:r>
            <a:br>
              <a:rPr lang="en-US" sz="1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sz="1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br>
              <a:rPr lang="en-US" sz="10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32C74DC-6EC8-4305-F603-F492777E636A}"/>
              </a:ext>
            </a:extLst>
          </p:cNvPr>
          <p:cNvCxnSpPr>
            <a:cxnSpLocks/>
          </p:cNvCxnSpPr>
          <p:nvPr/>
        </p:nvCxnSpPr>
        <p:spPr>
          <a:xfrm flipH="1" flipV="1">
            <a:off x="7249886" y="2929812"/>
            <a:ext cx="1212979" cy="4991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1CAF870-ED22-2C13-D3BA-FCE2BA036E78}"/>
              </a:ext>
            </a:extLst>
          </p:cNvPr>
          <p:cNvCxnSpPr>
            <a:cxnSpLocks/>
          </p:cNvCxnSpPr>
          <p:nvPr/>
        </p:nvCxnSpPr>
        <p:spPr>
          <a:xfrm flipH="1">
            <a:off x="6932645" y="3666932"/>
            <a:ext cx="1530220" cy="14588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EF8CC7A-E337-13A0-25F8-746DF21B177E}"/>
              </a:ext>
            </a:extLst>
          </p:cNvPr>
          <p:cNvSpPr txBox="1"/>
          <p:nvPr/>
        </p:nvSpPr>
        <p:spPr>
          <a:xfrm>
            <a:off x="8565502" y="3041780"/>
            <a:ext cx="350724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We need to extend all procedural</a:t>
            </a:r>
            <a:br>
              <a:rPr lang="en-US"/>
            </a:br>
            <a:r>
              <a:rPr lang="en-US"/>
              <a:t>functions to handle all operations</a:t>
            </a:r>
            <a:br>
              <a:rPr lang="en-US"/>
            </a:br>
            <a:r>
              <a:rPr lang="en-US"/>
              <a:t>on all data.</a:t>
            </a:r>
          </a:p>
          <a:p>
            <a:endParaRPr lang="en-US"/>
          </a:p>
          <a:p>
            <a:r>
              <a:rPr lang="en-US"/>
              <a:t>That’s the cost you pay for</a:t>
            </a:r>
            <a:br>
              <a:rPr lang="en-US"/>
            </a:br>
            <a:r>
              <a:rPr lang="en-US"/>
              <a:t>procedural approach.</a:t>
            </a:r>
          </a:p>
        </p:txBody>
      </p:sp>
    </p:spTree>
    <p:extLst>
      <p:ext uri="{BB962C8B-B14F-4D97-AF65-F5344CB8AC3E}">
        <p14:creationId xmlns:p14="http://schemas.microsoft.com/office/powerpoint/2010/main" val="2413974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7" grpId="0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4FDAD-6DA8-1ECF-1593-CA225430F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4E7078F-4C6F-9147-CA96-63B5D0D7F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Interfaces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B193FD-3226-FADA-E7A0-BC48DF7189ED}"/>
              </a:ext>
            </a:extLst>
          </p:cNvPr>
          <p:cNvSpPr txBox="1"/>
          <p:nvPr/>
        </p:nvSpPr>
        <p:spPr>
          <a:xfrm>
            <a:off x="430306" y="398033"/>
            <a:ext cx="22720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Why OOP then?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0D4D6F-8AD0-C481-3B23-0A47365475B9}"/>
              </a:ext>
            </a:extLst>
          </p:cNvPr>
          <p:cNvSpPr txBox="1"/>
          <p:nvPr/>
        </p:nvSpPr>
        <p:spPr>
          <a:xfrm>
            <a:off x="430306" y="1268963"/>
            <a:ext cx="1615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Let’s use OOP.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118DB0-92B9-45FE-B561-DC351B8526B6}"/>
              </a:ext>
            </a:extLst>
          </p:cNvPr>
          <p:cNvSpPr txBox="1"/>
          <p:nvPr/>
        </p:nvSpPr>
        <p:spPr>
          <a:xfrm>
            <a:off x="419341" y="2159084"/>
            <a:ext cx="22829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 Shape {</a:t>
            </a:r>
            <a:br>
              <a:rPr lang="en-US" sz="16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double area();</a:t>
            </a:r>
            <a:br>
              <a:rPr lang="en-US" sz="16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60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E5E36C-21DC-06B5-7E9E-5115D1149588}"/>
              </a:ext>
            </a:extLst>
          </p:cNvPr>
          <p:cNvSpPr txBox="1"/>
          <p:nvPr/>
        </p:nvSpPr>
        <p:spPr>
          <a:xfrm>
            <a:off x="3335237" y="407364"/>
            <a:ext cx="306686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Square implements Shape {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public double side;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double area() {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return side * side;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200" b="1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3CDFD-2506-3BD6-AA85-F5BF6FA36E08}"/>
              </a:ext>
            </a:extLst>
          </p:cNvPr>
          <p:cNvSpPr txBox="1"/>
          <p:nvPr/>
        </p:nvSpPr>
        <p:spPr>
          <a:xfrm>
            <a:off x="3389310" y="2066752"/>
            <a:ext cx="33457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Rectangle implements Shape {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public double height;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public double width;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double area() {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return height * width;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200" b="1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92444A-F6E0-31AF-E5DD-18E6DE08F471}"/>
              </a:ext>
            </a:extLst>
          </p:cNvPr>
          <p:cNvSpPr txBox="1"/>
          <p:nvPr/>
        </p:nvSpPr>
        <p:spPr>
          <a:xfrm>
            <a:off x="3389310" y="3910805"/>
            <a:ext cx="315983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Circle implements Shape {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public double radius;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double area() {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return radius * radius * PI;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200" b="1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237E9B3-0A91-9A20-BC95-E35F5014AD80}"/>
              </a:ext>
            </a:extLst>
          </p:cNvPr>
          <p:cNvCxnSpPr>
            <a:cxnSpLocks/>
          </p:cNvCxnSpPr>
          <p:nvPr/>
        </p:nvCxnSpPr>
        <p:spPr>
          <a:xfrm flipH="1" flipV="1">
            <a:off x="5784980" y="1194318"/>
            <a:ext cx="2368420" cy="2148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5456672-17EE-9461-25F2-25F412699ED4}"/>
              </a:ext>
            </a:extLst>
          </p:cNvPr>
          <p:cNvCxnSpPr>
            <a:cxnSpLocks/>
          </p:cNvCxnSpPr>
          <p:nvPr/>
        </p:nvCxnSpPr>
        <p:spPr>
          <a:xfrm flipH="1">
            <a:off x="6167535" y="1553456"/>
            <a:ext cx="1985865" cy="14366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47E4B97-7BE0-FAEB-C058-549291E2944F}"/>
              </a:ext>
            </a:extLst>
          </p:cNvPr>
          <p:cNvCxnSpPr>
            <a:cxnSpLocks/>
            <a:endCxn id="24" idx="3"/>
          </p:cNvCxnSpPr>
          <p:nvPr/>
        </p:nvCxnSpPr>
        <p:spPr>
          <a:xfrm flipH="1">
            <a:off x="6549149" y="1746583"/>
            <a:ext cx="1671120" cy="2856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8D4FA92-9E9C-B54D-5F7A-6373DCC6608B}"/>
              </a:ext>
            </a:extLst>
          </p:cNvPr>
          <p:cNvSpPr txBox="1"/>
          <p:nvPr/>
        </p:nvSpPr>
        <p:spPr>
          <a:xfrm>
            <a:off x="8220269" y="1230774"/>
            <a:ext cx="3021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The data owns its behavior!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728EB0F-74EF-A925-FA07-07874CE01596}"/>
              </a:ext>
            </a:extLst>
          </p:cNvPr>
          <p:cNvSpPr txBox="1"/>
          <p:nvPr/>
        </p:nvSpPr>
        <p:spPr>
          <a:xfrm>
            <a:off x="8220269" y="3287039"/>
            <a:ext cx="325281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Triangle implements Shape {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public double base;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public double height;</a:t>
            </a:r>
          </a:p>
          <a:p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double area() {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return base * height / 2;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200" b="1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FE7AB2F3-43FB-AB5B-548F-C115F98CF461}"/>
              </a:ext>
            </a:extLst>
          </p:cNvPr>
          <p:cNvSpPr/>
          <p:nvPr/>
        </p:nvSpPr>
        <p:spPr>
          <a:xfrm rot="5400000">
            <a:off x="8963520" y="2356565"/>
            <a:ext cx="1332516" cy="204103"/>
          </a:xfrm>
          <a:prstGeom prst="rightArrow">
            <a:avLst>
              <a:gd name="adj1" fmla="val 50001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0088C4B-B039-A54B-B3D8-73AF33C40C59}"/>
              </a:ext>
            </a:extLst>
          </p:cNvPr>
          <p:cNvSpPr txBox="1"/>
          <p:nvPr/>
        </p:nvSpPr>
        <p:spPr>
          <a:xfrm>
            <a:off x="9846676" y="1981907"/>
            <a:ext cx="22599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Adding a new type</a:t>
            </a:r>
          </a:p>
          <a:p>
            <a:r>
              <a:rPr lang="en-US"/>
              <a:t>does not require a</a:t>
            </a:r>
            <a:br>
              <a:rPr lang="en-US"/>
            </a:br>
            <a:r>
              <a:rPr lang="en-US"/>
              <a:t>change in the others.</a:t>
            </a:r>
          </a:p>
        </p:txBody>
      </p:sp>
    </p:spTree>
    <p:extLst>
      <p:ext uri="{BB962C8B-B14F-4D97-AF65-F5344CB8AC3E}">
        <p14:creationId xmlns:p14="http://schemas.microsoft.com/office/powerpoint/2010/main" val="632559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" grpId="0"/>
      <p:bldP spid="23" grpId="0"/>
      <p:bldP spid="24" grpId="0"/>
      <p:bldP spid="31" grpId="0"/>
      <p:bldP spid="34" grpId="0"/>
      <p:bldP spid="41" grpId="0" animBg="1"/>
      <p:bldP spid="4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74F85-91F0-C39A-D3B3-7875546E2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5D77787-C0DB-FB85-DD42-7D314EC1E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Interfaces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CF050C-C3D5-9307-2D98-DF902E357217}"/>
              </a:ext>
            </a:extLst>
          </p:cNvPr>
          <p:cNvSpPr txBox="1"/>
          <p:nvPr/>
        </p:nvSpPr>
        <p:spPr>
          <a:xfrm>
            <a:off x="430306" y="398033"/>
            <a:ext cx="22720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Why OOP then?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D1975F-6C30-CE8B-5B8E-D4D8042D11FB}"/>
              </a:ext>
            </a:extLst>
          </p:cNvPr>
          <p:cNvSpPr txBox="1"/>
          <p:nvPr/>
        </p:nvSpPr>
        <p:spPr>
          <a:xfrm>
            <a:off x="430306" y="1268963"/>
            <a:ext cx="21664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But what if we add a</a:t>
            </a:r>
            <a:br>
              <a:rPr lang="en-US"/>
            </a:br>
            <a:r>
              <a:rPr lang="en-US"/>
              <a:t>new method?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3FFCC7-4D6F-FC3B-ED3E-4241069871C9}"/>
              </a:ext>
            </a:extLst>
          </p:cNvPr>
          <p:cNvSpPr txBox="1"/>
          <p:nvPr/>
        </p:nvSpPr>
        <p:spPr>
          <a:xfrm>
            <a:off x="419341" y="2159084"/>
            <a:ext cx="277672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 Shape {</a:t>
            </a:r>
            <a:br>
              <a:rPr lang="en-US" sz="16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double area();</a:t>
            </a:r>
            <a:br>
              <a:rPr lang="en-US" sz="16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perimeter();</a:t>
            </a:r>
            <a:br>
              <a:rPr lang="en-US" sz="16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60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074D7E-928B-B2AB-31B9-8ADFC1C9AE56}"/>
              </a:ext>
            </a:extLst>
          </p:cNvPr>
          <p:cNvSpPr txBox="1"/>
          <p:nvPr/>
        </p:nvSpPr>
        <p:spPr>
          <a:xfrm>
            <a:off x="3526066" y="310644"/>
            <a:ext cx="2569934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class Square implements Shape {</a:t>
            </a:r>
            <a:b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public double side;</a:t>
            </a:r>
            <a:b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double area() {</a:t>
            </a:r>
            <a:b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return side * side;</a:t>
            </a:r>
            <a:b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b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000" b="1">
                <a:latin typeface="Courier New" panose="02070309020205020404" pitchFamily="49" charset="0"/>
                <a:cs typeface="Courier New" panose="02070309020205020404" pitchFamily="49" charset="0"/>
              </a:rPr>
              <a:t>double perimeter() {</a:t>
            </a:r>
            <a:br>
              <a:rPr lang="en-US" sz="10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 b="1">
                <a:latin typeface="Courier New" panose="02070309020205020404" pitchFamily="49" charset="0"/>
                <a:cs typeface="Courier New" panose="02070309020205020404" pitchFamily="49" charset="0"/>
              </a:rPr>
              <a:t>    return s.side * 2;</a:t>
            </a:r>
            <a:br>
              <a:rPr lang="en-US" sz="10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br>
              <a:rPr lang="en-US" sz="10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000" b="1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AC3A37-431D-D63B-6FF8-B49F1E11956D}"/>
              </a:ext>
            </a:extLst>
          </p:cNvPr>
          <p:cNvSpPr txBox="1"/>
          <p:nvPr/>
        </p:nvSpPr>
        <p:spPr>
          <a:xfrm>
            <a:off x="3529179" y="2337025"/>
            <a:ext cx="295465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class Rectangle implements Shape {</a:t>
            </a:r>
            <a:b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public double height;</a:t>
            </a:r>
            <a:b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public double width;</a:t>
            </a:r>
            <a:b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double area() {</a:t>
            </a:r>
            <a:b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return height * width;</a:t>
            </a:r>
            <a:b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b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000" b="1">
                <a:latin typeface="Courier New" panose="02070309020205020404" pitchFamily="49" charset="0"/>
                <a:cs typeface="Courier New" panose="02070309020205020404" pitchFamily="49" charset="0"/>
              </a:rPr>
              <a:t>double perimeter() {</a:t>
            </a:r>
            <a:br>
              <a:rPr lang="en-US" sz="10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 b="1">
                <a:latin typeface="Courier New" panose="02070309020205020404" pitchFamily="49" charset="0"/>
                <a:cs typeface="Courier New" panose="02070309020205020404" pitchFamily="49" charset="0"/>
              </a:rPr>
              <a:t>    return (s.height + s.width) * 2;</a:t>
            </a:r>
            <a:br>
              <a:rPr lang="en-US" sz="10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br>
              <a:rPr lang="en-US" sz="10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000" b="1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DCDE5E-DEFD-8F1E-21A9-A91362371EE9}"/>
              </a:ext>
            </a:extLst>
          </p:cNvPr>
          <p:cNvSpPr txBox="1"/>
          <p:nvPr/>
        </p:nvSpPr>
        <p:spPr>
          <a:xfrm>
            <a:off x="3526066" y="4517294"/>
            <a:ext cx="2646878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class Circle implements Shape {</a:t>
            </a:r>
            <a:b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public double radius;</a:t>
            </a:r>
            <a:b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double area() {</a:t>
            </a:r>
            <a:b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return radius * radius * PI;</a:t>
            </a:r>
            <a:b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b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000" b="1">
                <a:latin typeface="Courier New" panose="02070309020205020404" pitchFamily="49" charset="0"/>
                <a:cs typeface="Courier New" panose="02070309020205020404" pitchFamily="49" charset="0"/>
              </a:rPr>
              <a:t>double perimeter() {</a:t>
            </a:r>
            <a:br>
              <a:rPr lang="en-US" sz="10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 b="1">
                <a:latin typeface="Courier New" panose="02070309020205020404" pitchFamily="49" charset="0"/>
                <a:cs typeface="Courier New" panose="02070309020205020404" pitchFamily="49" charset="0"/>
              </a:rPr>
              <a:t>    return 2 * PI * s.radius;</a:t>
            </a:r>
            <a:br>
              <a:rPr lang="en-US" sz="10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br>
              <a:rPr lang="en-US" sz="10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000" b="1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E845283-B38C-D679-E6D7-D10693AC4D58}"/>
              </a:ext>
            </a:extLst>
          </p:cNvPr>
          <p:cNvCxnSpPr>
            <a:cxnSpLocks/>
          </p:cNvCxnSpPr>
          <p:nvPr/>
        </p:nvCxnSpPr>
        <p:spPr>
          <a:xfrm flipH="1" flipV="1">
            <a:off x="5598367" y="1586204"/>
            <a:ext cx="2555033" cy="8770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53A54BF-9176-0A05-91E2-C4D6302D5439}"/>
              </a:ext>
            </a:extLst>
          </p:cNvPr>
          <p:cNvCxnSpPr/>
          <p:nvPr/>
        </p:nvCxnSpPr>
        <p:spPr>
          <a:xfrm flipH="1">
            <a:off x="6550090" y="2668555"/>
            <a:ext cx="1603310" cy="10170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C4B77E3-4C44-483B-9D00-5A6999CA5546}"/>
              </a:ext>
            </a:extLst>
          </p:cNvPr>
          <p:cNvCxnSpPr/>
          <p:nvPr/>
        </p:nvCxnSpPr>
        <p:spPr>
          <a:xfrm flipH="1">
            <a:off x="6096000" y="2939143"/>
            <a:ext cx="2057400" cy="28271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BE3A067-92EE-D7E5-377B-D42C77A999F1}"/>
              </a:ext>
            </a:extLst>
          </p:cNvPr>
          <p:cNvSpPr txBox="1"/>
          <p:nvPr/>
        </p:nvSpPr>
        <p:spPr>
          <a:xfrm>
            <a:off x="8304245" y="1929891"/>
            <a:ext cx="320940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Adding a new method requires</a:t>
            </a:r>
            <a:br>
              <a:rPr lang="en-US" dirty="0"/>
            </a:br>
            <a:r>
              <a:rPr lang="en-US" dirty="0"/>
              <a:t>a change in all implementers.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This is the cost you pay for</a:t>
            </a:r>
            <a:br>
              <a:rPr lang="en-US" dirty="0"/>
            </a:br>
            <a:r>
              <a:rPr lang="en-US" dirty="0"/>
              <a:t>the OOP approach.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4A4079-2CDE-C769-D227-AF41CC10D4A9}"/>
              </a:ext>
            </a:extLst>
          </p:cNvPr>
          <p:cNvSpPr txBox="1"/>
          <p:nvPr/>
        </p:nvSpPr>
        <p:spPr>
          <a:xfrm>
            <a:off x="8304245" y="3676590"/>
            <a:ext cx="357084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Moral of the story: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FF0000"/>
                </a:solidFill>
              </a:rPr>
              <a:t>Procedural</a:t>
            </a:r>
            <a:r>
              <a:rPr lang="en-US"/>
              <a:t> approach makes</a:t>
            </a:r>
            <a:br>
              <a:rPr lang="en-US"/>
            </a:br>
            <a:r>
              <a:rPr lang="en-US"/>
              <a:t>it easy to add </a:t>
            </a:r>
            <a:r>
              <a:rPr lang="en-US" b="1">
                <a:solidFill>
                  <a:srgbClr val="FF0000"/>
                </a:solidFill>
              </a:rPr>
              <a:t>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0B050"/>
                </a:solidFill>
              </a:rPr>
              <a:t>Object-oriented</a:t>
            </a:r>
            <a:r>
              <a:rPr lang="en-US"/>
              <a:t> code makes it</a:t>
            </a:r>
            <a:br>
              <a:rPr lang="en-US"/>
            </a:br>
            <a:r>
              <a:rPr lang="en-US"/>
              <a:t>easy to add </a:t>
            </a:r>
            <a:r>
              <a:rPr lang="en-US" b="1">
                <a:solidFill>
                  <a:srgbClr val="00B050"/>
                </a:solidFill>
              </a:rPr>
              <a:t>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What’s easy for one is hard</a:t>
            </a:r>
            <a:br>
              <a:rPr lang="en-US"/>
            </a:br>
            <a:r>
              <a:rPr lang="en-US"/>
              <a:t>for the other</a:t>
            </a:r>
          </a:p>
        </p:txBody>
      </p:sp>
    </p:spTree>
    <p:extLst>
      <p:ext uri="{BB962C8B-B14F-4D97-AF65-F5344CB8AC3E}">
        <p14:creationId xmlns:p14="http://schemas.microsoft.com/office/powerpoint/2010/main" val="1219900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22" grpId="0"/>
      <p:bldP spid="23" grpId="0"/>
      <p:bldP spid="24" grpId="0"/>
      <p:bldP spid="13" grpId="0"/>
      <p:bldP spid="1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1e9b6e7-e4bc-422b-b136-be52bca82e7c}" enabled="1" method="Privilege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1156</TotalTime>
  <Words>2661</Words>
  <Application>Microsoft Office PowerPoint</Application>
  <PresentationFormat>Widescreen</PresentationFormat>
  <Paragraphs>424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 Monaco, Antonio</dc:creator>
  <cp:lastModifiedBy>Tatiana Rubina</cp:lastModifiedBy>
  <cp:revision>30</cp:revision>
  <dcterms:created xsi:type="dcterms:W3CDTF">2025-02-17T20:26:07Z</dcterms:created>
  <dcterms:modified xsi:type="dcterms:W3CDTF">2026-05-09T10:12:12Z</dcterms:modified>
</cp:coreProperties>
</file>