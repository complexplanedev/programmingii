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8"/>
    <p:restoredTop sz="94682"/>
  </p:normalViewPr>
  <p:slideViewPr>
    <p:cSldViewPr snapToGrid="0">
      <p:cViewPr varScale="1">
        <p:scale>
          <a:sx n="78" d="100"/>
          <a:sy n="78" d="100"/>
        </p:scale>
        <p:origin x="37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1D72-D0AD-A947-BA60-8716E965166B}" type="datetime1"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0786-2BE3-C241-99C1-0705FD1AC556}" type="datetime1"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22ED-CAE7-244D-8324-98B17363B0C4}" type="datetime1"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0D2FE-3773-5A49-899C-83467D6B2B62}" type="datetime1">
              <a:t>17-May-26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F1EE-75B5-074C-B588-CF2177D0A519}" type="datetime1">
              <a:t>17-May-26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BB4A-7CF5-FD41-B81E-DD0AB7A13017}" type="datetime1">
              <a:t>17-May-26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DACD-B070-8546-82EF-77A57FD0F959}" type="datetime1">
              <a:t>17-May-26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7D240-85C1-EE40-A434-0FB34F989700}" type="datetime1">
              <a:t>17-May-26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A5C5-21A0-2049-9AB7-5942A1791AF3}" type="datetime1">
              <a:t>17-May-26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9B4DC-0A20-AF41-AB44-925BA5D311F5}" type="datetime1"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E179-41F0-E648-880B-CE02F5D98986}" type="datetime1"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ED6DB-4EA0-8543-BBFB-1835B263A252}" type="datetime1"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Exceptions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xkcd.com/292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xkcd.com/838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889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Exceptions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2E73E-5FE4-B397-BDFC-5C186926044C}"/>
              </a:ext>
            </a:extLst>
          </p:cNvPr>
          <p:cNvSpPr txBox="1"/>
          <p:nvPr/>
        </p:nvSpPr>
        <p:spPr>
          <a:xfrm>
            <a:off x="430306" y="398033"/>
            <a:ext cx="2831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error handling?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05971-CF5D-C9C1-6E8E-43C15BCA0BF0}"/>
              </a:ext>
            </a:extLst>
          </p:cNvPr>
          <p:cNvSpPr txBox="1"/>
          <p:nvPr/>
        </p:nvSpPr>
        <p:spPr>
          <a:xfrm>
            <a:off x="430306" y="1268963"/>
            <a:ext cx="11320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Perfect flow executions do not exist in real world, perfect users do not exist in real world. A perfect world does not</a:t>
            </a:r>
          </a:p>
          <a:p>
            <a:r>
              <a:rPr lang="en-US"/>
              <a:t>exist, we need to deal with errors, edge cases, unexpected scenarios and, worst cases, crashes.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A36AD-DFCC-AD1F-0299-428652BB53C8}"/>
              </a:ext>
            </a:extLst>
          </p:cNvPr>
          <p:cNvSpPr txBox="1"/>
          <p:nvPr/>
        </p:nvSpPr>
        <p:spPr>
          <a:xfrm>
            <a:off x="430306" y="2324559"/>
            <a:ext cx="1036578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So, errors must be handled: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 need to bring back the program state to a well-known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 need to inform the user about the exceptional state and potentially give choices about recovering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 need to ensure that there’s no data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 need to keep track of what’s going on (=&gt; logging)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and, as far as possible, to let the program terminate gracefully</a:t>
            </a:r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B3B0C-6580-C9C9-88D7-67A5EEAB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87C9E1-70A3-ED15-9FC8-0A106569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7FF9A-C4FC-A364-F37E-C96F7DD86367}"/>
              </a:ext>
            </a:extLst>
          </p:cNvPr>
          <p:cNvSpPr txBox="1"/>
          <p:nvPr/>
        </p:nvSpPr>
        <p:spPr>
          <a:xfrm>
            <a:off x="430306" y="398033"/>
            <a:ext cx="2362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Exception safety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7B2DD-F9AC-1369-2879-20BB21AC2EC9}"/>
              </a:ext>
            </a:extLst>
          </p:cNvPr>
          <p:cNvSpPr txBox="1"/>
          <p:nvPr/>
        </p:nvSpPr>
        <p:spPr>
          <a:xfrm>
            <a:off x="430306" y="1268963"/>
            <a:ext cx="10479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state of a program is the whole set of all values of variables in a fixed point in time during its execution.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8485F-1EDF-43AC-06D3-B879B04A6C97}"/>
              </a:ext>
            </a:extLst>
          </p:cNvPr>
          <p:cNvSpPr txBox="1"/>
          <p:nvPr/>
        </p:nvSpPr>
        <p:spPr>
          <a:xfrm>
            <a:off x="430306" y="2047560"/>
            <a:ext cx="1095274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Given a function, there are 3 levels of exception safety:</a:t>
            </a:r>
          </a:p>
          <a:p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The function cannot fail, no exceptions can be thrown (for example, the sum of two numbers) (no recover)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The function recovers from the error, bringing the state of the program to one of the possible states, but</a:t>
            </a:r>
            <a:br>
              <a:rPr lang="en-US"/>
            </a:br>
            <a:r>
              <a:rPr lang="en-US"/>
              <a:t>the consumer of the function cannot find out which one, so it has to re-read the state to find out where to</a:t>
            </a:r>
            <a:br>
              <a:rPr lang="en-US"/>
            </a:br>
            <a:r>
              <a:rPr lang="en-US"/>
              <a:t>restart from (weak safety)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The function recovers from the error, bringing the state of the program to the value it was before calling the</a:t>
            </a:r>
            <a:br>
              <a:rPr lang="en-US"/>
            </a:br>
            <a:r>
              <a:rPr lang="en-US"/>
              <a:t>function, i.e. the program behaves like the function that triggered the exception had never been called</a:t>
            </a:r>
            <a:br>
              <a:rPr lang="en-US"/>
            </a:br>
            <a:r>
              <a:rPr lang="en-US"/>
              <a:t>(strong safety)</a:t>
            </a:r>
          </a:p>
        </p:txBody>
      </p:sp>
    </p:spTree>
    <p:extLst>
      <p:ext uri="{BB962C8B-B14F-4D97-AF65-F5344CB8AC3E}">
        <p14:creationId xmlns:p14="http://schemas.microsoft.com/office/powerpoint/2010/main" val="138963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4E065-822C-808C-502B-D9536D4E6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A388CD-81EF-FD2D-E32D-76BE159C4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4BC42-4537-A520-2214-7D2A15C7CD92}"/>
              </a:ext>
            </a:extLst>
          </p:cNvPr>
          <p:cNvSpPr txBox="1"/>
          <p:nvPr/>
        </p:nvSpPr>
        <p:spPr>
          <a:xfrm>
            <a:off x="430306" y="398033"/>
            <a:ext cx="6088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Exception safety: what a program should do?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97ADA-6728-7068-8E89-2CB58403E831}"/>
              </a:ext>
            </a:extLst>
          </p:cNvPr>
          <p:cNvSpPr txBox="1"/>
          <p:nvPr/>
        </p:nvSpPr>
        <p:spPr>
          <a:xfrm>
            <a:off x="503853" y="1278294"/>
            <a:ext cx="112456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 safety should be the condition that each function should achieve, but it’s quite hard, sometimes even impossible.</a:t>
            </a:r>
          </a:p>
          <a:p>
            <a:pPr lvl="1"/>
            <a:r>
              <a:rPr lang="en-US" dirty="0"/>
              <a:t>Example: write a file on a network drive.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Weak safety must be achieved at least</a:t>
            </a:r>
            <a:r>
              <a:rPr lang="en-US" dirty="0"/>
              <a:t>, ignoring all the functions that have no exception handling at all.</a:t>
            </a:r>
          </a:p>
          <a:p>
            <a:endParaRPr lang="en-US" dirty="0"/>
          </a:p>
          <a:p>
            <a:r>
              <a:rPr lang="en-US" dirty="0"/>
              <a:t>A software must not have a function that brings the state to a value that is not part of the set of the allowed values.</a:t>
            </a:r>
          </a:p>
          <a:p>
            <a:endParaRPr lang="en-US" dirty="0"/>
          </a:p>
          <a:p>
            <a:r>
              <a:rPr lang="en-US" dirty="0"/>
              <a:t>Which errors should we handle?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Device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Physical limits or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error (not talking about bugs, we’re talking about API misuse, ex. popping an element from an empty stack)</a:t>
            </a:r>
          </a:p>
        </p:txBody>
      </p:sp>
    </p:spTree>
    <p:extLst>
      <p:ext uri="{BB962C8B-B14F-4D97-AF65-F5344CB8AC3E}">
        <p14:creationId xmlns:p14="http://schemas.microsoft.com/office/powerpoint/2010/main" val="247800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951B8-6488-36FC-A0A8-14084E2AB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843D99-B87B-F250-A76F-A8EC65F91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C4B32-C30F-6F56-A3A9-240D45393FB4}"/>
              </a:ext>
            </a:extLst>
          </p:cNvPr>
          <p:cNvSpPr txBox="1"/>
          <p:nvPr/>
        </p:nvSpPr>
        <p:spPr>
          <a:xfrm>
            <a:off x="430306" y="398033"/>
            <a:ext cx="944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How?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44410-0AFF-AFFD-38ED-063590D12159}"/>
              </a:ext>
            </a:extLst>
          </p:cNvPr>
          <p:cNvSpPr txBox="1"/>
          <p:nvPr/>
        </p:nvSpPr>
        <p:spPr>
          <a:xfrm>
            <a:off x="430306" y="1073020"/>
            <a:ext cx="111324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first approach would be to return an error code when something goes wrong.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still used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Languages that do not support other mechanism, like 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Languages that believe that this is a better strategy, like Go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Functional programming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Another approach would be to return “nothing” when there’s an error, like NULL.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requires additional APIs to investigate why we don’t have data as result, we cannot distinguish</a:t>
            </a:r>
            <a:br>
              <a:rPr lang="en-US" dirty="0"/>
            </a:br>
            <a:r>
              <a:rPr lang="en-US" dirty="0"/>
              <a:t>between the lack of a result or a real error (a DB SELECT that returns NULL is due to an error or no data?)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Exceptions gives the caller an alternate execution path when the function perform its task due to an error, so the consumer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 informed about what went wrong (based on the exception type/data)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can perform recovery actions (assuming a weak safety)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DON’T use error handling as a mechanism for an “else-branch”.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A7D78E-7D66-C2C2-2898-14CA4F6FE2E4}"/>
              </a:ext>
            </a:extLst>
          </p:cNvPr>
          <p:cNvSpPr txBox="1"/>
          <p:nvPr/>
        </p:nvSpPr>
        <p:spPr>
          <a:xfrm>
            <a:off x="9977817" y="5415648"/>
            <a:ext cx="622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linkClick r:id="rId2"/>
              </a:rPr>
              <a:t>goto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45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F757-8CFF-0609-10F7-E5336BCFF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A65E7F-D1D5-332A-058F-EE39C8A0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D12F5-1EC6-46D2-CC7B-A303223B0F23}"/>
              </a:ext>
            </a:extLst>
          </p:cNvPr>
          <p:cNvSpPr txBox="1"/>
          <p:nvPr/>
        </p:nvSpPr>
        <p:spPr>
          <a:xfrm>
            <a:off x="430306" y="398033"/>
            <a:ext cx="3560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Exceptions – the Java way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3B885-B595-B477-C435-4A71BDA96982}"/>
              </a:ext>
            </a:extLst>
          </p:cNvPr>
          <p:cNvSpPr txBox="1"/>
          <p:nvPr/>
        </p:nvSpPr>
        <p:spPr>
          <a:xfrm>
            <a:off x="430306" y="1073020"/>
            <a:ext cx="1086368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Java an Exception is a class with an hierarchy of subclasses, that are specialized according to the cause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of the failure. So, a throw of an Exception implies the instantiation of an Exception object.</a:t>
            </a:r>
          </a:p>
          <a:p>
            <a:endParaRPr lang="en-US" dirty="0"/>
          </a:p>
          <a:p>
            <a:r>
              <a:rPr lang="en-US" dirty="0"/>
              <a:t>As we’re using OOP to implement Exception, custom exception classes can be added, to deal with application specific errors.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 Exceptions descend from a Throwable class, that contain: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human-readable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optional related cause (if we’re re-throwing)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stack trace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There are two kinds of Throwable: Error and Exception. Error hierarchy is reserved to the Java VM, so we don’t care, we just focus on Exception.</a:t>
            </a:r>
          </a:p>
          <a:p>
            <a:endParaRPr lang="en-US" dirty="0"/>
          </a:p>
          <a:p>
            <a:r>
              <a:rPr lang="en-US" dirty="0"/>
              <a:t>Runtime are reserved for programming error (like the API misuse).</a:t>
            </a:r>
          </a:p>
          <a:p>
            <a:endParaRPr lang="en-US" dirty="0"/>
          </a:p>
          <a:p>
            <a:r>
              <a:rPr lang="en-US" dirty="0"/>
              <a:t>I/O for all other reasons, that are outside of the code.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FA99E7-AB7E-1ACB-E3D9-1A5D0600A290}"/>
              </a:ext>
            </a:extLst>
          </p:cNvPr>
          <p:cNvGrpSpPr/>
          <p:nvPr/>
        </p:nvGrpSpPr>
        <p:grpSpPr>
          <a:xfrm>
            <a:off x="8138142" y="2513887"/>
            <a:ext cx="3511741" cy="2014892"/>
            <a:chOff x="8138142" y="2513887"/>
            <a:chExt cx="3511741" cy="201489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10CCF2E-974E-5980-AD6B-207192DE783A}"/>
                </a:ext>
              </a:extLst>
            </p:cNvPr>
            <p:cNvSpPr txBox="1"/>
            <p:nvPr/>
          </p:nvSpPr>
          <p:spPr>
            <a:xfrm>
              <a:off x="8968736" y="2513887"/>
              <a:ext cx="1220462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Throwable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3FD2542-9125-190F-4B28-1E5B264B37E8}"/>
                </a:ext>
              </a:extLst>
            </p:cNvPr>
            <p:cNvSpPr txBox="1"/>
            <p:nvPr/>
          </p:nvSpPr>
          <p:spPr>
            <a:xfrm>
              <a:off x="8138142" y="3429000"/>
              <a:ext cx="667234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Error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2173A4-BB6B-376D-86DD-747BE0F1E99D}"/>
                </a:ext>
              </a:extLst>
            </p:cNvPr>
            <p:cNvSpPr txBox="1"/>
            <p:nvPr/>
          </p:nvSpPr>
          <p:spPr>
            <a:xfrm>
              <a:off x="9994867" y="3459681"/>
              <a:ext cx="1168397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Exception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F46BFC-FE80-8D44-DEED-083D26C8DA9B}"/>
                </a:ext>
              </a:extLst>
            </p:cNvPr>
            <p:cNvSpPr txBox="1"/>
            <p:nvPr/>
          </p:nvSpPr>
          <p:spPr>
            <a:xfrm>
              <a:off x="9064916" y="4159447"/>
              <a:ext cx="1028102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Runtime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1286852-665A-3D33-BA9F-CDB3BCB5BD3E}"/>
                </a:ext>
              </a:extLst>
            </p:cNvPr>
            <p:cNvSpPr txBox="1"/>
            <p:nvPr/>
          </p:nvSpPr>
          <p:spPr>
            <a:xfrm>
              <a:off x="11160710" y="4159447"/>
              <a:ext cx="489173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I/O</a:t>
              </a:r>
            </a:p>
          </p:txBody>
        </p:sp>
        <p:cxnSp>
          <p:nvCxnSpPr>
            <p:cNvPr id="11" name="Elbow Connector 10">
              <a:extLst>
                <a:ext uri="{FF2B5EF4-FFF2-40B4-BE49-F238E27FC236}">
                  <a16:creationId xmlns:a16="http://schemas.microsoft.com/office/drawing/2014/main" id="{92DFA33F-4FC1-EB40-D6BA-0FF33EF5793E}"/>
                </a:ext>
              </a:extLst>
            </p:cNvPr>
            <p:cNvCxnSpPr>
              <a:stCxn id="5" idx="0"/>
              <a:endCxn id="4" idx="2"/>
            </p:cNvCxnSpPr>
            <p:nvPr/>
          </p:nvCxnSpPr>
          <p:spPr>
            <a:xfrm rot="5400000" flipH="1" flipV="1">
              <a:off x="8752473" y="2602506"/>
              <a:ext cx="545781" cy="110720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lbow Connector 12">
              <a:extLst>
                <a:ext uri="{FF2B5EF4-FFF2-40B4-BE49-F238E27FC236}">
                  <a16:creationId xmlns:a16="http://schemas.microsoft.com/office/drawing/2014/main" id="{1A80CF81-8180-FD99-441E-D72C1EBB57BA}"/>
                </a:ext>
              </a:extLst>
            </p:cNvPr>
            <p:cNvCxnSpPr>
              <a:stCxn id="7" idx="0"/>
              <a:endCxn id="4" idx="2"/>
            </p:cNvCxnSpPr>
            <p:nvPr/>
          </p:nvCxnSpPr>
          <p:spPr>
            <a:xfrm rot="16200000" flipV="1">
              <a:off x="9790786" y="2671400"/>
              <a:ext cx="576462" cy="1000099"/>
            </a:xfrm>
            <a:prstGeom prst="bentConnector3">
              <a:avLst>
                <a:gd name="adj1" fmla="val 51619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3B57F63A-1BB0-A57F-3975-967F91F78A9F}"/>
                </a:ext>
              </a:extLst>
            </p:cNvPr>
            <p:cNvCxnSpPr>
              <a:stCxn id="8" idx="0"/>
              <a:endCxn id="7" idx="2"/>
            </p:cNvCxnSpPr>
            <p:nvPr/>
          </p:nvCxnSpPr>
          <p:spPr>
            <a:xfrm rot="5400000" flipH="1" flipV="1">
              <a:off x="9913799" y="3494181"/>
              <a:ext cx="330434" cy="100009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80D839E7-F496-08F7-A68E-66D0B825810B}"/>
                </a:ext>
              </a:extLst>
            </p:cNvPr>
            <p:cNvCxnSpPr>
              <a:stCxn id="9" idx="0"/>
              <a:endCxn id="7" idx="2"/>
            </p:cNvCxnSpPr>
            <p:nvPr/>
          </p:nvCxnSpPr>
          <p:spPr>
            <a:xfrm rot="16200000" flipV="1">
              <a:off x="10826965" y="3581114"/>
              <a:ext cx="330434" cy="82623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E742C3B-46F3-E3C0-87C4-6AC9208827A5}"/>
              </a:ext>
            </a:extLst>
          </p:cNvPr>
          <p:cNvCxnSpPr/>
          <p:nvPr/>
        </p:nvCxnSpPr>
        <p:spPr>
          <a:xfrm flipH="1">
            <a:off x="7128588" y="5617029"/>
            <a:ext cx="11103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B69486F-2594-1439-B72D-E9A101C0D91D}"/>
              </a:ext>
            </a:extLst>
          </p:cNvPr>
          <p:cNvSpPr txBox="1"/>
          <p:nvPr/>
        </p:nvSpPr>
        <p:spPr>
          <a:xfrm>
            <a:off x="8379393" y="5432363"/>
            <a:ext cx="177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This is your fault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3BA326-7AE6-6BD9-D4C2-B296C0F91AB3}"/>
              </a:ext>
            </a:extLst>
          </p:cNvPr>
          <p:cNvCxnSpPr>
            <a:cxnSpLocks/>
          </p:cNvCxnSpPr>
          <p:nvPr/>
        </p:nvCxnSpPr>
        <p:spPr>
          <a:xfrm flipH="1">
            <a:off x="5747657" y="6207967"/>
            <a:ext cx="24912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89F69B6-C2DA-449C-3E49-13EAD2BE0D94}"/>
              </a:ext>
            </a:extLst>
          </p:cNvPr>
          <p:cNvSpPr txBox="1"/>
          <p:nvPr/>
        </p:nvSpPr>
        <p:spPr>
          <a:xfrm>
            <a:off x="8379393" y="5978144"/>
            <a:ext cx="2896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This is someone else’s fault</a:t>
            </a:r>
          </a:p>
        </p:txBody>
      </p:sp>
    </p:spTree>
    <p:extLst>
      <p:ext uri="{BB962C8B-B14F-4D97-AF65-F5344CB8AC3E}">
        <p14:creationId xmlns:p14="http://schemas.microsoft.com/office/powerpoint/2010/main" val="365722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2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C4AE1-D3E1-090E-B649-27E2A56A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9B5708-FF5D-991B-A3A8-EE9167D3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426ED-2D76-1882-589D-5D640BE465DC}"/>
              </a:ext>
            </a:extLst>
          </p:cNvPr>
          <p:cNvSpPr txBox="1"/>
          <p:nvPr/>
        </p:nvSpPr>
        <p:spPr>
          <a:xfrm>
            <a:off x="430306" y="398033"/>
            <a:ext cx="2878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Checked exceptions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9B2E2C-D70F-693C-ACBE-6665E73A3737}"/>
              </a:ext>
            </a:extLst>
          </p:cNvPr>
          <p:cNvSpPr txBox="1"/>
          <p:nvPr/>
        </p:nvSpPr>
        <p:spPr>
          <a:xfrm>
            <a:off x="513184" y="1101012"/>
            <a:ext cx="110136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Java method should declare in its header the list of exception types it could potentially throw.</a:t>
            </a:r>
          </a:p>
          <a:p>
            <a:endParaRPr lang="en-US"/>
          </a:p>
          <a:p>
            <a:r>
              <a:rPr lang="en-US"/>
              <a:t>A checked exception should 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not an Error (that are internal to the Java VM)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not a RuntimeException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You could list a RuntimeException, </a:t>
            </a:r>
            <a:r>
              <a:rPr lang="en-US">
                <a:hlinkClick r:id="rId2"/>
              </a:rPr>
              <a:t>but you won’t get any present from Santa Claus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Forwarding a RuntimeException (like, for example, ArrayIndexOutOfBoundsException) is like saying “watch out, my method is buggy”, i.e. a bad style code. A RuntimeException must always be avoided (or handled properly) without any propagation, because the implementer is in charge of fixing them.</a:t>
            </a:r>
          </a:p>
          <a:p>
            <a:endParaRPr lang="en-US"/>
          </a:p>
          <a:p>
            <a:r>
              <a:rPr lang="en-US"/>
              <a:t>But you can create your custom Exception, that inform, for example, about invalid input passed to the instance.</a:t>
            </a:r>
          </a:p>
          <a:p>
            <a:endParaRPr lang="en-US"/>
          </a:p>
          <a:p>
            <a:r>
              <a:rPr lang="en-US"/>
              <a:t>Declaring a checked exception informs the compiler about your intentions, so it can help you checking if all exception chances have been handled.</a:t>
            </a:r>
          </a:p>
        </p:txBody>
      </p:sp>
    </p:spTree>
    <p:extLst>
      <p:ext uri="{BB962C8B-B14F-4D97-AF65-F5344CB8AC3E}">
        <p14:creationId xmlns:p14="http://schemas.microsoft.com/office/powerpoint/2010/main" val="365242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1E16D-4263-E268-EE16-B6A72D7B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80C5CC-C32A-A8C1-ED7C-9B01A869C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94910-B994-702C-019D-4795BB72A8FB}"/>
              </a:ext>
            </a:extLst>
          </p:cNvPr>
          <p:cNvSpPr txBox="1"/>
          <p:nvPr/>
        </p:nvSpPr>
        <p:spPr>
          <a:xfrm>
            <a:off x="430306" y="398033"/>
            <a:ext cx="3138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Throwing an exception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120571-182E-110B-7429-F2680F8B8449}"/>
              </a:ext>
            </a:extLst>
          </p:cNvPr>
          <p:cNvSpPr txBox="1"/>
          <p:nvPr/>
        </p:nvSpPr>
        <p:spPr>
          <a:xfrm>
            <a:off x="430306" y="967059"/>
            <a:ext cx="652133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InsufficientFundsException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InsufficientFundsException(String message)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super(message);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68889E-CEBA-7589-71F1-9B8A3B3638AE}"/>
              </a:ext>
            </a:extLst>
          </p:cNvPr>
          <p:cNvSpPr txBox="1"/>
          <p:nvPr/>
        </p:nvSpPr>
        <p:spPr>
          <a:xfrm>
            <a:off x="430306" y="2283771"/>
            <a:ext cx="9206366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public class BankAccount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private double balance;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BankAccount(double initialBalance)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balance = initialBalance;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void withdraw(double amount) </a:t>
            </a:r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InsufficientFundsException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if (amount &gt; balance)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 new InsufficientFundsException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("Not enough money in the account");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balance -= amount;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double getBalance()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return balance;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2771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6259-0434-BB40-5420-6921871A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BCB96A-AF3B-9605-399E-454473BA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39E9D-5C34-9F55-3FFE-07A9D9BB4ED9}"/>
              </a:ext>
            </a:extLst>
          </p:cNvPr>
          <p:cNvSpPr txBox="1"/>
          <p:nvPr/>
        </p:nvSpPr>
        <p:spPr>
          <a:xfrm>
            <a:off x="430306" y="398033"/>
            <a:ext cx="3138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Catching an exception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B5BF21-0A4E-D428-11F0-58B5A2C8C1DF}"/>
              </a:ext>
            </a:extLst>
          </p:cNvPr>
          <p:cNvSpPr txBox="1"/>
          <p:nvPr/>
        </p:nvSpPr>
        <p:spPr>
          <a:xfrm>
            <a:off x="430306" y="1095051"/>
            <a:ext cx="652133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public class BankAccountTest {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 {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BankAccount account = new BankAccount(100);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account.withdraw(150);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System.out.println("Withdrawal successful");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} </a:t>
            </a:r>
            <a:r>
              <a:rPr lang="en-US" sz="1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InsufficientFundsException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System.out.println("Error: " + e.getMessage());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System.out.println("Program continues running");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93DBC-E013-0330-1931-B079DB10B11F}"/>
              </a:ext>
            </a:extLst>
          </p:cNvPr>
          <p:cNvSpPr txBox="1"/>
          <p:nvPr/>
        </p:nvSpPr>
        <p:spPr>
          <a:xfrm>
            <a:off x="7109460" y="628865"/>
            <a:ext cx="482766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Advantages of the Exception approach: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code is cleaner and maintainable: there</a:t>
            </a:r>
            <a:br>
              <a:rPr lang="en-US"/>
            </a:br>
            <a:r>
              <a:rPr lang="en-US"/>
              <a:t>are no if-else branches, in the try block</a:t>
            </a:r>
            <a:br>
              <a:rPr lang="en-US"/>
            </a:br>
            <a:r>
              <a:rPr lang="en-US"/>
              <a:t>the developer can code like everything</a:t>
            </a:r>
            <a:br>
              <a:rPr lang="en-US"/>
            </a:br>
            <a:r>
              <a:rPr lang="en-US"/>
              <a:t>runs smoothly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flows are decoupled between “positive” and</a:t>
            </a:r>
            <a:br>
              <a:rPr lang="en-US"/>
            </a:br>
            <a:r>
              <a:rPr lang="en-US"/>
              <a:t>”negative” code, the developer can easily</a:t>
            </a:r>
            <a:br>
              <a:rPr lang="en-US"/>
            </a:br>
            <a:r>
              <a:rPr lang="en-US"/>
              <a:t>spot where the main algorithm runs and</a:t>
            </a:r>
            <a:br>
              <a:rPr lang="en-US"/>
            </a:br>
            <a:r>
              <a:rPr lang="en-US"/>
              <a:t>where the recovery code runs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571E84-D596-1685-36F0-A3E424AC4ABE}"/>
              </a:ext>
            </a:extLst>
          </p:cNvPr>
          <p:cNvSpPr txBox="1"/>
          <p:nvPr/>
        </p:nvSpPr>
        <p:spPr>
          <a:xfrm>
            <a:off x="7109460" y="4141685"/>
            <a:ext cx="475098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Downsides: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slower. The Java VM must create an</a:t>
            </a:r>
            <a:br>
              <a:rPr lang="en-US" dirty="0"/>
            </a:br>
            <a:r>
              <a:rPr lang="en-US" dirty="0"/>
              <a:t>instance (so heap usage), book-keep it all</a:t>
            </a:r>
            <a:br>
              <a:rPr lang="en-US" dirty="0"/>
            </a:br>
            <a:r>
              <a:rPr lang="en-US" dirty="0"/>
              <a:t>along the stack trace to pass it higher in the</a:t>
            </a:r>
            <a:br>
              <a:rPr lang="en-US" dirty="0"/>
            </a:br>
            <a:r>
              <a:rPr lang="en-US" dirty="0"/>
              <a:t>stack, this doesn’t come for free.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(stack unwinding)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E4FB05-9138-962A-8A6F-CB44DD785A42}"/>
              </a:ext>
            </a:extLst>
          </p:cNvPr>
          <p:cNvCxnSpPr/>
          <p:nvPr/>
        </p:nvCxnSpPr>
        <p:spPr>
          <a:xfrm flipH="1">
            <a:off x="5646420" y="5429250"/>
            <a:ext cx="130522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18A8281-5496-383E-DD56-FE9F138DFCCE}"/>
              </a:ext>
            </a:extLst>
          </p:cNvPr>
          <p:cNvSpPr txBox="1"/>
          <p:nvPr/>
        </p:nvSpPr>
        <p:spPr>
          <a:xfrm>
            <a:off x="745487" y="5033750"/>
            <a:ext cx="46228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This is NOT a replacement of if-then-else!!!</a:t>
            </a:r>
          </a:p>
          <a:p>
            <a:endParaRPr lang="en-US" b="1">
              <a:solidFill>
                <a:srgbClr val="FF0000"/>
              </a:solidFill>
            </a:endParaRPr>
          </a:p>
          <a:p>
            <a:r>
              <a:rPr lang="en-US"/>
              <a:t>They don’t call them Exception for nothing </a:t>
            </a:r>
            <a:r>
              <a:rPr lang="en-US">
                <a:sym typeface="Wingdings" pitchFamily="2" charset="2"/>
              </a:rPr>
              <a:t>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1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5F371-121F-372E-CB63-7DAEFBC90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CC20C3-B27D-99E8-3EAC-E03DC379D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5E095-F899-3E88-57C0-ED57FE4C3977}"/>
              </a:ext>
            </a:extLst>
          </p:cNvPr>
          <p:cNvSpPr txBox="1"/>
          <p:nvPr/>
        </p:nvSpPr>
        <p:spPr>
          <a:xfrm>
            <a:off x="4352702" y="3105834"/>
            <a:ext cx="3486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try-catch project</a:t>
            </a:r>
          </a:p>
        </p:txBody>
      </p:sp>
    </p:spTree>
    <p:extLst>
      <p:ext uri="{BB962C8B-B14F-4D97-AF65-F5344CB8AC3E}">
        <p14:creationId xmlns:p14="http://schemas.microsoft.com/office/powerpoint/2010/main" val="2475305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4096A-9196-15B8-8195-160C7217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A88173-80B3-6B02-F404-99D20C459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FA3B4-5E3F-C984-F6FB-3EB351F44561}"/>
              </a:ext>
            </a:extLst>
          </p:cNvPr>
          <p:cNvSpPr txBox="1"/>
          <p:nvPr/>
        </p:nvSpPr>
        <p:spPr>
          <a:xfrm>
            <a:off x="430306" y="398033"/>
            <a:ext cx="4527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try / catch and resource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5980AC-F7F0-499D-4535-7974E261A9CC}"/>
              </a:ext>
            </a:extLst>
          </p:cNvPr>
          <p:cNvSpPr txBox="1"/>
          <p:nvPr/>
        </p:nvSpPr>
        <p:spPr>
          <a:xfrm>
            <a:off x="430306" y="1232614"/>
            <a:ext cx="11242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try-catch mechanism has an important limitation, i.e. does not cope well with resource management and</a:t>
            </a:r>
          </a:p>
          <a:p>
            <a:r>
              <a:rPr lang="en-US"/>
              <a:t>guarantee the weak safety.</a:t>
            </a:r>
          </a:p>
          <a:p>
            <a:endParaRPr lang="en-US"/>
          </a:p>
          <a:p>
            <a:r>
              <a:rPr lang="en-US"/>
              <a:t>Assume that we’re handling a network connection.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3D3C5-B3BB-CD0D-E75D-18464EE3F4D0}"/>
              </a:ext>
            </a:extLst>
          </p:cNvPr>
          <p:cNvSpPr txBox="1"/>
          <p:nvPr/>
        </p:nvSpPr>
        <p:spPr>
          <a:xfrm>
            <a:off x="430306" y="3100792"/>
            <a:ext cx="381065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Connection conn = new Connection(...);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conn.open(...); 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conn.write(....);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conn.close();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 catch (IOException 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// process error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conn.close();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C443D2-650A-4072-046F-8E3B95334DD9}"/>
              </a:ext>
            </a:extLst>
          </p:cNvPr>
          <p:cNvGrpSpPr/>
          <p:nvPr/>
        </p:nvGrpSpPr>
        <p:grpSpPr>
          <a:xfrm>
            <a:off x="1990220" y="4162621"/>
            <a:ext cx="3318898" cy="954107"/>
            <a:chOff x="1990220" y="4162621"/>
            <a:chExt cx="3318898" cy="954107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F93F0F9-4725-7A4E-6F51-5228A4346D86}"/>
                </a:ext>
              </a:extLst>
            </p:cNvPr>
            <p:cNvCxnSpPr/>
            <p:nvPr/>
          </p:nvCxnSpPr>
          <p:spPr>
            <a:xfrm flipH="1" flipV="1">
              <a:off x="1990220" y="4357396"/>
              <a:ext cx="1779347" cy="2332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724F6B3-F0DD-220D-0278-624A3871C6E0}"/>
                </a:ext>
              </a:extLst>
            </p:cNvPr>
            <p:cNvCxnSpPr/>
            <p:nvPr/>
          </p:nvCxnSpPr>
          <p:spPr>
            <a:xfrm flipH="1">
              <a:off x="1990220" y="4599992"/>
              <a:ext cx="1732694" cy="2705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A1AEDB-B1C1-4956-E89F-E26AF257EBF1}"/>
                </a:ext>
              </a:extLst>
            </p:cNvPr>
            <p:cNvSpPr txBox="1"/>
            <p:nvPr/>
          </p:nvSpPr>
          <p:spPr>
            <a:xfrm>
              <a:off x="3769567" y="4162621"/>
              <a:ext cx="153955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we’re duplicating the resource</a:t>
              </a:r>
            </a:p>
            <a:p>
              <a:r>
                <a:rPr lang="en-US" sz="1400"/>
                <a:t>management cleanup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6526F4D-205B-C531-5238-34E70C1B417D}"/>
              </a:ext>
            </a:extLst>
          </p:cNvPr>
          <p:cNvSpPr txBox="1"/>
          <p:nvPr/>
        </p:nvSpPr>
        <p:spPr>
          <a:xfrm>
            <a:off x="7088465" y="2805859"/>
            <a:ext cx="381065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Connection conn = new Connection(...);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try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conn.open(...);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conn.write(....);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conn.close();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 catch (IOException 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process error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throw 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 catch 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conn.close();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1506401-2CD4-9188-FF02-D5AFE21F6343}"/>
              </a:ext>
            </a:extLst>
          </p:cNvPr>
          <p:cNvGrpSpPr/>
          <p:nvPr/>
        </p:nvGrpSpPr>
        <p:grpSpPr>
          <a:xfrm>
            <a:off x="5195751" y="2451918"/>
            <a:ext cx="2007482" cy="1384995"/>
            <a:chOff x="5195751" y="2451918"/>
            <a:chExt cx="2007482" cy="138499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31AB567-DCC0-60CB-88C2-4AD56CB3701C}"/>
                </a:ext>
              </a:extLst>
            </p:cNvPr>
            <p:cNvCxnSpPr>
              <a:cxnSpLocks/>
            </p:cNvCxnSpPr>
            <p:nvPr/>
          </p:nvCxnSpPr>
          <p:spPr>
            <a:xfrm>
              <a:off x="6382139" y="2967135"/>
              <a:ext cx="706326" cy="1336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6EFCBF1-CD5F-3FE0-9A0F-C48766D466E9}"/>
                </a:ext>
              </a:extLst>
            </p:cNvPr>
            <p:cNvCxnSpPr>
              <a:cxnSpLocks/>
            </p:cNvCxnSpPr>
            <p:nvPr/>
          </p:nvCxnSpPr>
          <p:spPr>
            <a:xfrm>
              <a:off x="6382139" y="2967135"/>
              <a:ext cx="821094" cy="5505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D524F76-CBBD-6B75-FB6B-7B9E2D566C43}"/>
                </a:ext>
              </a:extLst>
            </p:cNvPr>
            <p:cNvSpPr txBox="1"/>
            <p:nvPr/>
          </p:nvSpPr>
          <p:spPr>
            <a:xfrm>
              <a:off x="5195751" y="2451918"/>
              <a:ext cx="153955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we’re nesting try blocks to propagate the error to the last</a:t>
              </a:r>
            </a:p>
            <a:p>
              <a:r>
                <a:rPr lang="en-US" sz="1400"/>
                <a:t>catch and handle the close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531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28F9-2FAC-5D46-9BD2-F0E69D30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177276-D0D5-6A8D-2A1A-A460BC06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A3622-7FBA-CA7B-53DE-C7DF663AA339}"/>
              </a:ext>
            </a:extLst>
          </p:cNvPr>
          <p:cNvSpPr txBox="1"/>
          <p:nvPr/>
        </p:nvSpPr>
        <p:spPr>
          <a:xfrm>
            <a:off x="430306" y="398033"/>
            <a:ext cx="1559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try / finally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2B0BC-6C62-70F1-0BEF-6ADBABCDC8CC}"/>
              </a:ext>
            </a:extLst>
          </p:cNvPr>
          <p:cNvSpPr txBox="1"/>
          <p:nvPr/>
        </p:nvSpPr>
        <p:spPr>
          <a:xfrm>
            <a:off x="430306" y="1232614"/>
            <a:ext cx="1124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try / finally blocks fix the issue and make the code cleaner and weak safety proof.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FC117B-05F8-45B9-DEC9-1D4BD3C69FF0}"/>
              </a:ext>
            </a:extLst>
          </p:cNvPr>
          <p:cNvSpPr txBox="1"/>
          <p:nvPr/>
        </p:nvSpPr>
        <p:spPr>
          <a:xfrm>
            <a:off x="430306" y="2039140"/>
            <a:ext cx="4373313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Connection conn = new Connection(...); </a:t>
            </a:r>
          </a:p>
          <a:p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conn.open(....)  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conn.write(....);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(IOException e)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// process error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conn.close();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E9DBDCB4-B56E-AF57-75A9-7838405FD756}"/>
              </a:ext>
            </a:extLst>
          </p:cNvPr>
          <p:cNvSpPr/>
          <p:nvPr/>
        </p:nvSpPr>
        <p:spPr>
          <a:xfrm rot="5400000">
            <a:off x="1231640" y="4762610"/>
            <a:ext cx="653143" cy="130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880AC-8734-9ACA-53AB-71106672E317}"/>
              </a:ext>
            </a:extLst>
          </p:cNvPr>
          <p:cNvSpPr txBox="1"/>
          <p:nvPr/>
        </p:nvSpPr>
        <p:spPr>
          <a:xfrm>
            <a:off x="430306" y="5440720"/>
            <a:ext cx="10392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Weak safety: no matter what happens, we release the resource, so we don’t have a program state with a</a:t>
            </a:r>
          </a:p>
          <a:p>
            <a:r>
              <a:rPr lang="en-US"/>
              <a:t>pending and missing network connection (that is not an allowed state)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EC4787-A9A4-E3CE-85DB-FA0582771CF8}"/>
              </a:ext>
            </a:extLst>
          </p:cNvPr>
          <p:cNvGrpSpPr/>
          <p:nvPr/>
        </p:nvGrpSpPr>
        <p:grpSpPr>
          <a:xfrm>
            <a:off x="2388637" y="3763642"/>
            <a:ext cx="2777122" cy="646331"/>
            <a:chOff x="2388637" y="3763642"/>
            <a:chExt cx="2777122" cy="64633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A425F1F-7324-FF59-3687-BF3EA9207A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88637" y="4086808"/>
              <a:ext cx="9237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106C7D-E617-3C07-9101-99D67A61A3EB}"/>
                </a:ext>
              </a:extLst>
            </p:cNvPr>
            <p:cNvSpPr txBox="1"/>
            <p:nvPr/>
          </p:nvSpPr>
          <p:spPr>
            <a:xfrm>
              <a:off x="3312367" y="3763642"/>
              <a:ext cx="18533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cleanup occurs</a:t>
              </a:r>
            </a:p>
            <a:p>
              <a:r>
                <a:rPr lang="en-US"/>
                <a:t>in one place only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AB51945-1949-B382-D822-2309A8647C9D}"/>
              </a:ext>
            </a:extLst>
          </p:cNvPr>
          <p:cNvSpPr txBox="1"/>
          <p:nvPr/>
        </p:nvSpPr>
        <p:spPr>
          <a:xfrm>
            <a:off x="7299283" y="1762332"/>
            <a:ext cx="426591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Connection conn = new Connection(...);</a:t>
            </a:r>
          </a:p>
          <a:p>
            <a:r>
              <a:rPr lang="en-US" sz="1400" b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try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conn.open(....)  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conn.write(....);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(IOException e)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// process error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sz="1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conn.close();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(...)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// handle close errors, but there’s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// not much we can do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EB191A-253A-5045-B80F-30642008A8D8}"/>
              </a:ext>
            </a:extLst>
          </p:cNvPr>
          <p:cNvGrpSpPr/>
          <p:nvPr/>
        </p:nvGrpSpPr>
        <p:grpSpPr>
          <a:xfrm>
            <a:off x="5056613" y="2452101"/>
            <a:ext cx="2078774" cy="818145"/>
            <a:chOff x="5056613" y="2452101"/>
            <a:chExt cx="2078774" cy="818145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189D32F9-35DD-49E1-D1D8-B8BEB8FC23F0}"/>
                </a:ext>
              </a:extLst>
            </p:cNvPr>
            <p:cNvSpPr/>
            <p:nvPr/>
          </p:nvSpPr>
          <p:spPr>
            <a:xfrm>
              <a:off x="5478167" y="3013788"/>
              <a:ext cx="1458976" cy="25645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882C43-F2CF-92B9-2A22-567135E70356}"/>
                </a:ext>
              </a:extLst>
            </p:cNvPr>
            <p:cNvSpPr txBox="1"/>
            <p:nvPr/>
          </p:nvSpPr>
          <p:spPr>
            <a:xfrm>
              <a:off x="5056613" y="2452101"/>
              <a:ext cx="20787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/>
                <a:t>still not nice, the</a:t>
              </a:r>
            </a:p>
            <a:p>
              <a:pPr algn="ctr"/>
              <a:r>
                <a:rPr lang="en-US" sz="1600"/>
                <a:t>close can throw too </a:t>
              </a:r>
              <a:r>
                <a:rPr lang="en-US" sz="1600">
                  <a:sym typeface="Wingdings" pitchFamily="2" charset="2"/>
                </a:rPr>
                <a:t>:(</a:t>
              </a:r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223676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5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37A56-925F-7972-CF9C-1E4B67B9E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05FD1F-30DD-4747-D438-AC44E8813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6A6CA-284F-2CC7-0B6F-F976E49F31EC}"/>
              </a:ext>
            </a:extLst>
          </p:cNvPr>
          <p:cNvSpPr txBox="1"/>
          <p:nvPr/>
        </p:nvSpPr>
        <p:spPr>
          <a:xfrm>
            <a:off x="430306" y="398033"/>
            <a:ext cx="271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try-with-Resources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CABFE0-A9D7-705E-771F-8031F22F0B98}"/>
              </a:ext>
            </a:extLst>
          </p:cNvPr>
          <p:cNvSpPr txBox="1"/>
          <p:nvPr/>
        </p:nvSpPr>
        <p:spPr>
          <a:xfrm>
            <a:off x="430306" y="1232614"/>
            <a:ext cx="11242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try/catch + try/finally can be solved by the try-with, assuming that the class you’re consuming implements</a:t>
            </a:r>
          </a:p>
          <a:p>
            <a:r>
              <a:rPr lang="en-US"/>
              <a:t>the AutoCloseable interface.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CDA812-CBBB-FFF4-9B31-AFA093152007}"/>
              </a:ext>
            </a:extLst>
          </p:cNvPr>
          <p:cNvSpPr txBox="1"/>
          <p:nvPr/>
        </p:nvSpPr>
        <p:spPr>
          <a:xfrm>
            <a:off x="430306" y="2363321"/>
            <a:ext cx="501772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try (Connection conn = new Connection(...))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conn.open(...);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conn.write(...);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EA5FAA-88D1-F223-9236-2C782C1B2F1C}"/>
              </a:ext>
            </a:extLst>
          </p:cNvPr>
          <p:cNvSpPr txBox="1"/>
          <p:nvPr/>
        </p:nvSpPr>
        <p:spPr>
          <a:xfrm>
            <a:off x="513184" y="3844212"/>
            <a:ext cx="66803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close method is automatically called at the end of the try block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any non-close exception is rethrown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any close exception is suppressed</a:t>
            </a:r>
          </a:p>
        </p:txBody>
      </p:sp>
    </p:spTree>
    <p:extLst>
      <p:ext uri="{BB962C8B-B14F-4D97-AF65-F5344CB8AC3E}">
        <p14:creationId xmlns:p14="http://schemas.microsoft.com/office/powerpoint/2010/main" val="204166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CBB7A-5FFC-E766-81FF-D36D71D8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5F4E1C-A237-587E-C537-2326F11E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Exceptions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715FF-FEDB-1927-15B4-FC8DC58D636A}"/>
              </a:ext>
            </a:extLst>
          </p:cNvPr>
          <p:cNvSpPr txBox="1"/>
          <p:nvPr/>
        </p:nvSpPr>
        <p:spPr>
          <a:xfrm>
            <a:off x="4315352" y="3105834"/>
            <a:ext cx="3561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try-finally project</a:t>
            </a:r>
          </a:p>
        </p:txBody>
      </p:sp>
    </p:spTree>
    <p:extLst>
      <p:ext uri="{BB962C8B-B14F-4D97-AF65-F5344CB8AC3E}">
        <p14:creationId xmlns:p14="http://schemas.microsoft.com/office/powerpoint/2010/main" val="3984564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1696</Words>
  <Application>Microsoft Office PowerPoint</Application>
  <PresentationFormat>Widescreen</PresentationFormat>
  <Paragraphs>245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Tatiana Rubina</cp:lastModifiedBy>
  <cp:revision>40</cp:revision>
  <dcterms:created xsi:type="dcterms:W3CDTF">2025-02-17T20:26:07Z</dcterms:created>
  <dcterms:modified xsi:type="dcterms:W3CDTF">2026-05-17T15:03:06Z</dcterms:modified>
</cp:coreProperties>
</file>