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98"/>
    <p:restoredTop sz="94682"/>
  </p:normalViewPr>
  <p:slideViewPr>
    <p:cSldViewPr snapToGrid="0">
      <p:cViewPr varScale="1">
        <p:scale>
          <a:sx n="119" d="100"/>
          <a:sy n="119" d="100"/>
        </p:scale>
        <p:origin x="8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64AB-AD8D-B443-9014-BB3AFBDB2E71}" type="datetime1"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187C-9AA0-CC40-8625-8088DC6BB235}" type="datetime1"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2BB3-9A50-A649-89DF-C1036A3DEB86}" type="datetime1"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EE84-7D8F-1E4E-A8C3-D9602592F3E8}" type="datetime1"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A324-8912-BD40-8CDA-0CAAF3FF627A}" type="datetime1"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DE4A-87F1-8341-90A3-B428B9EBBB01}" type="datetime1"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E4138-F626-9D47-A263-28C2E7A18FC9}" type="datetime1">
              <a:t>5/10/26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E69E-8E75-B644-96A2-C091A317105C}" type="datetime1"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B4A7-9E04-A648-976F-22BD0917000F}" type="datetime1"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BDB4B-CF5A-5E43-BE64-6ED5515B4099}" type="datetime1"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5556-DBD8-C64C-B154-1B2429D18843}" type="datetime1"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55670-4DEA-D04C-95FD-9938C686A9EB}" type="datetime1"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Classes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430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2E73E-5FE4-B397-BDFC-5C186926044C}"/>
              </a:ext>
            </a:extLst>
          </p:cNvPr>
          <p:cNvSpPr txBox="1"/>
          <p:nvPr/>
        </p:nvSpPr>
        <p:spPr>
          <a:xfrm>
            <a:off x="430306" y="398033"/>
            <a:ext cx="1614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OOP?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80774-338B-D617-DA87-0F72A376D33D}"/>
              </a:ext>
            </a:extLst>
          </p:cNvPr>
          <p:cNvSpPr txBox="1"/>
          <p:nvPr/>
        </p:nvSpPr>
        <p:spPr>
          <a:xfrm>
            <a:off x="430306" y="1194099"/>
            <a:ext cx="1067388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Procedural approach has the main drawback that data and algorithms that work on that data are detached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redundancy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missing access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does not scale (i.e. the code required for scaling explodes with the number of data structures</a:t>
            </a:r>
            <a:br>
              <a:rPr lang="en-US"/>
            </a:br>
            <a:r>
              <a:rPr lang="en-US"/>
              <a:t>and algoritms involved)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lack of reusability by extensibility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sometimes is the only way to go (for example, language bindings, embedding development or</a:t>
            </a:r>
            <a:br>
              <a:rPr lang="en-US"/>
            </a:br>
            <a:r>
              <a:rPr lang="en-US"/>
              <a:t>performance requirements)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achieving OOP through procedural approach is feasible, but cumbersome and error-prone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3565D-254B-5380-8D0A-85B6E39423A5}"/>
              </a:ext>
            </a:extLst>
          </p:cNvPr>
          <p:cNvSpPr txBox="1"/>
          <p:nvPr/>
        </p:nvSpPr>
        <p:spPr>
          <a:xfrm>
            <a:off x="430306" y="4186573"/>
            <a:ext cx="72896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OOP solves each of the problems above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redundancy =&gt; compiler guarantees implicit access to the “this”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missing access control =&gt; encapsulation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does not scale =&gt; inheritance / composition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reusability by extensibility =&gt; inheritance / interfaces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compiler static analysis helps you write safer and better code</a:t>
            </a:r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  <p:bldP spid="6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CE28D-98C4-1F78-7039-C05FE1C6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4F37F4-3E29-20C9-25DE-917578C4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7F25C-C4EF-C60D-B36A-56668544084C}"/>
              </a:ext>
            </a:extLst>
          </p:cNvPr>
          <p:cNvSpPr txBox="1"/>
          <p:nvPr/>
        </p:nvSpPr>
        <p:spPr>
          <a:xfrm>
            <a:off x="430306" y="398033"/>
            <a:ext cx="3280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Key concepts of a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C8C8F-FF3D-2667-C17E-38E10F01F871}"/>
              </a:ext>
            </a:extLst>
          </p:cNvPr>
          <p:cNvSpPr txBox="1"/>
          <p:nvPr/>
        </p:nvSpPr>
        <p:spPr>
          <a:xfrm>
            <a:off x="430306" y="1301675"/>
            <a:ext cx="1011033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Behavior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what can you do with this object, or what methods can you apply to it?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the behavior of an object is defined by the methods that you can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the state of an object is the collection of the values of its properties at a specific point in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an object cannot change its state spontaneously =&gt; must be a consequence of a method call</a:t>
            </a:r>
            <a:br>
              <a:rPr lang="en-US"/>
            </a:br>
            <a:r>
              <a:rPr lang="en-US"/>
              <a:t>(encapsulation)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Identity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how is the object distinguished from others that may have the same behavior and state?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240E1-0974-8B7D-6634-2CD476A3D06D}"/>
              </a:ext>
            </a:extLst>
          </p:cNvPr>
          <p:cNvSpPr txBox="1"/>
          <p:nvPr/>
        </p:nvSpPr>
        <p:spPr>
          <a:xfrm rot="1410787">
            <a:off x="9190652" y="1820751"/>
            <a:ext cx="2040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They can influence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each other!!</a:t>
            </a:r>
          </a:p>
        </p:txBody>
      </p:sp>
    </p:spTree>
    <p:extLst>
      <p:ext uri="{BB962C8B-B14F-4D97-AF65-F5344CB8AC3E}">
        <p14:creationId xmlns:p14="http://schemas.microsoft.com/office/powerpoint/2010/main" val="373019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E63AC-C720-2016-2747-029E866D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6EE4C6-1D07-5458-20F1-65BA1375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BCC8C-93D0-D9E5-AD7D-335950E30F7C}"/>
              </a:ext>
            </a:extLst>
          </p:cNvPr>
          <p:cNvSpPr txBox="1"/>
          <p:nvPr/>
        </p:nvSpPr>
        <p:spPr>
          <a:xfrm>
            <a:off x="430306" y="398033"/>
            <a:ext cx="2893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Classes relationship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5B704-13B2-DE33-2943-DCABEE3BBDBD}"/>
              </a:ext>
            </a:extLst>
          </p:cNvPr>
          <p:cNvSpPr txBox="1"/>
          <p:nvPr/>
        </p:nvSpPr>
        <p:spPr>
          <a:xfrm>
            <a:off x="430306" y="1311006"/>
            <a:ext cx="778597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Dependence (“uses-a”)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Our class depends on another class to do a specific task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=&gt; coupling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=&gt; better minimize 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=&gt; interfaces can save the day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Aggregation (“has-a”)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Our class contains objects of other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Inheritance (“is-a”)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Express a relation ship between a general class and a specialized one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=&gt; extensibility</a:t>
            </a:r>
          </a:p>
        </p:txBody>
      </p:sp>
    </p:spTree>
    <p:extLst>
      <p:ext uri="{BB962C8B-B14F-4D97-AF65-F5344CB8AC3E}">
        <p14:creationId xmlns:p14="http://schemas.microsoft.com/office/powerpoint/2010/main" val="139369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72BF1-B9D0-0F04-0D55-0F4FBE21D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F58214-0EA0-46FF-F688-DBEEE4459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1AF64B-D6B8-99AF-6F1E-FBEAF27AE00C}"/>
              </a:ext>
            </a:extLst>
          </p:cNvPr>
          <p:cNvSpPr txBox="1"/>
          <p:nvPr/>
        </p:nvSpPr>
        <p:spPr>
          <a:xfrm>
            <a:off x="430306" y="398033"/>
            <a:ext cx="2682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Anatomy of a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38AE7-5D2F-5DD0-3274-8427CA1BDC5C}"/>
              </a:ext>
            </a:extLst>
          </p:cNvPr>
          <p:cNvSpPr txBox="1"/>
          <p:nvPr/>
        </p:nvSpPr>
        <p:spPr>
          <a:xfrm>
            <a:off x="3157535" y="1185704"/>
            <a:ext cx="5876930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class </a:t>
            </a:r>
            <a:r>
              <a:rPr lang="en-US" sz="1100" b="1" i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100" b="1" i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MyParentClass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100" b="1" i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MyInterface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MyHasAClass myField1;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MyUsesAClass myField2;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String myField3;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double myField4 = 4.0;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final int boolean myField5 = 3;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List&lt;Integer&gt; myField6;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(MyUsesAClass arg1, Arg2 arg2, ...) {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    this.myField1 = new MyHasAClass(..., ...);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    this.myField2 = arg1;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    ....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void myMethod1(...., ....) {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void myInterfaceMethod1(...., ....) {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myStaticMethod(...., ....) {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62984C-E774-2C6D-8409-911D48CFD915}"/>
              </a:ext>
            </a:extLst>
          </p:cNvPr>
          <p:cNvGrpSpPr/>
          <p:nvPr/>
        </p:nvGrpSpPr>
        <p:grpSpPr>
          <a:xfrm>
            <a:off x="490209" y="1343608"/>
            <a:ext cx="3008771" cy="2789853"/>
            <a:chOff x="490209" y="1343608"/>
            <a:chExt cx="3008771" cy="278985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37A0010-F119-74B6-8A20-BE29FA688444}"/>
                </a:ext>
              </a:extLst>
            </p:cNvPr>
            <p:cNvCxnSpPr/>
            <p:nvPr/>
          </p:nvCxnSpPr>
          <p:spPr>
            <a:xfrm flipV="1">
              <a:off x="1399592" y="1343608"/>
              <a:ext cx="1642188" cy="8304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10290E9-84DC-F75D-031C-22EF8A7413B1}"/>
                </a:ext>
              </a:extLst>
            </p:cNvPr>
            <p:cNvCxnSpPr/>
            <p:nvPr/>
          </p:nvCxnSpPr>
          <p:spPr>
            <a:xfrm>
              <a:off x="1408922" y="2183363"/>
              <a:ext cx="1894115" cy="653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BD328B5-93F1-73E0-F88D-011B2A96BC92}"/>
                </a:ext>
              </a:extLst>
            </p:cNvPr>
            <p:cNvCxnSpPr/>
            <p:nvPr/>
          </p:nvCxnSpPr>
          <p:spPr>
            <a:xfrm>
              <a:off x="1399592" y="2174033"/>
              <a:ext cx="2099388" cy="19594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A09364-89D5-B4BC-120C-2AD207BE6DAA}"/>
                </a:ext>
              </a:extLst>
            </p:cNvPr>
            <p:cNvSpPr txBox="1"/>
            <p:nvPr/>
          </p:nvSpPr>
          <p:spPr>
            <a:xfrm>
              <a:off x="490209" y="1921753"/>
              <a:ext cx="9187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access</a:t>
              </a:r>
            </a:p>
            <a:p>
              <a:pPr algn="ctr"/>
              <a:r>
                <a:rPr lang="en-US" sz="1400"/>
                <a:t>modifiers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FF82EB-4E71-4808-8B94-F0C50BEBE12B}"/>
              </a:ext>
            </a:extLst>
          </p:cNvPr>
          <p:cNvGrpSpPr/>
          <p:nvPr/>
        </p:nvGrpSpPr>
        <p:grpSpPr>
          <a:xfrm>
            <a:off x="4038600" y="367255"/>
            <a:ext cx="628697" cy="818449"/>
            <a:chOff x="4038600" y="367255"/>
            <a:chExt cx="628697" cy="818449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23FE51E-6A47-E84A-D30A-81EA15B6CD25}"/>
                </a:ext>
              </a:extLst>
            </p:cNvPr>
            <p:cNvCxnSpPr/>
            <p:nvPr/>
          </p:nvCxnSpPr>
          <p:spPr>
            <a:xfrm>
              <a:off x="4432041" y="859698"/>
              <a:ext cx="214604" cy="3260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330DEE-A161-4699-B65A-BEC4A8EB6022}"/>
                </a:ext>
              </a:extLst>
            </p:cNvPr>
            <p:cNvSpPr txBox="1"/>
            <p:nvPr/>
          </p:nvSpPr>
          <p:spPr>
            <a:xfrm>
              <a:off x="4038600" y="367255"/>
              <a:ext cx="6286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class</a:t>
              </a:r>
              <a:br>
                <a:rPr lang="en-US" sz="1400"/>
              </a:br>
              <a:r>
                <a:rPr lang="en-US" sz="1400"/>
                <a:t>name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02DD51A-3DCA-1ADE-78AB-AAEDB66EDEBA}"/>
              </a:ext>
            </a:extLst>
          </p:cNvPr>
          <p:cNvGrpSpPr/>
          <p:nvPr/>
        </p:nvGrpSpPr>
        <p:grpSpPr>
          <a:xfrm>
            <a:off x="6316824" y="321088"/>
            <a:ext cx="1716833" cy="864616"/>
            <a:chOff x="6316824" y="321088"/>
            <a:chExt cx="1716833" cy="864616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EB7EFF1-4C45-EE7C-3F13-AB2D1E706A28}"/>
                </a:ext>
              </a:extLst>
            </p:cNvPr>
            <p:cNvCxnSpPr/>
            <p:nvPr/>
          </p:nvCxnSpPr>
          <p:spPr>
            <a:xfrm flipH="1">
              <a:off x="6316824" y="628865"/>
              <a:ext cx="634482" cy="5568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465F6B2-3DDD-EEF2-C346-39AD0F93738D}"/>
                </a:ext>
              </a:extLst>
            </p:cNvPr>
            <p:cNvCxnSpPr/>
            <p:nvPr/>
          </p:nvCxnSpPr>
          <p:spPr>
            <a:xfrm>
              <a:off x="7296539" y="628865"/>
              <a:ext cx="737118" cy="5568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C238FAC-B8FD-EE63-C579-BFE5941886D0}"/>
                </a:ext>
              </a:extLst>
            </p:cNvPr>
            <p:cNvSpPr txBox="1"/>
            <p:nvPr/>
          </p:nvSpPr>
          <p:spPr>
            <a:xfrm>
              <a:off x="6387608" y="321088"/>
              <a:ext cx="14309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is-a relationship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23ADA32-BA67-CCE6-E2AD-05867D724370}"/>
              </a:ext>
            </a:extLst>
          </p:cNvPr>
          <p:cNvGrpSpPr/>
          <p:nvPr/>
        </p:nvGrpSpPr>
        <p:grpSpPr>
          <a:xfrm>
            <a:off x="6096000" y="1442818"/>
            <a:ext cx="2292220" cy="813820"/>
            <a:chOff x="6096000" y="1442818"/>
            <a:chExt cx="2292220" cy="81382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C3CF887-B451-4C94-8F46-8E2FCB78C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1627949"/>
              <a:ext cx="14376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8B61104-7A38-4E31-F778-3D0A87159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92686" y="1737593"/>
              <a:ext cx="872412" cy="5190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DC02FD-ABC8-45C0-D7E3-731B3687BF17}"/>
                </a:ext>
              </a:extLst>
            </p:cNvPr>
            <p:cNvSpPr txBox="1"/>
            <p:nvPr/>
          </p:nvSpPr>
          <p:spPr>
            <a:xfrm>
              <a:off x="7533627" y="1442818"/>
              <a:ext cx="8545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instance</a:t>
              </a:r>
              <a:br>
                <a:rPr lang="en-US" sz="1400"/>
              </a:br>
              <a:r>
                <a:rPr lang="en-US" sz="1400"/>
                <a:t>fields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5CA691-5D81-8EC3-5B92-3CD4D5990043}"/>
              </a:ext>
            </a:extLst>
          </p:cNvPr>
          <p:cNvGrpSpPr/>
          <p:nvPr/>
        </p:nvGrpSpPr>
        <p:grpSpPr>
          <a:xfrm>
            <a:off x="7308202" y="3592286"/>
            <a:ext cx="1842018" cy="2043404"/>
            <a:chOff x="7308202" y="3592286"/>
            <a:chExt cx="1842018" cy="204340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B040900-FBED-DE38-73E1-EF84BD61584E}"/>
                </a:ext>
              </a:extLst>
            </p:cNvPr>
            <p:cNvSpPr txBox="1"/>
            <p:nvPr/>
          </p:nvSpPr>
          <p:spPr>
            <a:xfrm>
              <a:off x="8273057" y="4579666"/>
              <a:ext cx="8771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methods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5808976-CB72-81D6-7930-769BAE0A412F}"/>
                </a:ext>
              </a:extLst>
            </p:cNvPr>
            <p:cNvCxnSpPr/>
            <p:nvPr/>
          </p:nvCxnSpPr>
          <p:spPr>
            <a:xfrm flipH="1" flipV="1">
              <a:off x="7501812" y="3592286"/>
              <a:ext cx="771245" cy="9873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6667659-07E1-6B83-A296-0AB9D391BA53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7417837" y="4733555"/>
              <a:ext cx="855220" cy="2303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C1B8305-DA70-1F96-8DF4-CBA1254CF75D}"/>
                </a:ext>
              </a:extLst>
            </p:cNvPr>
            <p:cNvCxnSpPr/>
            <p:nvPr/>
          </p:nvCxnSpPr>
          <p:spPr>
            <a:xfrm flipH="1">
              <a:off x="7308202" y="4887443"/>
              <a:ext cx="1080018" cy="7482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7BCE0A-93E1-372B-6BD9-7153681DDED8}"/>
              </a:ext>
            </a:extLst>
          </p:cNvPr>
          <p:cNvGrpSpPr/>
          <p:nvPr/>
        </p:nvGrpSpPr>
        <p:grpSpPr>
          <a:xfrm>
            <a:off x="7501812" y="2905780"/>
            <a:ext cx="3891775" cy="523220"/>
            <a:chOff x="7501812" y="2905780"/>
            <a:chExt cx="3891775" cy="523220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6C6FA3D-E16F-8AA4-E28E-248ED99562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1812" y="3153747"/>
              <a:ext cx="2146041" cy="1863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D442EC5-5CF4-226E-34B6-8749161971AF}"/>
                </a:ext>
              </a:extLst>
            </p:cNvPr>
            <p:cNvSpPr txBox="1"/>
            <p:nvPr/>
          </p:nvSpPr>
          <p:spPr>
            <a:xfrm>
              <a:off x="9647853" y="2905780"/>
              <a:ext cx="17457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has-a relationship</a:t>
              </a:r>
            </a:p>
            <a:p>
              <a:pPr algn="ctr"/>
              <a:r>
                <a:rPr lang="en-US" sz="1400"/>
                <a:t>(we own the object!)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80A5B1-755C-BFB6-EA15-3D5A854C48F3}"/>
              </a:ext>
            </a:extLst>
          </p:cNvPr>
          <p:cNvGrpSpPr/>
          <p:nvPr/>
        </p:nvGrpSpPr>
        <p:grpSpPr>
          <a:xfrm>
            <a:off x="5710335" y="1815957"/>
            <a:ext cx="5904938" cy="1711014"/>
            <a:chOff x="5710335" y="1815957"/>
            <a:chExt cx="5904938" cy="1711014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77F00B9-8D1E-A3AF-A793-06D4B8BEE9EE}"/>
                </a:ext>
              </a:extLst>
            </p:cNvPr>
            <p:cNvCxnSpPr/>
            <p:nvPr/>
          </p:nvCxnSpPr>
          <p:spPr>
            <a:xfrm flipH="1">
              <a:off x="6634065" y="2038496"/>
              <a:ext cx="2827176" cy="7047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BC5114D-6932-00AB-8F18-4749FA5822D3}"/>
                </a:ext>
              </a:extLst>
            </p:cNvPr>
            <p:cNvCxnSpPr/>
            <p:nvPr/>
          </p:nvCxnSpPr>
          <p:spPr>
            <a:xfrm flipH="1">
              <a:off x="5710335" y="2038496"/>
              <a:ext cx="3750906" cy="14884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0E6310C-6412-DCE2-F2F2-74042070F020}"/>
                </a:ext>
              </a:extLst>
            </p:cNvPr>
            <p:cNvSpPr txBox="1"/>
            <p:nvPr/>
          </p:nvSpPr>
          <p:spPr>
            <a:xfrm>
              <a:off x="9369274" y="1815957"/>
              <a:ext cx="2245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uses-a relationship</a:t>
              </a:r>
            </a:p>
            <a:p>
              <a:pPr algn="ctr"/>
              <a:r>
                <a:rPr lang="en-US" sz="1400"/>
                <a:t>(we depend on the object!)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B38760-DAAF-D80C-FA30-BE569BC19DF1}"/>
              </a:ext>
            </a:extLst>
          </p:cNvPr>
          <p:cNvGrpSpPr/>
          <p:nvPr/>
        </p:nvGrpSpPr>
        <p:grpSpPr>
          <a:xfrm>
            <a:off x="1175147" y="3862521"/>
            <a:ext cx="2323833" cy="986199"/>
            <a:chOff x="1175147" y="3862521"/>
            <a:chExt cx="2323833" cy="986199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2E311A8-9DE5-DDB3-78D6-E7DB15A841BC}"/>
                </a:ext>
              </a:extLst>
            </p:cNvPr>
            <p:cNvCxnSpPr/>
            <p:nvPr/>
          </p:nvCxnSpPr>
          <p:spPr>
            <a:xfrm>
              <a:off x="1771763" y="4338735"/>
              <a:ext cx="1727217" cy="5099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C25980D-E3F8-E06C-5A2A-1F0163AA6EB2}"/>
                </a:ext>
              </a:extLst>
            </p:cNvPr>
            <p:cNvSpPr txBox="1"/>
            <p:nvPr/>
          </p:nvSpPr>
          <p:spPr>
            <a:xfrm>
              <a:off x="1175147" y="3862521"/>
              <a:ext cx="11641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polymorphic</a:t>
              </a:r>
              <a:br>
                <a:rPr lang="en-US" sz="1400"/>
              </a:br>
              <a:r>
                <a:rPr lang="en-US" sz="1400"/>
                <a:t>method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5B6466D-55D9-5A36-BC95-C4AF77C2A12A}"/>
              </a:ext>
            </a:extLst>
          </p:cNvPr>
          <p:cNvGrpSpPr/>
          <p:nvPr/>
        </p:nvGrpSpPr>
        <p:grpSpPr>
          <a:xfrm>
            <a:off x="1094996" y="4947440"/>
            <a:ext cx="3150433" cy="688250"/>
            <a:chOff x="1094996" y="4947440"/>
            <a:chExt cx="3150433" cy="688250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76D0DD1-F9D8-FA4E-9C4A-8CC669C12E76}"/>
                </a:ext>
              </a:extLst>
            </p:cNvPr>
            <p:cNvCxnSpPr>
              <a:cxnSpLocks/>
            </p:cNvCxnSpPr>
            <p:nvPr/>
          </p:nvCxnSpPr>
          <p:spPr>
            <a:xfrm>
              <a:off x="2043404" y="5261566"/>
              <a:ext cx="2202025" cy="3741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9671774-F57A-AFCF-01BC-329B00C14603}"/>
                </a:ext>
              </a:extLst>
            </p:cNvPr>
            <p:cNvSpPr txBox="1"/>
            <p:nvPr/>
          </p:nvSpPr>
          <p:spPr>
            <a:xfrm>
              <a:off x="1094996" y="4947440"/>
              <a:ext cx="13244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class methods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6516194-B227-3FCD-4F41-D2519BE6397F}"/>
              </a:ext>
            </a:extLst>
          </p:cNvPr>
          <p:cNvGrpSpPr/>
          <p:nvPr/>
        </p:nvGrpSpPr>
        <p:grpSpPr>
          <a:xfrm>
            <a:off x="6708710" y="1189580"/>
            <a:ext cx="3439886" cy="1329685"/>
            <a:chOff x="6708710" y="1189580"/>
            <a:chExt cx="3439886" cy="1329685"/>
          </a:xfrm>
        </p:grpSpPr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3ED7466-EC88-799E-2FC2-778EBAADA50E}"/>
                </a:ext>
              </a:extLst>
            </p:cNvPr>
            <p:cNvCxnSpPr/>
            <p:nvPr/>
          </p:nvCxnSpPr>
          <p:spPr>
            <a:xfrm flipH="1">
              <a:off x="6708710" y="1459561"/>
              <a:ext cx="2855168" cy="10597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084B834-93DD-D636-93B6-70F698BEEAE1}"/>
                </a:ext>
              </a:extLst>
            </p:cNvPr>
            <p:cNvSpPr txBox="1"/>
            <p:nvPr/>
          </p:nvSpPr>
          <p:spPr>
            <a:xfrm>
              <a:off x="9537531" y="1189580"/>
              <a:ext cx="6110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class</a:t>
              </a:r>
              <a:br>
                <a:rPr lang="en-US" sz="1400"/>
              </a:br>
              <a:r>
                <a:rPr lang="en-US" sz="1400"/>
                <a:t>fields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94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A684C-B7DA-172F-A654-1BD326CB8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92AC1A-EC7B-A651-48CE-ACA653B6E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BF6E3-75D9-B159-158C-108753F2FEB9}"/>
              </a:ext>
            </a:extLst>
          </p:cNvPr>
          <p:cNvSpPr txBox="1"/>
          <p:nvPr/>
        </p:nvSpPr>
        <p:spPr>
          <a:xfrm>
            <a:off x="430306" y="398033"/>
            <a:ext cx="2739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Objects vs.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AE947-F8CF-5918-FE13-D10D7B6879CA}"/>
              </a:ext>
            </a:extLst>
          </p:cNvPr>
          <p:cNvSpPr txBox="1"/>
          <p:nvPr/>
        </p:nvSpPr>
        <p:spPr>
          <a:xfrm>
            <a:off x="430306" y="1311006"/>
            <a:ext cx="506004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class is not an object!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class</a:t>
            </a:r>
            <a:r>
              <a:rPr lang="en-US"/>
              <a:t> =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6"/>
                </a:solidFill>
              </a:rPr>
              <a:t>object</a:t>
            </a:r>
            <a:r>
              <a:rPr lang="en-US"/>
              <a:t> = it’s the instance of that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70C0"/>
                </a:solidFill>
              </a:rPr>
              <a:t>new</a:t>
            </a:r>
            <a:r>
              <a:rPr lang="en-US"/>
              <a:t> operator =&gt; “turns” a class into an object,</a:t>
            </a:r>
            <a:br>
              <a:rPr lang="en-US"/>
            </a:br>
            <a:r>
              <a:rPr lang="en-US"/>
              <a:t>i.e. constructs it and gives it an initial state (via</a:t>
            </a:r>
            <a:br>
              <a:rPr lang="en-US"/>
            </a:br>
            <a:r>
              <a:rPr lang="en-US"/>
              <a:t>the construction process).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D5925-B93C-1886-A79A-E926AE1CD0CF}"/>
              </a:ext>
            </a:extLst>
          </p:cNvPr>
          <p:cNvSpPr txBox="1"/>
          <p:nvPr/>
        </p:nvSpPr>
        <p:spPr>
          <a:xfrm>
            <a:off x="6096000" y="582067"/>
            <a:ext cx="4480714" cy="5047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.... {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MyHasAClass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constructor(...)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....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this.foo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MyHasAClass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....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myStatic()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return 42;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....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....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int x =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MyClass.myStatic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fred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352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959F4-B85D-7DBB-039C-A1D60C7B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BA98C9-ED7C-22A3-25AB-A60AD8F8F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2A3C9-3153-A951-7DDE-C28C4E18F470}"/>
              </a:ext>
            </a:extLst>
          </p:cNvPr>
          <p:cNvSpPr txBox="1"/>
          <p:nvPr/>
        </p:nvSpPr>
        <p:spPr>
          <a:xfrm>
            <a:off x="4131776" y="2551837"/>
            <a:ext cx="39284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/>
              <a:t>Class dissection</a:t>
            </a:r>
          </a:p>
          <a:p>
            <a:pPr algn="ctr"/>
            <a:endParaRPr lang="en-US" sz="3600"/>
          </a:p>
          <a:p>
            <a:pPr algn="ctr"/>
            <a:r>
              <a:rPr lang="en-US" sz="3600"/>
              <a:t>(Employee project)</a:t>
            </a:r>
          </a:p>
        </p:txBody>
      </p:sp>
    </p:spTree>
    <p:extLst>
      <p:ext uri="{BB962C8B-B14F-4D97-AF65-F5344CB8AC3E}">
        <p14:creationId xmlns:p14="http://schemas.microsoft.com/office/powerpoint/2010/main" val="1455242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BA73-06DA-95F3-1AB0-ECFC7B60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D938D1-B9D3-471D-48B5-002F0927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4D571-5D8C-519F-1441-7369C3E439BC}"/>
              </a:ext>
            </a:extLst>
          </p:cNvPr>
          <p:cNvSpPr txBox="1"/>
          <p:nvPr/>
        </p:nvSpPr>
        <p:spPr>
          <a:xfrm>
            <a:off x="430306" y="398033"/>
            <a:ext cx="1284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Records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880FD4-0A81-C90A-2DC6-3D7DFBB83C49}"/>
              </a:ext>
            </a:extLst>
          </p:cNvPr>
          <p:cNvSpPr txBox="1"/>
          <p:nvPr/>
        </p:nvSpPr>
        <p:spPr>
          <a:xfrm>
            <a:off x="430306" y="1156996"/>
            <a:ext cx="7294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convenient form to declare an immutable class readable by the public.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BDAD0-50E8-B0C6-6B67-80130BE8D875}"/>
              </a:ext>
            </a:extLst>
          </p:cNvPr>
          <p:cNvSpPr txBox="1"/>
          <p:nvPr/>
        </p:nvSpPr>
        <p:spPr>
          <a:xfrm>
            <a:off x="1160990" y="3201101"/>
            <a:ext cx="383630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record Point(double x, double y)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// NO OTHER FIELDS ALLOWED!!!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// static are allowed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... // additional methods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CF171-8A63-39B7-693B-B87616175F03}"/>
              </a:ext>
            </a:extLst>
          </p:cNvPr>
          <p:cNvSpPr txBox="1"/>
          <p:nvPr/>
        </p:nvSpPr>
        <p:spPr>
          <a:xfrm>
            <a:off x="7194704" y="1692997"/>
            <a:ext cx="3514104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class Point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private double x;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private double y;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Point(double x, double y)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this.x = x;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this.y = y;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double x()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return this.x;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double y()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return this.y;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... // additional methods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47C8319-5DB6-63D0-0693-A10142B9D4E1}"/>
              </a:ext>
            </a:extLst>
          </p:cNvPr>
          <p:cNvSpPr/>
          <p:nvPr/>
        </p:nvSpPr>
        <p:spPr>
          <a:xfrm>
            <a:off x="5533053" y="3603313"/>
            <a:ext cx="1548881" cy="365125"/>
          </a:xfrm>
          <a:prstGeom prst="rightArrow">
            <a:avLst/>
          </a:prstGeom>
          <a:noFill/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5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535B-18F3-385F-6D56-0E73B902E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3309FA-C306-5A74-0EB2-F8CE3C8E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BBB0E-626C-8009-0A66-34036E58487A}"/>
              </a:ext>
            </a:extLst>
          </p:cNvPr>
          <p:cNvSpPr txBox="1"/>
          <p:nvPr/>
        </p:nvSpPr>
        <p:spPr>
          <a:xfrm>
            <a:off x="430306" y="398033"/>
            <a:ext cx="1444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Packages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8EDF9-2C14-F760-65D1-18468C13C7EF}"/>
              </a:ext>
            </a:extLst>
          </p:cNvPr>
          <p:cNvSpPr txBox="1"/>
          <p:nvPr/>
        </p:nvSpPr>
        <p:spPr>
          <a:xfrm>
            <a:off x="430306" y="1178175"/>
            <a:ext cx="1057404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Classes can be grouped into “packages”.</a:t>
            </a:r>
          </a:p>
          <a:p>
            <a:r>
              <a:rPr lang="en-US"/>
              <a:t>In many other languages they are called “namespaces” or “modules”.</a:t>
            </a:r>
          </a:p>
          <a:p>
            <a:endParaRPr lang="en-US"/>
          </a:p>
          <a:p>
            <a:r>
              <a:rPr lang="en-US"/>
              <a:t>Packages offer a new level of encapsulation, on class level, i.e. only classes that are explicitly declared as</a:t>
            </a:r>
          </a:p>
          <a:p>
            <a:r>
              <a:rPr lang="en-US" i="1"/>
              <a:t>public</a:t>
            </a:r>
            <a:r>
              <a:rPr lang="en-US"/>
              <a:t> are visible in other packages, otherwise they remain private to the enclosing package</a:t>
            </a:r>
          </a:p>
          <a:p>
            <a:r>
              <a:rPr lang="en-US"/>
              <a:t>(also called “package private”).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ctr"/>
            <a:r>
              <a:rPr lang="en-US"/>
              <a:t>(Packaged employee project)</a:t>
            </a:r>
          </a:p>
        </p:txBody>
      </p:sp>
    </p:spTree>
    <p:extLst>
      <p:ext uri="{BB962C8B-B14F-4D97-AF65-F5344CB8AC3E}">
        <p14:creationId xmlns:p14="http://schemas.microsoft.com/office/powerpoint/2010/main" val="33624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9BBB-840C-6BF7-6972-AFB198AB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EF24C5-949E-A63D-2EEB-032B2C9EC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12CA3-6DD3-7A16-CB98-3AB818398E6C}"/>
              </a:ext>
            </a:extLst>
          </p:cNvPr>
          <p:cNvSpPr txBox="1"/>
          <p:nvPr/>
        </p:nvSpPr>
        <p:spPr>
          <a:xfrm>
            <a:off x="5053086" y="3105834"/>
            <a:ext cx="2085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/>
              <a:t>Quiz time</a:t>
            </a:r>
          </a:p>
        </p:txBody>
      </p:sp>
    </p:spTree>
    <p:extLst>
      <p:ext uri="{BB962C8B-B14F-4D97-AF65-F5344CB8AC3E}">
        <p14:creationId xmlns:p14="http://schemas.microsoft.com/office/powerpoint/2010/main" val="150076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814</Words>
  <Application>Microsoft Macintosh PowerPoint</Application>
  <PresentationFormat>Widescreen</PresentationFormat>
  <Paragraphs>176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23</cp:revision>
  <dcterms:created xsi:type="dcterms:W3CDTF">2025-02-17T20:26:07Z</dcterms:created>
  <dcterms:modified xsi:type="dcterms:W3CDTF">2026-05-10T08:50:43Z</dcterms:modified>
</cp:coreProperties>
</file>