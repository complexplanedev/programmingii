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8" r:id="rId2"/>
    <p:sldId id="273" r:id="rId3"/>
    <p:sldId id="289" r:id="rId4"/>
    <p:sldId id="290" r:id="rId5"/>
    <p:sldId id="291" r:id="rId6"/>
    <p:sldId id="292" r:id="rId7"/>
    <p:sldId id="274" r:id="rId8"/>
    <p:sldId id="275" r:id="rId9"/>
    <p:sldId id="277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8"/>
    <p:restoredTop sz="94638"/>
  </p:normalViewPr>
  <p:slideViewPr>
    <p:cSldViewPr snapToGrid="0">
      <p:cViewPr varScale="1">
        <p:scale>
          <a:sx n="112" d="100"/>
          <a:sy n="112" d="100"/>
        </p:scale>
        <p:origin x="22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BC79A-4F55-584E-9E4D-2602FF1C768D}" type="datetime1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3C72-9A0F-8F4B-8E8F-45315F462699}" type="datetime1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21C2-D0B1-A748-810E-59D1B306C69C}" type="datetime1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E319-D707-4D4A-8271-8E3ABA1BCBD0}" type="datetime1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DC7FA-7AD1-ED47-B97D-C22BBDD73042}" type="datetime1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F87B5-7CD2-5647-B778-475AE6FE91F6}" type="datetime1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A6072-79FA-5E44-91FB-3BF845C60311}" type="datetime1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DF2BA-F581-A14D-8652-5B67A7F4277C}" type="datetime1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9A0EE-B28D-3349-AA18-061F7583E3C0}" type="datetime1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41373-F825-944C-9B2E-540EF6D2B998}" type="datetime1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874F-84ED-E34A-B0B8-CFFBA8DD786F}" type="datetime1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12848-E1FA-6B4C-B926-FB4397D6B454}" type="datetime1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Tries and suffix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3337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Tries and suffix trees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92D3-F30D-4DF3-492E-0C33E251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6D104-9EDC-D46B-637B-706E48A8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94FC4-9AAE-0409-A05F-029F6B74CB3C}"/>
              </a:ext>
            </a:extLst>
          </p:cNvPr>
          <p:cNvSpPr txBox="1"/>
          <p:nvPr/>
        </p:nvSpPr>
        <p:spPr>
          <a:xfrm>
            <a:off x="267855" y="185238"/>
            <a:ext cx="656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E2262-B327-71D3-877B-63BA2114D7A4}"/>
              </a:ext>
            </a:extLst>
          </p:cNvPr>
          <p:cNvSpPr txBox="1"/>
          <p:nvPr/>
        </p:nvSpPr>
        <p:spPr>
          <a:xfrm>
            <a:off x="267855" y="781406"/>
            <a:ext cx="108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trie is a data structure that is also known as a digital search tree or a prefix tree. It can be used for fast retrieval on large data sets such as looking up words in a dictionary.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D3ABB2-BA67-2162-D1B4-7490FC420BC3}"/>
              </a:ext>
            </a:extLst>
          </p:cNvPr>
          <p:cNvSpPr txBox="1"/>
          <p:nvPr/>
        </p:nvSpPr>
        <p:spPr>
          <a:xfrm>
            <a:off x="267855" y="2158409"/>
            <a:ext cx="6179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prefix tree, the </a:t>
            </a:r>
            <a:r>
              <a:rPr lang="en-US" dirty="0" err="1"/>
              <a:t>trie</a:t>
            </a:r>
            <a:r>
              <a:rPr lang="en-US" dirty="0"/>
              <a:t> is an ordered tree used to represent a set of words (or strings) over a finite alphabet set. It allows</a:t>
            </a:r>
            <a:br>
              <a:rPr lang="en-US" dirty="0"/>
            </a:br>
            <a:r>
              <a:rPr lang="en-US" dirty="0"/>
              <a:t>words with common prefixes to use the same prefix data and</a:t>
            </a:r>
            <a:br>
              <a:rPr lang="en-US" dirty="0"/>
            </a:br>
            <a:r>
              <a:rPr lang="en-US" dirty="0"/>
              <a:t>stores only the end of the words to indicate different words.</a:t>
            </a:r>
          </a:p>
          <a:p>
            <a:endParaRPr lang="en-US" dirty="0"/>
          </a:p>
          <a:p>
            <a:r>
              <a:rPr lang="en-US" dirty="0"/>
              <a:t>Each node in the </a:t>
            </a:r>
            <a:r>
              <a:rPr lang="en-US" dirty="0" err="1"/>
              <a:t>trie</a:t>
            </a:r>
            <a:r>
              <a:rPr lang="en-US" dirty="0"/>
              <a:t> is labeled with one character.</a:t>
            </a:r>
          </a:p>
          <a:p>
            <a:endParaRPr lang="en-US" dirty="0"/>
          </a:p>
          <a:p>
            <a:r>
              <a:rPr lang="en-US" dirty="0"/>
              <a:t>Same thing can be done with other data types: for example,</a:t>
            </a:r>
            <a:br>
              <a:rPr lang="en-US" dirty="0"/>
            </a:br>
            <a:r>
              <a:rPr lang="en-US" dirty="0"/>
              <a:t>an integer can be represented as a string of bits, so each bit</a:t>
            </a:r>
            <a:br>
              <a:rPr lang="en-US" dirty="0"/>
            </a:br>
            <a:r>
              <a:rPr lang="en-US" dirty="0"/>
              <a:t>can be mapped into a node.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CCD522-3C73-1798-4BD4-F2089E9AD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0" y="1716320"/>
            <a:ext cx="4203700" cy="3746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0DDB7F-D5AF-6977-1CD7-14FFCCF1134B}"/>
              </a:ext>
            </a:extLst>
          </p:cNvPr>
          <p:cNvSpPr txBox="1"/>
          <p:nvPr/>
        </p:nvSpPr>
        <p:spPr>
          <a:xfrm>
            <a:off x="8971589" y="5020731"/>
            <a:ext cx="2758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spell checkers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auto-completion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file-system indexing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phone contacts search</a:t>
            </a:r>
          </a:p>
        </p:txBody>
      </p:sp>
    </p:spTree>
    <p:extLst>
      <p:ext uri="{BB962C8B-B14F-4D97-AF65-F5344CB8AC3E}">
        <p14:creationId xmlns:p14="http://schemas.microsoft.com/office/powerpoint/2010/main" val="374892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build="p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9D88-FECE-5636-40DE-2D656520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DF872-918C-083A-576C-A40C08C9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55725-1213-1EC4-B454-4FF3299BA0D3}"/>
              </a:ext>
            </a:extLst>
          </p:cNvPr>
          <p:cNvSpPr txBox="1"/>
          <p:nvPr/>
        </p:nvSpPr>
        <p:spPr>
          <a:xfrm>
            <a:off x="267855" y="185238"/>
            <a:ext cx="163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a </a:t>
            </a:r>
            <a:r>
              <a:rPr lang="en-US" sz="2400" dirty="0" err="1"/>
              <a:t>trie</a:t>
            </a:r>
            <a:r>
              <a:rPr lang="en-US" sz="2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CE729-6CE8-5800-9A2E-B9C547C47558}"/>
              </a:ext>
            </a:extLst>
          </p:cNvPr>
          <p:cNvSpPr txBox="1"/>
          <p:nvPr/>
        </p:nvSpPr>
        <p:spPr>
          <a:xfrm>
            <a:off x="267855" y="783758"/>
            <a:ext cx="461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problem: “which words start with car…?”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C44978-42F1-1DAA-D752-16C7302BFEF1}"/>
              </a:ext>
            </a:extLst>
          </p:cNvPr>
          <p:cNvGrpSpPr/>
          <p:nvPr/>
        </p:nvGrpSpPr>
        <p:grpSpPr>
          <a:xfrm>
            <a:off x="6282364" y="1738666"/>
            <a:ext cx="4846320" cy="4111497"/>
            <a:chOff x="6282364" y="1738666"/>
            <a:chExt cx="4846320" cy="411149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C717A2E-479A-39AB-467D-6E02C1DA004C}"/>
                </a:ext>
              </a:extLst>
            </p:cNvPr>
            <p:cNvSpPr/>
            <p:nvPr/>
          </p:nvSpPr>
          <p:spPr>
            <a:xfrm>
              <a:off x="9071284" y="1738666"/>
              <a:ext cx="585216" cy="585216"/>
            </a:xfrm>
            <a:prstGeom prst="ellipse">
              <a:avLst/>
            </a:prstGeom>
            <a:solidFill>
              <a:srgbClr val="EEEEEE"/>
            </a:solidFill>
            <a:ln w="22225">
              <a:solidFill>
                <a:srgbClr val="5A5A5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000" b="1" i="0">
                  <a:solidFill>
                    <a:srgbClr val="0E2841"/>
                  </a:solidFill>
                  <a:latin typeface="Aptos"/>
                </a:rPr>
                <a:t>•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701AE49-6778-8D79-9E76-2B442FF66AEE}"/>
                </a:ext>
              </a:extLst>
            </p:cNvPr>
            <p:cNvSpPr/>
            <p:nvPr/>
          </p:nvSpPr>
          <p:spPr>
            <a:xfrm>
              <a:off x="7568184" y="2429055"/>
              <a:ext cx="585216" cy="585216"/>
            </a:xfrm>
            <a:prstGeom prst="ellipse">
              <a:avLst/>
            </a:prstGeom>
            <a:solidFill>
              <a:srgbClr val="E6F0F4"/>
            </a:solidFill>
            <a:ln w="22225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c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80EE50A-20B6-671F-B0C5-FD2066541603}"/>
                </a:ext>
              </a:extLst>
            </p:cNvPr>
            <p:cNvSpPr/>
            <p:nvPr/>
          </p:nvSpPr>
          <p:spPr>
            <a:xfrm>
              <a:off x="10497748" y="2502190"/>
              <a:ext cx="585216" cy="585216"/>
            </a:xfrm>
            <a:prstGeom prst="ellipse">
              <a:avLst/>
            </a:prstGeom>
            <a:solidFill>
              <a:srgbClr val="E6F0F4"/>
            </a:solidFill>
            <a:ln w="22225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d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C379707-0364-46AC-84E1-3BECBF2BCD29}"/>
                </a:ext>
              </a:extLst>
            </p:cNvPr>
            <p:cNvSpPr/>
            <p:nvPr/>
          </p:nvSpPr>
          <p:spPr>
            <a:xfrm>
              <a:off x="7059603" y="3384586"/>
              <a:ext cx="585216" cy="585216"/>
            </a:xfrm>
            <a:prstGeom prst="ellipse">
              <a:avLst/>
            </a:prstGeom>
            <a:solidFill>
              <a:srgbClr val="E6F0F4"/>
            </a:solidFill>
            <a:ln w="22225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2A1498C-F03A-88E5-9AD1-F6643ABB7539}"/>
                </a:ext>
              </a:extLst>
            </p:cNvPr>
            <p:cNvSpPr/>
            <p:nvPr/>
          </p:nvSpPr>
          <p:spPr>
            <a:xfrm>
              <a:off x="10497748" y="3622329"/>
              <a:ext cx="585216" cy="585216"/>
            </a:xfrm>
            <a:prstGeom prst="ellipse">
              <a:avLst/>
            </a:prstGeom>
            <a:solidFill>
              <a:srgbClr val="E6F0F4"/>
            </a:solidFill>
            <a:ln w="22225">
              <a:solidFill>
                <a:srgbClr val="15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o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655F0F8-ECE8-CE47-1295-8DDF0F556AF1}"/>
                </a:ext>
              </a:extLst>
            </p:cNvPr>
            <p:cNvSpPr/>
            <p:nvPr/>
          </p:nvSpPr>
          <p:spPr>
            <a:xfrm>
              <a:off x="6282364" y="4161826"/>
              <a:ext cx="676656" cy="676656"/>
            </a:xfrm>
            <a:prstGeom prst="ellipse">
              <a:avLst/>
            </a:prstGeom>
            <a:noFill/>
            <a:ln w="19050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0C98D02-5AA8-D3E8-E11C-67FD600530F4}"/>
                </a:ext>
              </a:extLst>
            </p:cNvPr>
            <p:cNvSpPr/>
            <p:nvPr/>
          </p:nvSpPr>
          <p:spPr>
            <a:xfrm>
              <a:off x="6328084" y="4207545"/>
              <a:ext cx="585216" cy="585216"/>
            </a:xfrm>
            <a:prstGeom prst="ellipse">
              <a:avLst/>
            </a:prstGeom>
            <a:solidFill>
              <a:srgbClr val="E3F3E6"/>
            </a:solidFill>
            <a:ln w="22225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t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A7F06B0-FBC0-95CF-17D9-329541552247}"/>
                </a:ext>
              </a:extLst>
            </p:cNvPr>
            <p:cNvSpPr/>
            <p:nvPr/>
          </p:nvSpPr>
          <p:spPr>
            <a:xfrm>
              <a:off x="10452028" y="4742468"/>
              <a:ext cx="676656" cy="676656"/>
            </a:xfrm>
            <a:prstGeom prst="ellipse">
              <a:avLst/>
            </a:prstGeom>
            <a:noFill/>
            <a:ln w="19050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5831073-F0AF-82A5-0321-20D4C897C25E}"/>
                </a:ext>
              </a:extLst>
            </p:cNvPr>
            <p:cNvSpPr/>
            <p:nvPr/>
          </p:nvSpPr>
          <p:spPr>
            <a:xfrm>
              <a:off x="10497749" y="4788187"/>
              <a:ext cx="585216" cy="585216"/>
            </a:xfrm>
            <a:prstGeom prst="ellipse">
              <a:avLst/>
            </a:prstGeom>
            <a:solidFill>
              <a:srgbClr val="E3F3E6"/>
            </a:solidFill>
            <a:ln w="22225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g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1F2E704-8976-71EF-4DB7-D50243240EC1}"/>
                </a:ext>
              </a:extLst>
            </p:cNvPr>
            <p:cNvSpPr/>
            <p:nvPr/>
          </p:nvSpPr>
          <p:spPr>
            <a:xfrm>
              <a:off x="7699684" y="5173507"/>
              <a:ext cx="676656" cy="676656"/>
            </a:xfrm>
            <a:prstGeom prst="ellipse">
              <a:avLst/>
            </a:prstGeom>
            <a:noFill/>
            <a:ln w="19050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CBE1C7C-8032-8589-9AEC-699BE6717214}"/>
                </a:ext>
              </a:extLst>
            </p:cNvPr>
            <p:cNvSpPr/>
            <p:nvPr/>
          </p:nvSpPr>
          <p:spPr>
            <a:xfrm>
              <a:off x="7745404" y="5219227"/>
              <a:ext cx="585216" cy="585216"/>
            </a:xfrm>
            <a:prstGeom prst="ellipse">
              <a:avLst/>
            </a:prstGeom>
            <a:solidFill>
              <a:srgbClr val="E3F3E6"/>
            </a:solidFill>
            <a:ln w="22225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300" b="1" i="0">
                  <a:solidFill>
                    <a:srgbClr val="0E2841"/>
                  </a:solidFill>
                  <a:latin typeface="Aptos"/>
                </a:rPr>
                <a:t>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B25C397-5C0E-6C57-A29D-B1DBC9557920}"/>
                </a:ext>
              </a:extLst>
            </p:cNvPr>
            <p:cNvSpPr txBox="1"/>
            <p:nvPr/>
          </p:nvSpPr>
          <p:spPr>
            <a:xfrm>
              <a:off x="8588612" y="3221176"/>
              <a:ext cx="1828800" cy="2194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400"/>
                </a:spcBef>
                <a:spcAft>
                  <a:spcPts val="400"/>
                </a:spcAft>
              </a:pPr>
              <a:r>
                <a:rPr sz="1300" b="1" i="0" dirty="0">
                  <a:solidFill>
                    <a:srgbClr val="156082"/>
                  </a:solidFill>
                  <a:latin typeface="Aptos"/>
                </a:rPr>
                <a:t>Words:</a:t>
              </a:r>
            </a:p>
            <a:p>
              <a:pPr algn="l">
                <a:spcBef>
                  <a:spcPts val="400"/>
                </a:spcBef>
                <a:spcAft>
                  <a:spcPts val="400"/>
                </a:spcAft>
              </a:pPr>
              <a:r>
                <a:rPr sz="1300" b="0" i="0" dirty="0">
                  <a:solidFill>
                    <a:srgbClr val="0E2841"/>
                  </a:solidFill>
                  <a:latin typeface="Consolas"/>
                </a:rPr>
                <a:t>cat</a:t>
              </a:r>
            </a:p>
            <a:p>
              <a:pPr algn="l">
                <a:spcBef>
                  <a:spcPts val="400"/>
                </a:spcBef>
                <a:spcAft>
                  <a:spcPts val="400"/>
                </a:spcAft>
              </a:pPr>
              <a:r>
                <a:rPr sz="1300" b="0" i="0" dirty="0">
                  <a:solidFill>
                    <a:srgbClr val="0E2841"/>
                  </a:solidFill>
                  <a:latin typeface="Consolas"/>
                </a:rPr>
                <a:t>car</a:t>
              </a:r>
            </a:p>
            <a:p>
              <a:pPr algn="l">
                <a:spcBef>
                  <a:spcPts val="400"/>
                </a:spcBef>
                <a:spcAft>
                  <a:spcPts val="400"/>
                </a:spcAft>
              </a:pPr>
              <a:r>
                <a:rPr sz="1300" b="0" i="0" dirty="0">
                  <a:solidFill>
                    <a:srgbClr val="0E2841"/>
                  </a:solidFill>
                  <a:latin typeface="Consolas"/>
                </a:rPr>
                <a:t>card</a:t>
              </a:r>
            </a:p>
            <a:p>
              <a:pPr algn="l">
                <a:spcBef>
                  <a:spcPts val="400"/>
                </a:spcBef>
                <a:spcAft>
                  <a:spcPts val="400"/>
                </a:spcAft>
              </a:pPr>
              <a:r>
                <a:rPr sz="1300" b="0" i="0" dirty="0">
                  <a:solidFill>
                    <a:srgbClr val="0E2841"/>
                  </a:solidFill>
                  <a:latin typeface="Consolas"/>
                </a:rPr>
                <a:t>dog</a:t>
              </a:r>
            </a:p>
            <a:p>
              <a:pPr algn="l">
                <a:spcBef>
                  <a:spcPts val="800"/>
                </a:spcBef>
                <a:spcAft>
                  <a:spcPts val="400"/>
                </a:spcAft>
              </a:pPr>
              <a:r>
                <a:rPr sz="1100" b="0" i="1" dirty="0">
                  <a:solidFill>
                    <a:srgbClr val="196B24"/>
                  </a:solidFill>
                  <a:latin typeface="Aptos"/>
                </a:rPr>
                <a:t>green ring = end of a word</a:t>
              </a:r>
            </a:p>
            <a:p>
              <a:pPr algn="l">
                <a:spcBef>
                  <a:spcPts val="400"/>
                </a:spcBef>
                <a:spcAft>
                  <a:spcPts val="400"/>
                </a:spcAft>
              </a:pPr>
              <a:r>
                <a:rPr sz="1100" b="0" i="1" dirty="0">
                  <a:solidFill>
                    <a:srgbClr val="5A5A5A"/>
                  </a:solidFill>
                  <a:latin typeface="Aptos"/>
                </a:rPr>
                <a:t>(car &amp; card share c-a-r)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D623816-6B9A-1ED4-48BB-E6CD09D54229}"/>
                </a:ext>
              </a:extLst>
            </p:cNvPr>
            <p:cNvCxnSpPr>
              <a:stCxn id="5" idx="3"/>
              <a:endCxn id="6" idx="6"/>
            </p:cNvCxnSpPr>
            <p:nvPr/>
          </p:nvCxnSpPr>
          <p:spPr>
            <a:xfrm flipH="1">
              <a:off x="8153400" y="2238179"/>
              <a:ext cx="1003587" cy="4834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84DA6FB-9224-6841-8338-710275179E5F}"/>
                </a:ext>
              </a:extLst>
            </p:cNvPr>
            <p:cNvCxnSpPr>
              <a:stCxn id="5" idx="5"/>
              <a:endCxn id="12" idx="2"/>
            </p:cNvCxnSpPr>
            <p:nvPr/>
          </p:nvCxnSpPr>
          <p:spPr>
            <a:xfrm>
              <a:off x="9570797" y="2238179"/>
              <a:ext cx="926951" cy="5566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50AF06D-2B76-FFA7-E150-CDE5ABEB5133}"/>
                </a:ext>
              </a:extLst>
            </p:cNvPr>
            <p:cNvCxnSpPr>
              <a:stCxn id="6" idx="3"/>
              <a:endCxn id="16" idx="0"/>
            </p:cNvCxnSpPr>
            <p:nvPr/>
          </p:nvCxnSpPr>
          <p:spPr>
            <a:xfrm flipH="1">
              <a:off x="7352211" y="2928568"/>
              <a:ext cx="301676" cy="4560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98B0AA7-59AF-449D-E974-5353D78BA448}"/>
                </a:ext>
              </a:extLst>
            </p:cNvPr>
            <p:cNvCxnSpPr>
              <a:stCxn id="16" idx="3"/>
              <a:endCxn id="22" idx="7"/>
            </p:cNvCxnSpPr>
            <p:nvPr/>
          </p:nvCxnSpPr>
          <p:spPr>
            <a:xfrm flipH="1">
              <a:off x="6859926" y="3884099"/>
              <a:ext cx="285380" cy="3768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E84E661-D535-551B-1359-72CD57D021ED}"/>
                </a:ext>
              </a:extLst>
            </p:cNvPr>
            <p:cNvSpPr/>
            <p:nvPr/>
          </p:nvSpPr>
          <p:spPr>
            <a:xfrm>
              <a:off x="7699684" y="4181364"/>
              <a:ext cx="676656" cy="676656"/>
            </a:xfrm>
            <a:prstGeom prst="ellipse">
              <a:avLst/>
            </a:prstGeom>
            <a:noFill/>
            <a:ln w="19050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0540F56-C329-B21D-6832-8CB1FB688B06}"/>
                </a:ext>
              </a:extLst>
            </p:cNvPr>
            <p:cNvSpPr/>
            <p:nvPr/>
          </p:nvSpPr>
          <p:spPr>
            <a:xfrm>
              <a:off x="7745404" y="4227084"/>
              <a:ext cx="585216" cy="585216"/>
            </a:xfrm>
            <a:prstGeom prst="ellipse">
              <a:avLst/>
            </a:prstGeom>
            <a:solidFill>
              <a:srgbClr val="E3F3E6"/>
            </a:solidFill>
            <a:ln w="22225">
              <a:solidFill>
                <a:srgbClr val="196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300" b="1" dirty="0">
                  <a:solidFill>
                    <a:srgbClr val="0E2841"/>
                  </a:solidFill>
                  <a:latin typeface="Aptos"/>
                </a:rPr>
                <a:t>r</a:t>
              </a:r>
              <a:endParaRPr sz="1300" b="1" i="0" dirty="0">
                <a:solidFill>
                  <a:srgbClr val="0E2841"/>
                </a:solidFill>
                <a:latin typeface="Aptos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1C43CD7-A77C-4333-5CA1-4C2826EE1410}"/>
                </a:ext>
              </a:extLst>
            </p:cNvPr>
            <p:cNvCxnSpPr>
              <a:cxnSpLocks/>
              <a:stCxn id="16" idx="5"/>
              <a:endCxn id="46" idx="1"/>
            </p:cNvCxnSpPr>
            <p:nvPr/>
          </p:nvCxnSpPr>
          <p:spPr>
            <a:xfrm>
              <a:off x="7559116" y="3884099"/>
              <a:ext cx="239662" cy="3963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D8479C01-4CD3-EB2B-076A-DA869BD78DAB}"/>
                </a:ext>
              </a:extLst>
            </p:cNvPr>
            <p:cNvCxnSpPr>
              <a:stCxn id="12" idx="4"/>
              <a:endCxn id="19" idx="0"/>
            </p:cNvCxnSpPr>
            <p:nvPr/>
          </p:nvCxnSpPr>
          <p:spPr>
            <a:xfrm>
              <a:off x="10790356" y="3087406"/>
              <a:ext cx="0" cy="5349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F35CEE3-50C9-5C4F-2A9E-8226007033E1}"/>
                </a:ext>
              </a:extLst>
            </p:cNvPr>
            <p:cNvCxnSpPr>
              <a:stCxn id="19" idx="4"/>
              <a:endCxn id="29" idx="0"/>
            </p:cNvCxnSpPr>
            <p:nvPr/>
          </p:nvCxnSpPr>
          <p:spPr>
            <a:xfrm>
              <a:off x="10790356" y="4207545"/>
              <a:ext cx="0" cy="5349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A2BB7CCD-691D-AA54-8455-928D9674B1E1}"/>
                </a:ext>
              </a:extLst>
            </p:cNvPr>
            <p:cNvCxnSpPr>
              <a:stCxn id="46" idx="4"/>
              <a:endCxn id="33" idx="0"/>
            </p:cNvCxnSpPr>
            <p:nvPr/>
          </p:nvCxnSpPr>
          <p:spPr>
            <a:xfrm>
              <a:off x="8038012" y="4858020"/>
              <a:ext cx="0" cy="3154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DAE2548-662A-FF75-1350-80D7050670E0}"/>
              </a:ext>
            </a:extLst>
          </p:cNvPr>
          <p:cNvSpPr txBox="1"/>
          <p:nvPr/>
        </p:nvSpPr>
        <p:spPr>
          <a:xfrm>
            <a:off x="276716" y="1369451"/>
            <a:ext cx="6800195" cy="4821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rgbClr val="0E2841"/>
                </a:solidFill>
              </a:rPr>
              <a:t>You have a dictionary of thousands of words and a search box.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rgbClr val="0E2841"/>
                </a:solidFill>
              </a:rPr>
              <a:t>As the user types, you must instantly answer two kinds of question: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Membership: “is carrot a word?”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Prefix: “give me every word starting with car”.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E2841"/>
              </a:solidFill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>
                <a:solidFill>
                  <a:srgbClr val="0E2841"/>
                </a:solidFill>
              </a:rPr>
              <a:t>Without tries, our best option is a HashSet&lt;String&gt;: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can answer membership in O(1) average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can store the words compactly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… but it hashes the WHOLE word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cannot answer prefix queries efficiently – </a:t>
            </a:r>
            <a:br>
              <a:rPr lang="en-US" dirty="0">
                <a:solidFill>
                  <a:srgbClr val="0E2841"/>
                </a:solidFill>
              </a:rPr>
            </a:br>
            <a:r>
              <a:rPr lang="en-US" dirty="0">
                <a:solidFill>
                  <a:srgbClr val="0E2841"/>
                </a:solidFill>
              </a:rPr>
              <a:t>it would have to scan EVERY word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cannot exploit the fact that car, cat, and card share letters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E2841"/>
                </a:solidFill>
              </a:rPr>
              <a:t>cannot give suggestions in sorted order</a:t>
            </a:r>
          </a:p>
        </p:txBody>
      </p:sp>
    </p:spTree>
    <p:extLst>
      <p:ext uri="{BB962C8B-B14F-4D97-AF65-F5344CB8AC3E}">
        <p14:creationId xmlns:p14="http://schemas.microsoft.com/office/powerpoint/2010/main" val="85981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8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D038-A729-FB42-4485-9D9ABEEB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4A9EB-51A6-01DE-C7A7-76711E29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1F03D-8BE8-3708-C625-344D4952CFAB}"/>
              </a:ext>
            </a:extLst>
          </p:cNvPr>
          <p:cNvSpPr txBox="1"/>
          <p:nvPr/>
        </p:nvSpPr>
        <p:spPr>
          <a:xfrm>
            <a:off x="267855" y="185238"/>
            <a:ext cx="2540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Structure of a </a:t>
            </a:r>
            <a:r>
              <a:rPr lang="en-US" sz="2400" dirty="0" err="1"/>
              <a:t>trie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558980-71CF-0485-458E-FC27B0999908}"/>
              </a:ext>
            </a:extLst>
          </p:cNvPr>
          <p:cNvSpPr txBox="1"/>
          <p:nvPr/>
        </p:nvSpPr>
        <p:spPr>
          <a:xfrm>
            <a:off x="299907" y="966787"/>
            <a:ext cx="6199133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TrieNode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children keyed by the next character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Map&lt;Character,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TrieNode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children = new HashMap&lt;&gt;();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// true if a stored word ends exactly at this node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endOfWord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// (optional) a value/count: frequency, payload, ...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DB948-1E77-D622-6568-0596DB9D3DE8}"/>
              </a:ext>
            </a:extLst>
          </p:cNvPr>
          <p:cNvSpPr txBox="1"/>
          <p:nvPr/>
        </p:nvSpPr>
        <p:spPr>
          <a:xfrm>
            <a:off x="299907" y="3429000"/>
            <a:ext cx="59605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E2841"/>
                </a:solidFill>
              </a:rPr>
              <a:t>The root is an empty node representing the empty prefix ””.</a:t>
            </a:r>
          </a:p>
          <a:p>
            <a:endParaRPr lang="en-US" dirty="0">
              <a:solidFill>
                <a:srgbClr val="0E2841"/>
              </a:solidFill>
            </a:endParaRPr>
          </a:p>
          <a:p>
            <a:r>
              <a:rPr lang="en-US" dirty="0"/>
              <a:t>The tree structure itself encodes the spelling —</a:t>
            </a:r>
          </a:p>
          <a:p>
            <a:r>
              <a:rPr lang="en-US" dirty="0"/>
              <a:t>that is what makes prefixes shareable.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A967E-D74E-194A-B985-CD133574DE12}"/>
              </a:ext>
            </a:extLst>
          </p:cNvPr>
          <p:cNvSpPr txBox="1"/>
          <p:nvPr/>
        </p:nvSpPr>
        <p:spPr>
          <a:xfrm>
            <a:off x="6861387" y="646903"/>
            <a:ext cx="50089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Array children — </a:t>
            </a:r>
            <a:r>
              <a:rPr lang="en-US" dirty="0" err="1"/>
              <a:t>TrieNode</a:t>
            </a:r>
            <a:r>
              <a:rPr lang="en-US" dirty="0"/>
              <a:t>[26]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 = c - 'a' (0..25).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Fastest: no hashing, no boxing of char.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Great for a small, fixed alphabet (a–z).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Wastes memory: 26 slots per node even when</a:t>
            </a:r>
            <a:br>
              <a:rPr lang="en-US" dirty="0"/>
            </a:br>
            <a:r>
              <a:rPr lang="en-US" dirty="0"/>
              <a:t>nearly empty.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Awkward for </a:t>
            </a:r>
            <a:r>
              <a:rPr lang="en-US" dirty="0" err="1"/>
              <a:t>unicode</a:t>
            </a:r>
            <a:r>
              <a:rPr lang="en-US" dirty="0"/>
              <a:t> / large alphabets.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10480-4E68-27D1-C5E9-F51131F99965}"/>
              </a:ext>
            </a:extLst>
          </p:cNvPr>
          <p:cNvSpPr txBox="1"/>
          <p:nvPr/>
        </p:nvSpPr>
        <p:spPr>
          <a:xfrm>
            <a:off x="6861387" y="3766456"/>
            <a:ext cx="52725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 children — Map&lt;</a:t>
            </a:r>
            <a:r>
              <a:rPr lang="en-US" dirty="0" err="1"/>
              <a:t>Character,Node</a:t>
            </a:r>
            <a:r>
              <a:rPr lang="en-US" dirty="0"/>
              <a:t>&gt;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Allocates only the branches that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for ANY alphabet (letters, digits, </a:t>
            </a:r>
            <a:r>
              <a:rPr lang="en-US" dirty="0" err="1"/>
              <a:t>unicode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slower (hashing) &amp; more overhead</a:t>
            </a:r>
            <a:br>
              <a:rPr lang="en-US" dirty="0"/>
            </a:br>
            <a:r>
              <a:rPr lang="en-US" dirty="0"/>
              <a:t>per entry.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pragmatic default in Java.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8BF3E-26A6-1929-E44B-55AFDA78E2C7}"/>
              </a:ext>
            </a:extLst>
          </p:cNvPr>
          <p:cNvSpPr txBox="1"/>
          <p:nvPr/>
        </p:nvSpPr>
        <p:spPr>
          <a:xfrm>
            <a:off x="267855" y="5244882"/>
            <a:ext cx="5264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 frequency count, remove the </a:t>
            </a:r>
            <a:r>
              <a:rPr lang="en-US" dirty="0" err="1"/>
              <a:t>boolean</a:t>
            </a:r>
            <a:r>
              <a:rPr lang="en-US" dirty="0"/>
              <a:t> and use</a:t>
            </a:r>
          </a:p>
          <a:p>
            <a:r>
              <a:rPr lang="en-US" dirty="0"/>
              <a:t>a counter!! (0 = the word does not end here)</a:t>
            </a:r>
          </a:p>
        </p:txBody>
      </p:sp>
    </p:spTree>
    <p:extLst>
      <p:ext uri="{BB962C8B-B14F-4D97-AF65-F5344CB8AC3E}">
        <p14:creationId xmlns:p14="http://schemas.microsoft.com/office/powerpoint/2010/main" val="240148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4FDE-CD9F-822C-DF83-2EA4C19F5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E2442-63E7-8B74-9498-F7746104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7CCDF-7475-E5AE-8764-EE2E1E91CACC}"/>
              </a:ext>
            </a:extLst>
          </p:cNvPr>
          <p:cNvSpPr txBox="1"/>
          <p:nvPr/>
        </p:nvSpPr>
        <p:spPr>
          <a:xfrm>
            <a:off x="3646868" y="3136612"/>
            <a:ext cx="4898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Insertion, search, deletion</a:t>
            </a:r>
          </a:p>
        </p:txBody>
      </p:sp>
    </p:spTree>
    <p:extLst>
      <p:ext uri="{BB962C8B-B14F-4D97-AF65-F5344CB8AC3E}">
        <p14:creationId xmlns:p14="http://schemas.microsoft.com/office/powerpoint/2010/main" val="168667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299F-6C5B-12FD-D2F7-A1B6DC53D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99276-E473-3E2A-302F-59B354C7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6815C-B48E-61A9-A073-E3AD95953CFA}"/>
              </a:ext>
            </a:extLst>
          </p:cNvPr>
          <p:cNvSpPr txBox="1"/>
          <p:nvPr/>
        </p:nvSpPr>
        <p:spPr>
          <a:xfrm>
            <a:off x="267855" y="185238"/>
            <a:ext cx="2397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Compressed </a:t>
            </a:r>
            <a:r>
              <a:rPr lang="en-US" sz="2400" dirty="0" err="1"/>
              <a:t>trie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CB903-F414-8ABE-E7D5-BECA376A9174}"/>
              </a:ext>
            </a:extLst>
          </p:cNvPr>
          <p:cNvSpPr txBox="1"/>
          <p:nvPr/>
        </p:nvSpPr>
        <p:spPr>
          <a:xfrm>
            <a:off x="267855" y="968829"/>
            <a:ext cx="11451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plain </a:t>
            </a:r>
            <a:r>
              <a:rPr lang="en-US" dirty="0" err="1"/>
              <a:t>trie</a:t>
            </a:r>
            <a:r>
              <a:rPr lang="en-US" dirty="0"/>
              <a:t> wastes nodes on long non-branching chains (</a:t>
            </a:r>
            <a:r>
              <a:rPr lang="en-US" dirty="0" err="1"/>
              <a:t>t→e→s→t</a:t>
            </a:r>
            <a:r>
              <a:rPr lang="en-US" dirty="0"/>
              <a:t> for “test”). A radix / compressed </a:t>
            </a:r>
            <a:r>
              <a:rPr lang="en-US" dirty="0" err="1"/>
              <a:t>trie</a:t>
            </a:r>
            <a:r>
              <a:rPr lang="en-US" dirty="0"/>
              <a:t> merges each chain of single-child nodes into one edge labelled with a whole substring.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197A0-8A23-B256-EDC6-16D0E6BC908C}"/>
              </a:ext>
            </a:extLst>
          </p:cNvPr>
          <p:cNvSpPr txBox="1"/>
          <p:nvPr/>
        </p:nvSpPr>
        <p:spPr>
          <a:xfrm>
            <a:off x="267855" y="1937086"/>
            <a:ext cx="531786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Plain </a:t>
            </a:r>
            <a:r>
              <a:rPr lang="en-US" dirty="0" err="1"/>
              <a:t>trie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node per character.</a:t>
            </a:r>
            <a:br>
              <a:rPr lang="en-US" dirty="0"/>
            </a:b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Simple; easy to implement &amp; explain.</a:t>
            </a:r>
            <a:br>
              <a:rPr lang="en-US" dirty="0"/>
            </a:b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use lots of nodes for long words.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Radix / compressed </a:t>
            </a:r>
            <a:r>
              <a:rPr lang="en-US" dirty="0" err="1"/>
              <a:t>trie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edge per non-branching substring.</a:t>
            </a:r>
            <a:br>
              <a:rPr lang="en-US" dirty="0"/>
            </a:b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Far fewer nodes → less memory.</a:t>
            </a:r>
            <a:br>
              <a:rPr lang="en-US" dirty="0"/>
            </a:b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Slightly more complex insert (edge splitting).</a:t>
            </a:r>
          </a:p>
        </p:txBody>
      </p:sp>
    </p:spTree>
    <p:extLst>
      <p:ext uri="{BB962C8B-B14F-4D97-AF65-F5344CB8AC3E}">
        <p14:creationId xmlns:p14="http://schemas.microsoft.com/office/powerpoint/2010/main" val="56776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E77B-9298-78F8-C21B-BD859380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E8531-0BE3-58BD-CE9D-8CBD1018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37BA2-D408-49BC-EB07-97C0565E66D7}"/>
              </a:ext>
            </a:extLst>
          </p:cNvPr>
          <p:cNvSpPr txBox="1"/>
          <p:nvPr/>
        </p:nvSpPr>
        <p:spPr>
          <a:xfrm>
            <a:off x="255330" y="179710"/>
            <a:ext cx="2993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Suffix tree – suffix trie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E8BF2-BB70-15D8-746D-3D0EAF802EE7}"/>
              </a:ext>
            </a:extLst>
          </p:cNvPr>
          <p:cNvSpPr txBox="1"/>
          <p:nvPr/>
        </p:nvSpPr>
        <p:spPr>
          <a:xfrm>
            <a:off x="267855" y="2448678"/>
            <a:ext cx="108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suffix trie is a trie containing all suffixes of a text T. Not very useful per-se, but it will help us understand better the suffix tree.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E8ED6-6E28-9107-D0ED-7BA46E1BD328}"/>
              </a:ext>
            </a:extLst>
          </p:cNvPr>
          <p:cNvSpPr txBox="1"/>
          <p:nvPr/>
        </p:nvSpPr>
        <p:spPr>
          <a:xfrm>
            <a:off x="255330" y="1002387"/>
            <a:ext cx="116813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suffix tree (also called PAT tree or, in an earlier form, position tree) is a compressed trie containing all the suffixes of</a:t>
            </a:r>
            <a:br>
              <a:rPr lang="en-US"/>
            </a:br>
            <a:r>
              <a:rPr lang="en-US"/>
              <a:t>a given text as their keys and positions in the text as their values.</a:t>
            </a:r>
            <a:br>
              <a:rPr lang="en-US"/>
            </a:br>
            <a:br>
              <a:rPr lang="en-US"/>
            </a:br>
            <a:r>
              <a:rPr lang="en-US"/>
              <a:t>Suffix trees allow particularly fast implementations of many important string operations.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2E2BE-0473-617E-D28D-6584F9EC3989}"/>
              </a:ext>
            </a:extLst>
          </p:cNvPr>
          <p:cNvSpPr txBox="1"/>
          <p:nvPr/>
        </p:nvSpPr>
        <p:spPr>
          <a:xfrm>
            <a:off x="8153400" y="3095009"/>
            <a:ext cx="3406702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T: GTTATAGCTGCATCGCGGCGTAGCGG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TTATAGCTGCATCGCGGCGTAGCGG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TATAGCTGCATCGCGGCGTAGCGG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ATAGCTGCATCGCGGCGTAGCGG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TAGCTGCATCGCGGCGTAGCGG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GCTGCATCGCGGCGTAGCGG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TGCATCGCGGCGTAGCGG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....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CGG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GG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  <a:p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G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B0B15-C8CA-E3A4-9524-D97877A7018B}"/>
              </a:ext>
            </a:extLst>
          </p:cNvPr>
          <p:cNvSpPr txBox="1"/>
          <p:nvPr/>
        </p:nvSpPr>
        <p:spPr>
          <a:xfrm>
            <a:off x="255330" y="3419427"/>
            <a:ext cx="7447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 construct a suffix trie, as a rule, we need a symbol that is not part of</a:t>
            </a:r>
            <a:br>
              <a:rPr lang="en-US"/>
            </a:br>
            <a:r>
              <a:rPr lang="en-US"/>
              <a:t>our text and we use it as a terminal character. We can use $ as terminator.</a:t>
            </a:r>
          </a:p>
        </p:txBody>
      </p:sp>
    </p:spTree>
    <p:extLst>
      <p:ext uri="{BB962C8B-B14F-4D97-AF65-F5344CB8AC3E}">
        <p14:creationId xmlns:p14="http://schemas.microsoft.com/office/powerpoint/2010/main" val="7050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  <p:bldP spid="5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369F-DCB4-3AE6-7A03-ECDF9423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F3F71-06E3-6C90-250F-5E60697C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D025B-FFBA-F916-86AF-ACA46041D2B1}"/>
              </a:ext>
            </a:extLst>
          </p:cNvPr>
          <p:cNvSpPr txBox="1"/>
          <p:nvPr/>
        </p:nvSpPr>
        <p:spPr>
          <a:xfrm>
            <a:off x="325981" y="250391"/>
            <a:ext cx="2993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Suffix tree – suffix trie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9F40C-7CD5-9416-0E84-6BB3DBDC62BC}"/>
              </a:ext>
            </a:extLst>
          </p:cNvPr>
          <p:cNvSpPr txBox="1"/>
          <p:nvPr/>
        </p:nvSpPr>
        <p:spPr>
          <a:xfrm>
            <a:off x="325981" y="945003"/>
            <a:ext cx="61207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Let’s set T: </a:t>
            </a:r>
            <a:r>
              <a:rPr lang="en-US" sz="1600" dirty="0" err="1"/>
              <a:t>abaaba</a:t>
            </a:r>
            <a:r>
              <a:rPr lang="en-US" sz="1600" dirty="0"/>
              <a:t>, so T</a:t>
            </a:r>
            <a:r>
              <a:rPr lang="en-US" sz="1600" dirty="0">
                <a:solidFill>
                  <a:srgbClr val="FF0000"/>
                </a:solidFill>
              </a:rPr>
              <a:t>$</a:t>
            </a:r>
            <a:r>
              <a:rPr lang="en-US" sz="1600" dirty="0"/>
              <a:t>: </a:t>
            </a:r>
            <a:r>
              <a:rPr lang="en-US" sz="1600" dirty="0" err="1"/>
              <a:t>abaaba</a:t>
            </a:r>
            <a:r>
              <a:rPr lang="en-US" sz="1600" dirty="0">
                <a:solidFill>
                  <a:srgbClr val="FF0000"/>
                </a:solidFill>
              </a:rPr>
              <a:t>$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Each path from root to leaf represent a suffix.</a:t>
            </a:r>
          </a:p>
          <a:p>
            <a:endParaRPr lang="en-US" sz="1600" dirty="0"/>
          </a:p>
          <a:p>
            <a:r>
              <a:rPr lang="en-US" sz="1600" dirty="0"/>
              <a:t>Here is visible that, without a terminator, it’s not possible, given a path from root to leaf, to identify a unique suffix.</a:t>
            </a:r>
          </a:p>
          <a:p>
            <a:endParaRPr lang="en-US" sz="1600" dirty="0"/>
          </a:p>
          <a:p>
            <a:r>
              <a:rPr lang="en-US" sz="1600" dirty="0"/>
              <a:t>With this </a:t>
            </a:r>
            <a:r>
              <a:rPr lang="en-US" sz="1600" dirty="0" err="1"/>
              <a:t>trie</a:t>
            </a:r>
            <a:r>
              <a:rPr lang="en-US" sz="1600" dirty="0"/>
              <a:t>, we can check if a string S is a substring</a:t>
            </a:r>
            <a:br>
              <a:rPr lang="en-US" sz="1600" dirty="0"/>
            </a:br>
            <a:r>
              <a:rPr lang="en-US" sz="1600" dirty="0"/>
              <a:t>of T: you just have to follow the nodes with the characters</a:t>
            </a:r>
            <a:br>
              <a:rPr lang="en-US" sz="1600" dirty="0"/>
            </a:br>
            <a:r>
              <a:rPr lang="en-US" sz="1600" dirty="0"/>
              <a:t>of S, and you don’t have to “fall off” the </a:t>
            </a:r>
            <a:r>
              <a:rPr lang="en-US" sz="1600" dirty="0" err="1"/>
              <a:t>trie</a:t>
            </a:r>
            <a:r>
              <a:rPr lang="en-US" sz="1600" dirty="0"/>
              <a:t>, otherwise</a:t>
            </a:r>
            <a:br>
              <a:rPr lang="en-US" sz="1600" dirty="0"/>
            </a:br>
            <a:r>
              <a:rPr lang="en-US" sz="1600" dirty="0"/>
              <a:t>S is not a substring of T.</a:t>
            </a:r>
          </a:p>
          <a:p>
            <a:endParaRPr lang="en-US" sz="1600" dirty="0"/>
          </a:p>
          <a:p>
            <a:r>
              <a:rPr lang="en-US" sz="1600" dirty="0"/>
              <a:t>We can also check if a string S is a suffix of T: exactly like the substring check, but we need to end in a $ node, otherwise</a:t>
            </a:r>
            <a:br>
              <a:rPr lang="en-US" sz="1600" dirty="0"/>
            </a:br>
            <a:r>
              <a:rPr lang="en-US" sz="1600" dirty="0"/>
              <a:t>S is not a suffix of T.</a:t>
            </a:r>
          </a:p>
          <a:p>
            <a:endParaRPr lang="en-US" sz="1600" dirty="0"/>
          </a:p>
          <a:p>
            <a:r>
              <a:rPr lang="en-US" sz="1600" dirty="0"/>
              <a:t>Counting the number of times a string S occurs as a substring</a:t>
            </a:r>
            <a:br>
              <a:rPr lang="en-US" sz="1600" dirty="0"/>
            </a:br>
            <a:r>
              <a:rPr lang="en-US" sz="1600" dirty="0"/>
              <a:t>of T is also easy: we follow the path corresponding to S. If we fall off,</a:t>
            </a:r>
            <a:br>
              <a:rPr lang="en-US" sz="1600" dirty="0"/>
            </a:br>
            <a:r>
              <a:rPr lang="en-US" sz="1600" dirty="0"/>
              <a:t>then the result is 0, otherwise the count is the number of leaves</a:t>
            </a:r>
            <a:br>
              <a:rPr lang="en-US" sz="1600" dirty="0"/>
            </a:br>
            <a:r>
              <a:rPr lang="en-US" sz="1600" dirty="0"/>
              <a:t>belonging to the node where we end to.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AE224FB-525E-583C-7C14-64D5E1E59607}"/>
              </a:ext>
            </a:extLst>
          </p:cNvPr>
          <p:cNvGrpSpPr/>
          <p:nvPr/>
        </p:nvGrpSpPr>
        <p:grpSpPr>
          <a:xfrm>
            <a:off x="7284900" y="295064"/>
            <a:ext cx="3243630" cy="5595182"/>
            <a:chOff x="7284900" y="295064"/>
            <a:chExt cx="3243630" cy="559518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0F3F65C-CB6D-26EA-934B-20B300DAF0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23943" y="295064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834682B-E046-D6D8-FAB9-C4711851F0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6054" y="1067932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4CB4016-A64B-DFF4-9E3A-478ECA34B3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89703" y="140529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EA1FD12-2280-A169-D4FE-EA6DC68DB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93035" y="1258678"/>
              <a:ext cx="365760" cy="36576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45424BB-5269-9E6F-8B8F-8A637642EE96}"/>
                </a:ext>
              </a:extLst>
            </p:cNvPr>
            <p:cNvCxnSpPr>
              <a:cxnSpLocks/>
              <a:stCxn id="2" idx="2"/>
              <a:endCxn id="11" idx="0"/>
            </p:cNvCxnSpPr>
            <p:nvPr/>
          </p:nvCxnSpPr>
          <p:spPr>
            <a:xfrm flipH="1">
              <a:off x="8208934" y="477944"/>
              <a:ext cx="715009" cy="58998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C9090F-19AF-79B3-FF9F-0DD31B366B75}"/>
                </a:ext>
              </a:extLst>
            </p:cNvPr>
            <p:cNvCxnSpPr>
              <a:cxnSpLocks/>
              <a:stCxn id="2" idx="4"/>
              <a:endCxn id="12" idx="0"/>
            </p:cNvCxnSpPr>
            <p:nvPr/>
          </p:nvCxnSpPr>
          <p:spPr>
            <a:xfrm>
              <a:off x="9106823" y="660824"/>
              <a:ext cx="365760" cy="74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0039AEE-B883-2576-9BCA-A6D7D24715F8}"/>
                </a:ext>
              </a:extLst>
            </p:cNvPr>
            <p:cNvCxnSpPr>
              <a:stCxn id="2" idx="6"/>
              <a:endCxn id="13" idx="0"/>
            </p:cNvCxnSpPr>
            <p:nvPr/>
          </p:nvCxnSpPr>
          <p:spPr>
            <a:xfrm>
              <a:off x="9289703" y="477944"/>
              <a:ext cx="986212" cy="780734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B5952A-D42B-1273-C91C-2D38CDB3A5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9415" y="195808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C5799C-FFF5-7465-A38D-B9D0EB940A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00770" y="2130353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5E93C22-553A-6E1D-2E7F-110FFECA1B3C}"/>
                </a:ext>
              </a:extLst>
            </p:cNvPr>
            <p:cNvCxnSpPr>
              <a:cxnSpLocks/>
              <a:stCxn id="12" idx="4"/>
              <a:endCxn id="34" idx="0"/>
            </p:cNvCxnSpPr>
            <p:nvPr/>
          </p:nvCxnSpPr>
          <p:spPr>
            <a:xfrm>
              <a:off x="9472583" y="1771058"/>
              <a:ext cx="111067" cy="35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1FF398A-60CC-04E6-0038-5A9A5B7BC1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6676" y="300202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7E42E07-1F26-B69A-8810-8CCC8E82D257}"/>
                </a:ext>
              </a:extLst>
            </p:cNvPr>
            <p:cNvCxnSpPr>
              <a:stCxn id="34" idx="4"/>
              <a:endCxn id="38" idx="0"/>
            </p:cNvCxnSpPr>
            <p:nvPr/>
          </p:nvCxnSpPr>
          <p:spPr>
            <a:xfrm>
              <a:off x="9583650" y="2496113"/>
              <a:ext cx="35906" cy="5059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ACD3208-FA22-4623-848E-10FD5C8D3D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62770" y="2987697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6DC2A20-B3E9-2F1A-78F2-74BB99E2368A}"/>
                </a:ext>
              </a:extLst>
            </p:cNvPr>
            <p:cNvCxnSpPr>
              <a:stCxn id="34" idx="5"/>
              <a:endCxn id="41" idx="0"/>
            </p:cNvCxnSpPr>
            <p:nvPr/>
          </p:nvCxnSpPr>
          <p:spPr>
            <a:xfrm>
              <a:off x="9712966" y="2442549"/>
              <a:ext cx="632684" cy="5451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859EDFA-DDFB-300A-BA25-3F963D2292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6676" y="3814679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FB46BF4-5D6E-EE37-B298-44457F97702B}"/>
                </a:ext>
              </a:extLst>
            </p:cNvPr>
            <p:cNvCxnSpPr>
              <a:stCxn id="38" idx="4"/>
              <a:endCxn id="45" idx="0"/>
            </p:cNvCxnSpPr>
            <p:nvPr/>
          </p:nvCxnSpPr>
          <p:spPr>
            <a:xfrm>
              <a:off x="9619556" y="3367788"/>
              <a:ext cx="0" cy="4468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A351FF4-E6E5-0DAB-05FC-F971F90104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6676" y="467023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0E43B98-D0B3-B5AB-87FD-25CE8CE3802F}"/>
                </a:ext>
              </a:extLst>
            </p:cNvPr>
            <p:cNvCxnSpPr>
              <a:stCxn id="45" idx="4"/>
              <a:endCxn id="48" idx="0"/>
            </p:cNvCxnSpPr>
            <p:nvPr/>
          </p:nvCxnSpPr>
          <p:spPr>
            <a:xfrm>
              <a:off x="9619556" y="4180439"/>
              <a:ext cx="0" cy="4897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0264344-2713-BD2E-E232-365CBB5FE3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723" y="5524486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A53A66E-29B7-CBFF-0554-AF93EE1F4999}"/>
                </a:ext>
              </a:extLst>
            </p:cNvPr>
            <p:cNvCxnSpPr>
              <a:stCxn id="48" idx="4"/>
              <a:endCxn id="51" idx="0"/>
            </p:cNvCxnSpPr>
            <p:nvPr/>
          </p:nvCxnSpPr>
          <p:spPr>
            <a:xfrm flipH="1">
              <a:off x="9601603" y="5035998"/>
              <a:ext cx="17953" cy="4884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3345F6D-3077-9FC0-3FAC-8C44BB22DE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6054" y="1793946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12851AC-5486-68E3-0FDA-DA6F7E0E83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46506" y="180964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3FCEB39-6BFE-5B1C-A305-5DDEA18E2BD8}"/>
                </a:ext>
              </a:extLst>
            </p:cNvPr>
            <p:cNvCxnSpPr>
              <a:stCxn id="11" idx="5"/>
              <a:endCxn id="55" idx="0"/>
            </p:cNvCxnSpPr>
            <p:nvPr/>
          </p:nvCxnSpPr>
          <p:spPr>
            <a:xfrm>
              <a:off x="8338250" y="1380128"/>
              <a:ext cx="491136" cy="4295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FA4A653-0A51-6ED5-C1AC-624AE87E5E09}"/>
                </a:ext>
              </a:extLst>
            </p:cNvPr>
            <p:cNvCxnSpPr>
              <a:stCxn id="11" idx="4"/>
              <a:endCxn id="54" idx="0"/>
            </p:cNvCxnSpPr>
            <p:nvPr/>
          </p:nvCxnSpPr>
          <p:spPr>
            <a:xfrm>
              <a:off x="8208934" y="1433692"/>
              <a:ext cx="0" cy="36025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4182289-2709-D522-AAD2-959369FFD59E}"/>
                </a:ext>
              </a:extLst>
            </p:cNvPr>
            <p:cNvCxnSpPr>
              <a:stCxn id="11" idx="3"/>
              <a:endCxn id="25" idx="0"/>
            </p:cNvCxnSpPr>
            <p:nvPr/>
          </p:nvCxnSpPr>
          <p:spPr>
            <a:xfrm flipH="1">
              <a:off x="7502295" y="1380128"/>
              <a:ext cx="577323" cy="5779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F4893A1-EDA8-2C92-BD75-664567B4ED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8193" y="2539660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D44EB4A-56EB-BDEB-0582-3EC608275939}"/>
                </a:ext>
              </a:extLst>
            </p:cNvPr>
            <p:cNvCxnSpPr>
              <a:stCxn id="54" idx="4"/>
              <a:endCxn id="64" idx="0"/>
            </p:cNvCxnSpPr>
            <p:nvPr/>
          </p:nvCxnSpPr>
          <p:spPr>
            <a:xfrm>
              <a:off x="8208934" y="2159706"/>
              <a:ext cx="2139" cy="37995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E29DEFE-AA8A-3C21-E97B-72AA9C2466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9343" y="3210991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F18A385-E1EE-F808-6506-50824E0A02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90628" y="314848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E2F2A4A-2D70-3B2A-E193-6302D913955C}"/>
                </a:ext>
              </a:extLst>
            </p:cNvPr>
            <p:cNvCxnSpPr>
              <a:stCxn id="64" idx="5"/>
              <a:endCxn id="68" idx="0"/>
            </p:cNvCxnSpPr>
            <p:nvPr/>
          </p:nvCxnSpPr>
          <p:spPr>
            <a:xfrm>
              <a:off x="8340389" y="2851856"/>
              <a:ext cx="433119" cy="296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5E91D98-3DA3-237E-48E2-255EC238E612}"/>
                </a:ext>
              </a:extLst>
            </p:cNvPr>
            <p:cNvCxnSpPr>
              <a:stCxn id="64" idx="4"/>
              <a:endCxn id="67" idx="0"/>
            </p:cNvCxnSpPr>
            <p:nvPr/>
          </p:nvCxnSpPr>
          <p:spPr>
            <a:xfrm flipH="1">
              <a:off x="8182223" y="2905420"/>
              <a:ext cx="28850" cy="30557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F6403A8-5D98-2424-3490-9FAC1DA5CC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12160" y="3952827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829ADC9-857C-8DB1-534C-BB946365B851}"/>
                </a:ext>
              </a:extLst>
            </p:cNvPr>
            <p:cNvCxnSpPr>
              <a:stCxn id="67" idx="4"/>
              <a:endCxn id="73" idx="0"/>
            </p:cNvCxnSpPr>
            <p:nvPr/>
          </p:nvCxnSpPr>
          <p:spPr>
            <a:xfrm>
              <a:off x="8182223" y="3576751"/>
              <a:ext cx="12817" cy="37607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1241861-7507-EED1-0F51-DC1F02727E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1243" y="4734682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0E9D2EE1-0520-B93A-0E0F-40BB296429F0}"/>
                </a:ext>
              </a:extLst>
            </p:cNvPr>
            <p:cNvCxnSpPr>
              <a:stCxn id="73" idx="4"/>
              <a:endCxn id="76" idx="0"/>
            </p:cNvCxnSpPr>
            <p:nvPr/>
          </p:nvCxnSpPr>
          <p:spPr>
            <a:xfrm>
              <a:off x="8195040" y="4318587"/>
              <a:ext cx="19083" cy="416095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F4D0515-8596-93C7-2AB3-B73DE4C837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1243" y="5424308"/>
              <a:ext cx="365760" cy="36576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8600472C-6BBE-329E-B707-BF36DEEA35CD}"/>
                </a:ext>
              </a:extLst>
            </p:cNvPr>
            <p:cNvCxnSpPr>
              <a:stCxn id="76" idx="4"/>
              <a:endCxn id="79" idx="0"/>
            </p:cNvCxnSpPr>
            <p:nvPr/>
          </p:nvCxnSpPr>
          <p:spPr>
            <a:xfrm>
              <a:off x="8214123" y="5100442"/>
              <a:ext cx="0" cy="32386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101A26A-EB76-4FE5-AF5A-71881952F7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86458" y="2747467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22416B8E-2691-5071-73E6-47CDD6591936}"/>
                </a:ext>
              </a:extLst>
            </p:cNvPr>
            <p:cNvCxnSpPr>
              <a:stCxn id="25" idx="4"/>
              <a:endCxn id="106" idx="0"/>
            </p:cNvCxnSpPr>
            <p:nvPr/>
          </p:nvCxnSpPr>
          <p:spPr>
            <a:xfrm flipH="1">
              <a:off x="7469338" y="2323840"/>
              <a:ext cx="32957" cy="4236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2822C6A-5AC4-69A1-E86A-3C173C27C8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84900" y="363761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FEF8B93-ECD9-A994-A73C-38E6C8BC6813}"/>
                </a:ext>
              </a:extLst>
            </p:cNvPr>
            <p:cNvCxnSpPr>
              <a:stCxn id="106" idx="4"/>
              <a:endCxn id="109" idx="0"/>
            </p:cNvCxnSpPr>
            <p:nvPr/>
          </p:nvCxnSpPr>
          <p:spPr>
            <a:xfrm flipH="1">
              <a:off x="7467780" y="3113227"/>
              <a:ext cx="1558" cy="5243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7B9DDBF-B580-9A27-A2F3-9EE58E812B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02936" y="4506546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0BBB808-3AAE-3404-F3BC-EF4A0BBC74FA}"/>
                </a:ext>
              </a:extLst>
            </p:cNvPr>
            <p:cNvCxnSpPr>
              <a:stCxn id="109" idx="4"/>
              <a:endCxn id="112" idx="0"/>
            </p:cNvCxnSpPr>
            <p:nvPr/>
          </p:nvCxnSpPr>
          <p:spPr>
            <a:xfrm>
              <a:off x="7467780" y="4003375"/>
              <a:ext cx="18036" cy="50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D057CFA-8E88-FAAE-906F-2CD1A1DA91A8}"/>
                </a:ext>
              </a:extLst>
            </p:cNvPr>
            <p:cNvSpPr txBox="1"/>
            <p:nvPr/>
          </p:nvSpPr>
          <p:spPr>
            <a:xfrm>
              <a:off x="9744015" y="619723"/>
              <a:ext cx="770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rgbClr val="0070C0"/>
                  </a:solidFill>
                </a:rPr>
                <a:t>shortest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C84ED77-6054-7E95-39FE-6387020B1902}"/>
                </a:ext>
              </a:extLst>
            </p:cNvPr>
            <p:cNvSpPr txBox="1"/>
            <p:nvPr/>
          </p:nvSpPr>
          <p:spPr>
            <a:xfrm>
              <a:off x="7853722" y="559803"/>
              <a:ext cx="7025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rgbClr val="00B050"/>
                  </a:solidFill>
                </a:rPr>
                <a:t>longest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683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96F9-01ED-5040-FB54-86311A4A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01903-2416-69CC-3EF0-C7930A45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E3B5B-153A-6EEF-542D-B266753B7294}"/>
              </a:ext>
            </a:extLst>
          </p:cNvPr>
          <p:cNvSpPr txBox="1"/>
          <p:nvPr/>
        </p:nvSpPr>
        <p:spPr>
          <a:xfrm>
            <a:off x="327187" y="228684"/>
            <a:ext cx="5576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Suffix tree – suffix trie – size compression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E4E64-1FEF-8743-58EC-52A62F2D66C4}"/>
              </a:ext>
            </a:extLst>
          </p:cNvPr>
          <p:cNvSpPr txBox="1"/>
          <p:nvPr/>
        </p:nvSpPr>
        <p:spPr>
          <a:xfrm>
            <a:off x="303993" y="923827"/>
            <a:ext cx="582435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There are nodes that have no brances (i.e. single-edged),</a:t>
            </a:r>
          </a:p>
          <a:p>
            <a:r>
              <a:rPr lang="en-US" sz="1600"/>
              <a:t>those paths can be compressed to reduce the number of nodes.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So we coalesce non-branching paths into a single-edged node</a:t>
            </a:r>
            <a:br>
              <a:rPr lang="en-US" sz="1600"/>
            </a:br>
            <a:r>
              <a:rPr lang="en-US" sz="1600"/>
              <a:t>with a single string label. We get what we call a compressed trie.</a:t>
            </a:r>
          </a:p>
          <a:p>
            <a:endParaRPr lang="en-US" sz="1600"/>
          </a:p>
          <a:p>
            <a:r>
              <a:rPr lang="en-US" sz="1600"/>
              <a:t>After the compression, we know then that any internal node</a:t>
            </a:r>
            <a:br>
              <a:rPr lang="en-US" sz="1600"/>
            </a:br>
            <a:r>
              <a:rPr lang="en-US" sz="1600"/>
              <a:t>(i.e. non-leaf) has more than one child.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BE4BA9-FDF3-CFFC-8255-1D6B56A51AF4}"/>
              </a:ext>
            </a:extLst>
          </p:cNvPr>
          <p:cNvGrpSpPr/>
          <p:nvPr/>
        </p:nvGrpSpPr>
        <p:grpSpPr>
          <a:xfrm>
            <a:off x="7090085" y="415136"/>
            <a:ext cx="3438445" cy="5784220"/>
            <a:chOff x="7090085" y="415136"/>
            <a:chExt cx="3438445" cy="578422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F312C0E-F383-966E-733A-B1B24A1268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23943" y="415136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154168D-4D72-A73D-A5CF-BC68E4A1F0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89703" y="152537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7442B86-11A3-0051-2C41-7573E2F779AC}"/>
                </a:ext>
              </a:extLst>
            </p:cNvPr>
            <p:cNvCxnSpPr>
              <a:cxnSpLocks/>
              <a:stCxn id="2" idx="4"/>
              <a:endCxn id="12" idx="0"/>
            </p:cNvCxnSpPr>
            <p:nvPr/>
          </p:nvCxnSpPr>
          <p:spPr>
            <a:xfrm>
              <a:off x="9106823" y="780896"/>
              <a:ext cx="365760" cy="744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E29C8D8-0DE7-E784-08E9-E7787625E5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19415" y="2078152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EDA79B0-208D-4800-AE8A-CC4327C5B5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00770" y="2250425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6D42A3F-33CE-7B21-E79C-6AD67E25AF7A}"/>
                </a:ext>
              </a:extLst>
            </p:cNvPr>
            <p:cNvCxnSpPr>
              <a:cxnSpLocks/>
              <a:stCxn id="12" idx="4"/>
              <a:endCxn id="34" idx="0"/>
            </p:cNvCxnSpPr>
            <p:nvPr/>
          </p:nvCxnSpPr>
          <p:spPr>
            <a:xfrm>
              <a:off x="9472583" y="1891130"/>
              <a:ext cx="111067" cy="3592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9B311AB-09D9-FFA8-ED0F-A9D5D659F8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6676" y="312210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95C1BC7-3681-257F-220A-DD8D848743E7}"/>
                </a:ext>
              </a:extLst>
            </p:cNvPr>
            <p:cNvCxnSpPr>
              <a:stCxn id="34" idx="4"/>
              <a:endCxn id="38" idx="0"/>
            </p:cNvCxnSpPr>
            <p:nvPr/>
          </p:nvCxnSpPr>
          <p:spPr>
            <a:xfrm>
              <a:off x="9583650" y="2616185"/>
              <a:ext cx="35906" cy="5059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EBADF4-0C61-7384-5145-3A5746487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62770" y="3107769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E6E43CB-42D2-4AA0-586C-CEF2CCF1B7ED}"/>
                </a:ext>
              </a:extLst>
            </p:cNvPr>
            <p:cNvCxnSpPr>
              <a:stCxn id="34" idx="5"/>
              <a:endCxn id="41" idx="0"/>
            </p:cNvCxnSpPr>
            <p:nvPr/>
          </p:nvCxnSpPr>
          <p:spPr>
            <a:xfrm>
              <a:off x="9712966" y="2562621"/>
              <a:ext cx="632684" cy="5451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01FFFF8-5CA4-B7EF-0810-B2CA409E4E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6676" y="3934751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172E975-BF86-713D-A148-EC6102AA1BAB}"/>
                </a:ext>
              </a:extLst>
            </p:cNvPr>
            <p:cNvCxnSpPr>
              <a:stCxn id="38" idx="4"/>
              <a:endCxn id="45" idx="0"/>
            </p:cNvCxnSpPr>
            <p:nvPr/>
          </p:nvCxnSpPr>
          <p:spPr>
            <a:xfrm>
              <a:off x="9619556" y="3487860"/>
              <a:ext cx="0" cy="4468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375EF0E-2BF0-43C2-4201-2C875E223F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36676" y="479031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21009C3-161A-F200-4166-3D631195E1EA}"/>
                </a:ext>
              </a:extLst>
            </p:cNvPr>
            <p:cNvCxnSpPr>
              <a:stCxn id="45" idx="4"/>
              <a:endCxn id="48" idx="0"/>
            </p:cNvCxnSpPr>
            <p:nvPr/>
          </p:nvCxnSpPr>
          <p:spPr>
            <a:xfrm>
              <a:off x="9619556" y="4300511"/>
              <a:ext cx="0" cy="4897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72B2AA-CD59-763D-D066-6809E68FA2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18723" y="564455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FB19467-5E71-6EC2-E6A5-2F468AB10B9A}"/>
                </a:ext>
              </a:extLst>
            </p:cNvPr>
            <p:cNvCxnSpPr>
              <a:stCxn id="48" idx="4"/>
              <a:endCxn id="51" idx="0"/>
            </p:cNvCxnSpPr>
            <p:nvPr/>
          </p:nvCxnSpPr>
          <p:spPr>
            <a:xfrm flipH="1">
              <a:off x="9601603" y="5156070"/>
              <a:ext cx="17953" cy="4884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FEB20A6-1E07-2BC8-08AE-CACEC19704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46506" y="1929712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BAFD5DE-E255-2A0A-0E86-2104218069B2}"/>
                </a:ext>
              </a:extLst>
            </p:cNvPr>
            <p:cNvCxnSpPr>
              <a:cxnSpLocks/>
              <a:stCxn id="19" idx="5"/>
              <a:endCxn id="55" idx="0"/>
            </p:cNvCxnSpPr>
            <p:nvPr/>
          </p:nvCxnSpPr>
          <p:spPr>
            <a:xfrm>
              <a:off x="8338250" y="1423169"/>
              <a:ext cx="491136" cy="5065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BD3DAA9-B169-B809-EC9A-CB326CDFE30A}"/>
                </a:ext>
              </a:extLst>
            </p:cNvPr>
            <p:cNvCxnSpPr>
              <a:cxnSpLocks/>
              <a:stCxn id="19" idx="3"/>
              <a:endCxn id="25" idx="0"/>
            </p:cNvCxnSpPr>
            <p:nvPr/>
          </p:nvCxnSpPr>
          <p:spPr>
            <a:xfrm flipH="1">
              <a:off x="7502295" y="1423169"/>
              <a:ext cx="577323" cy="654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FA0DB4C-AF81-03D9-2BD1-E9A73BB4B7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90628" y="326856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3B16A73-5D91-A0A8-A878-74864081A4B7}"/>
                </a:ext>
              </a:extLst>
            </p:cNvPr>
            <p:cNvCxnSpPr>
              <a:cxnSpLocks/>
              <a:stCxn id="24" idx="5"/>
              <a:endCxn id="68" idx="0"/>
            </p:cNvCxnSpPr>
            <p:nvPr/>
          </p:nvCxnSpPr>
          <p:spPr>
            <a:xfrm>
              <a:off x="8303957" y="2913614"/>
              <a:ext cx="469551" cy="35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D13FA58-3FE8-501E-3A32-1E36516CB3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86458" y="2867539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B2ACAC7-87B8-DEAB-78F8-F88CDED9ED86}"/>
                </a:ext>
              </a:extLst>
            </p:cNvPr>
            <p:cNvCxnSpPr>
              <a:stCxn id="25" idx="4"/>
              <a:endCxn id="106" idx="0"/>
            </p:cNvCxnSpPr>
            <p:nvPr/>
          </p:nvCxnSpPr>
          <p:spPr>
            <a:xfrm flipH="1">
              <a:off x="7469338" y="2443912"/>
              <a:ext cx="32957" cy="4236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3D47DF31-1FC3-C712-C52E-2194778C93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84900" y="3757687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11CC3F9-76B6-56D5-E42A-EE58CCFCB8BD}"/>
                </a:ext>
              </a:extLst>
            </p:cNvPr>
            <p:cNvCxnSpPr>
              <a:stCxn id="106" idx="4"/>
              <a:endCxn id="109" idx="0"/>
            </p:cNvCxnSpPr>
            <p:nvPr/>
          </p:nvCxnSpPr>
          <p:spPr>
            <a:xfrm flipH="1">
              <a:off x="7467780" y="3233299"/>
              <a:ext cx="1558" cy="5243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3B066137-CCE1-E55E-BFE6-2BFC604EFA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02936" y="462661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E9CC4635-8C43-B2E3-E0CB-99A28767798B}"/>
                </a:ext>
              </a:extLst>
            </p:cNvPr>
            <p:cNvCxnSpPr>
              <a:stCxn id="109" idx="4"/>
              <a:endCxn id="112" idx="0"/>
            </p:cNvCxnSpPr>
            <p:nvPr/>
          </p:nvCxnSpPr>
          <p:spPr>
            <a:xfrm>
              <a:off x="7467780" y="4123447"/>
              <a:ext cx="18036" cy="503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21AECF-4C72-0C77-8DB6-644A7C921B23}"/>
                </a:ext>
              </a:extLst>
            </p:cNvPr>
            <p:cNvSpPr/>
            <p:nvPr/>
          </p:nvSpPr>
          <p:spPr>
            <a:xfrm>
              <a:off x="7090085" y="1929712"/>
              <a:ext cx="762170" cy="322635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548E5BA-6AC7-8B36-1325-1B0D5E7C887A}"/>
                </a:ext>
              </a:extLst>
            </p:cNvPr>
            <p:cNvSpPr/>
            <p:nvPr/>
          </p:nvSpPr>
          <p:spPr>
            <a:xfrm>
              <a:off x="9165879" y="2998458"/>
              <a:ext cx="927151" cy="3200897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F41157D-80E7-D8A1-C9B2-A4B778FEE611}"/>
                </a:ext>
              </a:extLst>
            </p:cNvPr>
            <p:cNvCxnSpPr>
              <a:cxnSpLocks/>
              <a:stCxn id="2" idx="6"/>
              <a:endCxn id="16" idx="0"/>
            </p:cNvCxnSpPr>
            <p:nvPr/>
          </p:nvCxnSpPr>
          <p:spPr>
            <a:xfrm>
              <a:off x="9289703" y="598016"/>
              <a:ext cx="1051444" cy="8508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343A69F-EB18-9A5C-A532-4E1DB48358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58267" y="1448827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A61737A-D17A-7411-8BDC-46442D73AF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6054" y="1110973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DE9CC5B-32D8-A1B7-AC7F-F111EFCD91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7554" y="1954879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E0A1082-2D81-CE36-024D-E1E9847B91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1761" y="2601418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9386092-4307-E61B-91DD-9DB8F1624E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9342" y="3358780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633DC34-C035-AE73-C32C-BA341DE942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3204" y="4097213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0D66E77-DF19-2290-3859-CA82778A00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3204" y="4820796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637D122-A460-3398-4003-F262D69D4B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3204" y="5572051"/>
              <a:ext cx="365760" cy="365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4CD3FF7-80D5-0CCE-7EC1-963ABDA755BB}"/>
                </a:ext>
              </a:extLst>
            </p:cNvPr>
            <p:cNvCxnSpPr>
              <a:stCxn id="19" idx="4"/>
              <a:endCxn id="23" idx="0"/>
            </p:cNvCxnSpPr>
            <p:nvPr/>
          </p:nvCxnSpPr>
          <p:spPr>
            <a:xfrm>
              <a:off x="8208934" y="1476733"/>
              <a:ext cx="1500" cy="4781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C0F5B31-CE2C-54DF-FE03-BDC29B9669AC}"/>
                </a:ext>
              </a:extLst>
            </p:cNvPr>
            <p:cNvCxnSpPr>
              <a:stCxn id="23" idx="4"/>
              <a:endCxn id="24" idx="0"/>
            </p:cNvCxnSpPr>
            <p:nvPr/>
          </p:nvCxnSpPr>
          <p:spPr>
            <a:xfrm flipH="1">
              <a:off x="8174641" y="2320639"/>
              <a:ext cx="35793" cy="2807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CFDC79A-1743-2F57-1AA9-8134A7B52561}"/>
                </a:ext>
              </a:extLst>
            </p:cNvPr>
            <p:cNvCxnSpPr>
              <a:stCxn id="24" idx="4"/>
              <a:endCxn id="27" idx="0"/>
            </p:cNvCxnSpPr>
            <p:nvPr/>
          </p:nvCxnSpPr>
          <p:spPr>
            <a:xfrm>
              <a:off x="8174641" y="2967178"/>
              <a:ext cx="7581" cy="3916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8CD33F7-AB39-B941-B19A-45EE515EB556}"/>
                </a:ext>
              </a:extLst>
            </p:cNvPr>
            <p:cNvCxnSpPr>
              <a:stCxn id="27" idx="4"/>
              <a:endCxn id="28" idx="0"/>
            </p:cNvCxnSpPr>
            <p:nvPr/>
          </p:nvCxnSpPr>
          <p:spPr>
            <a:xfrm>
              <a:off x="8182222" y="3724540"/>
              <a:ext cx="23862" cy="3726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9013658-CD4C-B20B-8EC8-ABE30EA2125B}"/>
                </a:ext>
              </a:extLst>
            </p:cNvPr>
            <p:cNvCxnSpPr>
              <a:stCxn id="28" idx="4"/>
              <a:endCxn id="29" idx="0"/>
            </p:cNvCxnSpPr>
            <p:nvPr/>
          </p:nvCxnSpPr>
          <p:spPr>
            <a:xfrm>
              <a:off x="8206084" y="4462973"/>
              <a:ext cx="0" cy="3578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DED9FE7-7747-1243-9691-712A3FDFBF4F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>
              <a:off x="8206084" y="5186556"/>
              <a:ext cx="0" cy="385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987DED1-2F14-7131-06CB-9838D82121C4}"/>
                </a:ext>
              </a:extLst>
            </p:cNvPr>
            <p:cNvCxnSpPr>
              <a:stCxn id="2" idx="3"/>
              <a:endCxn id="19" idx="7"/>
            </p:cNvCxnSpPr>
            <p:nvPr/>
          </p:nvCxnSpPr>
          <p:spPr>
            <a:xfrm flipH="1">
              <a:off x="8338250" y="727332"/>
              <a:ext cx="639257" cy="4372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C320A67-E9DC-E7D8-2591-5578F4B45DDD}"/>
                </a:ext>
              </a:extLst>
            </p:cNvPr>
            <p:cNvSpPr/>
            <p:nvPr/>
          </p:nvSpPr>
          <p:spPr>
            <a:xfrm>
              <a:off x="7830482" y="3168967"/>
              <a:ext cx="740155" cy="30303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A780800-50F5-ABC3-D6A7-0D2D5C203BAB}"/>
                </a:ext>
              </a:extLst>
            </p:cNvPr>
            <p:cNvSpPr/>
            <p:nvPr/>
          </p:nvSpPr>
          <p:spPr>
            <a:xfrm rot="20842627">
              <a:off x="9219256" y="1355656"/>
              <a:ext cx="594328" cy="1441287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98D5A4E8-880F-1FE8-3BB3-D50ED0E33931}"/>
                </a:ext>
              </a:extLst>
            </p:cNvPr>
            <p:cNvSpPr/>
            <p:nvPr/>
          </p:nvSpPr>
          <p:spPr>
            <a:xfrm>
              <a:off x="7879556" y="1806275"/>
              <a:ext cx="617833" cy="131789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6865919-D67B-0E5A-1894-D084390A4D68}"/>
              </a:ext>
            </a:extLst>
          </p:cNvPr>
          <p:cNvGrpSpPr/>
          <p:nvPr/>
        </p:nvGrpSpPr>
        <p:grpSpPr>
          <a:xfrm>
            <a:off x="1762261" y="3473529"/>
            <a:ext cx="1767793" cy="2092543"/>
            <a:chOff x="1771430" y="2461028"/>
            <a:chExt cx="1767793" cy="2092543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3BDA1C3-380D-8B5E-4098-06D0F3A979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37091" y="2978720"/>
              <a:ext cx="618134" cy="61813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ba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85E1DE1-C52F-BFBF-E930-DD73D5044A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1430" y="3910876"/>
              <a:ext cx="618134" cy="61813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>
                  <a:solidFill>
                    <a:schemeClr val="tx1"/>
                  </a:solidFill>
                </a:rPr>
                <a:t>aba$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880E7DB-F6DD-6499-5838-C5ECEDB3F8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1754" y="3966102"/>
              <a:ext cx="587469" cy="58746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3B8F09C8-167E-09C8-E7DF-6F5A042487D2}"/>
                </a:ext>
              </a:extLst>
            </p:cNvPr>
            <p:cNvCxnSpPr>
              <a:cxnSpLocks/>
              <a:stCxn id="80" idx="3"/>
              <a:endCxn id="93" idx="0"/>
            </p:cNvCxnSpPr>
            <p:nvPr/>
          </p:nvCxnSpPr>
          <p:spPr>
            <a:xfrm flipH="1">
              <a:off x="2080497" y="3506330"/>
              <a:ext cx="347118" cy="4045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400244B-D5AD-3EDF-95CF-32DFCC50B51C}"/>
                </a:ext>
              </a:extLst>
            </p:cNvPr>
            <p:cNvCxnSpPr>
              <a:cxnSpLocks/>
              <a:stCxn id="80" idx="5"/>
              <a:endCxn id="94" idx="0"/>
            </p:cNvCxnSpPr>
            <p:nvPr/>
          </p:nvCxnSpPr>
          <p:spPr>
            <a:xfrm>
              <a:off x="2864701" y="3506330"/>
              <a:ext cx="380788" cy="459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95B35EA-93B5-B37A-E142-B3C238BC1177}"/>
                </a:ext>
              </a:extLst>
            </p:cNvPr>
            <p:cNvCxnSpPr>
              <a:cxnSpLocks/>
              <a:endCxn id="80" idx="0"/>
            </p:cNvCxnSpPr>
            <p:nvPr/>
          </p:nvCxnSpPr>
          <p:spPr>
            <a:xfrm flipH="1">
              <a:off x="2646158" y="2461028"/>
              <a:ext cx="218543" cy="517692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5853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F3D8-4B1B-7C75-A035-4E70E789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9EAB8-ED8E-5245-7118-3F22C2C3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Tries and suffix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F10A5-59E9-93A7-2C73-9C4BECBACCA5}"/>
              </a:ext>
            </a:extLst>
          </p:cNvPr>
          <p:cNvSpPr txBox="1"/>
          <p:nvPr/>
        </p:nvSpPr>
        <p:spPr>
          <a:xfrm>
            <a:off x="383294" y="264312"/>
            <a:ext cx="5576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Suffix tree – suffix trie – size compression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AB147-3A79-1B8C-3CDF-2FA881DCEFBF}"/>
              </a:ext>
            </a:extLst>
          </p:cNvPr>
          <p:cNvSpPr txBox="1"/>
          <p:nvPr/>
        </p:nvSpPr>
        <p:spPr>
          <a:xfrm>
            <a:off x="383294" y="1340562"/>
            <a:ext cx="5824351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There are nodes that have no brances (i.e. single-edged),</a:t>
            </a:r>
          </a:p>
          <a:p>
            <a:r>
              <a:rPr lang="en-US" sz="1600"/>
              <a:t>those paths can be compressed to reduce the number of nodes.</a:t>
            </a:r>
            <a:br>
              <a:rPr lang="en-US" sz="1600"/>
            </a:br>
            <a:br>
              <a:rPr lang="en-US" sz="1600"/>
            </a:br>
            <a:r>
              <a:rPr lang="en-US" sz="1600"/>
              <a:t>So we coalesce non-branching paths into a single-edged node</a:t>
            </a:r>
            <a:br>
              <a:rPr lang="en-US" sz="1600"/>
            </a:br>
            <a:r>
              <a:rPr lang="en-US" sz="1600"/>
              <a:t>with a single string label. We get what we call a compressed trie.</a:t>
            </a:r>
          </a:p>
          <a:p>
            <a:endParaRPr lang="en-US" sz="1600"/>
          </a:p>
          <a:p>
            <a:r>
              <a:rPr lang="en-US" sz="1600"/>
              <a:t>After the compression, we know then that any internal node</a:t>
            </a:r>
            <a:br>
              <a:rPr lang="en-US" sz="1600"/>
            </a:br>
            <a:r>
              <a:rPr lang="en-US" sz="1600"/>
              <a:t>(i.e. non-leaf) has more than one child.</a:t>
            </a:r>
          </a:p>
          <a:p>
            <a:endParaRPr lang="en-US" sz="1600"/>
          </a:p>
          <a:p>
            <a:r>
              <a:rPr lang="en-US" sz="1600"/>
              <a:t>We reduced the number of nodes, but we’re still using around</a:t>
            </a:r>
          </a:p>
          <a:p>
            <a:r>
              <a:rPr lang="en-US" sz="1600"/>
              <a:t>n</a:t>
            </a:r>
            <a:r>
              <a:rPr lang="en-US" sz="1600" baseline="30000"/>
              <a:t>2</a:t>
            </a:r>
            <a:r>
              <a:rPr lang="en-US" sz="1600"/>
              <a:t> memory for all the labels we have.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14EC206-1F83-16CE-96C1-3FF1AD40DF69}"/>
              </a:ext>
            </a:extLst>
          </p:cNvPr>
          <p:cNvGrpSpPr/>
          <p:nvPr/>
        </p:nvGrpSpPr>
        <p:grpSpPr>
          <a:xfrm>
            <a:off x="6318397" y="1548248"/>
            <a:ext cx="5035403" cy="4429282"/>
            <a:chOff x="6318397" y="1548248"/>
            <a:chExt cx="5035403" cy="442928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8B4A365-D85E-36E8-1634-D353FE2553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000" y="1548248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1CC2757-7CA8-47F8-4F9B-AF97F0ABB1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58534" y="2834469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F6CCF7A-8277-A882-412D-D18D692F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85683" y="2737403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ba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75C665-CD70-0AB9-6FF5-413CEFB86B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88117" y="2737403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B7C9F86-4E0F-4D97-8227-F9B14487D64B}"/>
                </a:ext>
              </a:extLst>
            </p:cNvPr>
            <p:cNvCxnSpPr>
              <a:cxnSpLocks/>
              <a:stCxn id="9" idx="6"/>
              <a:endCxn id="52" idx="0"/>
            </p:cNvCxnSpPr>
            <p:nvPr/>
          </p:nvCxnSpPr>
          <p:spPr>
            <a:xfrm>
              <a:off x="9485683" y="1881090"/>
              <a:ext cx="1535276" cy="8563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DC68B78-A347-65AE-7A35-F616D3836871}"/>
                </a:ext>
              </a:extLst>
            </p:cNvPr>
            <p:cNvCxnSpPr>
              <a:cxnSpLocks/>
              <a:stCxn id="9" idx="5"/>
              <a:endCxn id="42" idx="0"/>
            </p:cNvCxnSpPr>
            <p:nvPr/>
          </p:nvCxnSpPr>
          <p:spPr>
            <a:xfrm>
              <a:off x="9388196" y="2116444"/>
              <a:ext cx="430329" cy="6209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7372B1F-C20E-EDFD-D800-97A30DA0262E}"/>
                </a:ext>
              </a:extLst>
            </p:cNvPr>
            <p:cNvCxnSpPr>
              <a:cxnSpLocks/>
              <a:stCxn id="9" idx="2"/>
              <a:endCxn id="37" idx="0"/>
            </p:cNvCxnSpPr>
            <p:nvPr/>
          </p:nvCxnSpPr>
          <p:spPr>
            <a:xfrm flipH="1">
              <a:off x="7891376" y="1881090"/>
              <a:ext cx="928624" cy="9533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CB69164-8135-B9F7-DDBA-A90CE57A5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20205" y="3760644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1695D3F4-57F3-C2C3-D394-A7C9235D4EAB}"/>
                </a:ext>
              </a:extLst>
            </p:cNvPr>
            <p:cNvCxnSpPr>
              <a:cxnSpLocks/>
              <a:stCxn id="42" idx="5"/>
              <a:endCxn id="71" idx="1"/>
            </p:cNvCxnSpPr>
            <p:nvPr/>
          </p:nvCxnSpPr>
          <p:spPr>
            <a:xfrm>
              <a:off x="10053879" y="3305599"/>
              <a:ext cx="563813" cy="552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FB87C5C-9B45-62F9-66A5-70D4AC104A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90358" y="3926558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aba$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1EF43A9-CB97-A0EC-1C23-7B2AB9743640}"/>
                </a:ext>
              </a:extLst>
            </p:cNvPr>
            <p:cNvCxnSpPr>
              <a:cxnSpLocks/>
              <a:stCxn id="42" idx="4"/>
              <a:endCxn id="74" idx="0"/>
            </p:cNvCxnSpPr>
            <p:nvPr/>
          </p:nvCxnSpPr>
          <p:spPr>
            <a:xfrm flipH="1">
              <a:off x="9623200" y="3403086"/>
              <a:ext cx="195325" cy="5234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0B6265E-3710-EBEE-20F3-5A83819D34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95736" y="3990543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6A925B9-8644-F2D2-56D3-F317319D0D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54632" y="4036521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ba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8916BC7-F60D-8B2D-F0BA-65AF8FEFED09}"/>
                </a:ext>
              </a:extLst>
            </p:cNvPr>
            <p:cNvCxnSpPr>
              <a:cxnSpLocks/>
              <a:stCxn id="37" idx="4"/>
              <a:endCxn id="78" idx="0"/>
            </p:cNvCxnSpPr>
            <p:nvPr/>
          </p:nvCxnSpPr>
          <p:spPr>
            <a:xfrm flipH="1">
              <a:off x="7787474" y="3500152"/>
              <a:ext cx="103902" cy="5363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A7BAF074-5BEB-75E7-8F1B-298B40C84F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18397" y="3990543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aba$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12C9D1D-BB83-BF4C-E1E9-1FC9AABDCE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2846" y="5311846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$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421121F-AE55-1039-14CA-17076B1AE7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84080" y="5311847"/>
              <a:ext cx="665683" cy="66568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aba$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9AE4E86-6C9D-7052-B49E-50B08122ACB6}"/>
                </a:ext>
              </a:extLst>
            </p:cNvPr>
            <p:cNvCxnSpPr>
              <a:stCxn id="37" idx="2"/>
              <a:endCxn id="85" idx="0"/>
            </p:cNvCxnSpPr>
            <p:nvPr/>
          </p:nvCxnSpPr>
          <p:spPr>
            <a:xfrm flipH="1">
              <a:off x="6651239" y="3167311"/>
              <a:ext cx="907295" cy="82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AFD39817-3C99-8DD4-816E-65F064007FD3}"/>
                </a:ext>
              </a:extLst>
            </p:cNvPr>
            <p:cNvCxnSpPr>
              <a:stCxn id="37" idx="5"/>
              <a:endCxn id="77" idx="0"/>
            </p:cNvCxnSpPr>
            <p:nvPr/>
          </p:nvCxnSpPr>
          <p:spPr>
            <a:xfrm>
              <a:off x="8126730" y="3402665"/>
              <a:ext cx="601848" cy="5878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869E05B8-B716-E0ED-458E-E37D61215E06}"/>
                </a:ext>
              </a:extLst>
            </p:cNvPr>
            <p:cNvCxnSpPr>
              <a:stCxn id="78" idx="3"/>
              <a:endCxn id="90" idx="0"/>
            </p:cNvCxnSpPr>
            <p:nvPr/>
          </p:nvCxnSpPr>
          <p:spPr>
            <a:xfrm flipH="1">
              <a:off x="7316922" y="4604717"/>
              <a:ext cx="235197" cy="7071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254795D2-483A-2548-CA8C-0491D0863698}"/>
                </a:ext>
              </a:extLst>
            </p:cNvPr>
            <p:cNvCxnSpPr>
              <a:stCxn id="78" idx="5"/>
              <a:endCxn id="89" idx="0"/>
            </p:cNvCxnSpPr>
            <p:nvPr/>
          </p:nvCxnSpPr>
          <p:spPr>
            <a:xfrm>
              <a:off x="8022828" y="4604717"/>
              <a:ext cx="332860" cy="707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850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3852</TotalTime>
  <Words>1335</Words>
  <Application>Microsoft Macintosh PowerPoint</Application>
  <PresentationFormat>Widescreen</PresentationFormat>
  <Paragraphs>194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87</cp:revision>
  <dcterms:created xsi:type="dcterms:W3CDTF">2025-02-19T20:33:39Z</dcterms:created>
  <dcterms:modified xsi:type="dcterms:W3CDTF">2026-07-12T20:39:00Z</dcterms:modified>
</cp:coreProperties>
</file>