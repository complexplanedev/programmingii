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66" r:id="rId4"/>
    <p:sldId id="271" r:id="rId5"/>
    <p:sldId id="273" r:id="rId6"/>
    <p:sldId id="272" r:id="rId7"/>
    <p:sldId id="267" r:id="rId8"/>
    <p:sldId id="276" r:id="rId9"/>
    <p:sldId id="268" r:id="rId10"/>
    <p:sldId id="269" r:id="rId11"/>
    <p:sldId id="270" r:id="rId12"/>
    <p:sldId id="275" r:id="rId13"/>
    <p:sldId id="277" r:id="rId14"/>
    <p:sldId id="278" r:id="rId15"/>
    <p:sldId id="279" r:id="rId16"/>
    <p:sldId id="283" r:id="rId17"/>
    <p:sldId id="280" r:id="rId18"/>
    <p:sldId id="281" r:id="rId19"/>
    <p:sldId id="284" r:id="rId20"/>
    <p:sldId id="282" r:id="rId21"/>
    <p:sldId id="285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542"/>
    <p:restoredTop sz="94682"/>
  </p:normalViewPr>
  <p:slideViewPr>
    <p:cSldViewPr snapToGrid="0">
      <p:cViewPr>
        <p:scale>
          <a:sx n="100" d="100"/>
          <a:sy n="100" d="100"/>
        </p:scale>
        <p:origin x="112" y="5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E07293-F053-7B40-A228-5F1A48558100}" type="datetimeFigureOut">
              <a:rPr lang="en-US" smtClean="0"/>
              <a:t>5/3/26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A41D49-4EEF-854E-9DDE-8BC5FEFD084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0554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5F5439B-63FB-6C79-15F1-BAA1C47C7A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A9E2CF-704F-6F6C-0426-B7F84FC246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EB6FD8C-3A3D-445A-213A-CF6B71BA3E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F65F5-00D7-2D4F-A5AA-1BB5D8740A63}" type="datetime1"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D47CA33-588F-4EAC-C341-1447D02D86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43C2CF-CA0A-CFA0-6B58-37C42242B8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6651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8B5E98-1E0A-5C06-1F5F-DEBE421CE8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3B92E38-AE1D-142D-1A59-8A0F47F9C3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144205-A97E-5C80-20A0-4B68B7652B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B4B54F1-52CB-4448-9313-79785DACE8AF}" type="datetime1"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8D4116-E39C-BD33-E13E-AF18EB8A18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C89E9A-B868-FE52-8CFE-6891962159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161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1928CB-C549-0CDB-FB0B-590D1E78FF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F19BA9-E540-1566-4B2B-E59034E89F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E436ECF-E7C9-D6D6-EE13-5AE021373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9813D43-5988-5E4E-9D16-D4CBB5F39D3C}" type="datetime1"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C639BBF-4527-08FB-EACA-DCAD12194E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806293-AE67-6245-643E-B715DC4501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5317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D51C7-AD92-09E3-6E4E-47CA0921C6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547D2D-1F7F-2B3D-CA36-7D64AE07578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E88E74B-CD91-A054-ADC9-1EFCB77852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E022C44-3D99-F76D-41A0-E73C8318A6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5AFFE6-2AFD-7144-AC3A-3E25FA72DA84}" type="datetime1"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222654B-ABB1-B4E7-D3FF-75F502EF7C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9EB3FF0-A6CC-BB11-1387-91380F75CB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49644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F93EE0-13D7-B16A-671D-37C4003ED1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E36EBB-EB65-A1BE-9D46-0D48EAE2EC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4796A3D-C74C-E765-80CD-7C597B8C64D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25A3A30-D02C-B54E-0027-C54DB7D8981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AE242F7-89D9-4224-E2F0-D92BEC3FF1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93D59E-AFA9-0483-559C-6C131C0E06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63FFB9-9537-4243-9A56-27511A8ED980}" type="datetime1">
              <a:t>5/3/26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126F210-EE29-8E1D-8FA8-D10028D70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6F38DDC-0ECF-9134-256E-293D6681E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85471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1876A2-3DA5-918E-EA96-5DE7EA197D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E71DD-2CDF-D942-ECFA-3348F8859D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9B9BFC3-D8FE-D744-85B9-5807F0C5FE3F}" type="datetime1">
              <a:t>5/3/26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144A0C1-2879-C55B-0CF2-13A64EE6F2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B2FF08-FA4F-5E70-3D58-56BD02ED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79646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85E7684-4EDD-C720-2CDF-C7DB971DBB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D2CAE0-69F8-154A-A1E6-CCF003D3302F}" type="datetime1">
              <a:t>5/3/26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0BEAB9-0036-AFDC-FD10-E5BBB32CAB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81F654-1E2B-5C4F-56B1-FD811F1DEF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67993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53AE98-D290-2D23-02C2-B1B9D08A3F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D1B8CB-0769-520D-1239-A592E7364C6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8E52471-F5C0-4650-7641-FEC81F273C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68E6937-6113-2719-D75D-2A5C29221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A09F05-0958-1D41-8ED9-CFAA9B60C2DC}" type="datetime1"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806A247-0567-CD26-31DC-A70792F3C1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6A7F36-2EDB-2D13-ED56-83A061148F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7338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E4D053-C082-202E-4257-E09A2B098F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608AAF1-FF16-01CE-ECAA-EFE558D8AD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88DDB28-7904-6C8E-701B-A3CFF3D45F3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D17D25E-1E8D-FE8F-35CC-8D8B432808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1D10AC-B04E-5E4C-A26C-89AB5E38251E}" type="datetime1">
              <a:t>5/3/26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0ABFC95-31D9-F0FD-B110-5448FD7D3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9AA12B-4266-61D9-EDD2-3EE5CE79D7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56486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337D41-2C62-B81A-4E55-5B17754E80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7F87ADB-41B0-0C03-1623-085306CD78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ED994-B570-EC4C-69DF-20F16C7F1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112F85-8C93-C445-AC68-BAB290BE0E70}" type="datetime1"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AD534-A450-A307-4B07-6C4650ACD3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94DC195-7F54-203F-CDA1-C50631716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611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AE438AF-B931-3C84-F6D4-87AB3B83A94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0D28B3D-F088-3F99-72FF-7414B2DCD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B055F1-AB43-623C-C5CB-38A30E28D5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61F5FCA-21EB-DD4A-A0B9-2726D7107674}" type="datetime1"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17671F-F3CA-AD8C-AAED-1CEDA06BD3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5B1CDC-17D0-73DC-75AA-4AC4F7A191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53491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6DB54A4-460A-D881-CB80-B80976E994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004465D-2428-0E8F-C234-F54A0ACB298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4D1F970-F887-4C4D-5815-B89930B12E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933BE73-D893-BB46-8DFA-9DF8C17970C3}" type="datetime1">
              <a:t>5/3/26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557DE-AC99-B9B5-5DF2-4FB364C1F49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r>
              <a:rPr lang="en-US"/>
              <a:t>Programming II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B09E07-DBC5-7183-4C8A-37012085C0D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C8A5E57-4BE3-6845-B213-5AF793E357A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8912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greenteapress.com/thinkjava6/html/index.html" TargetMode="External"/><Relationship Id="rId2" Type="http://schemas.openxmlformats.org/officeDocument/2006/relationships/hyperlink" Target="https://github.com/ComplexPlaneDev/ProgrammingII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java-programming.mooc.fi/" TargetMode="Externa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E975EDB5-7C26-1246-E398-1FA21B5C1782}"/>
              </a:ext>
            </a:extLst>
          </p:cNvPr>
          <p:cNvSpPr txBox="1"/>
          <p:nvPr/>
        </p:nvSpPr>
        <p:spPr>
          <a:xfrm>
            <a:off x="570154" y="915313"/>
            <a:ext cx="945597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Programming II Course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686B9AB-A154-F77B-F9BB-7DC5E358FC71}"/>
              </a:ext>
            </a:extLst>
          </p:cNvPr>
          <p:cNvSpPr txBox="1"/>
          <p:nvPr/>
        </p:nvSpPr>
        <p:spPr>
          <a:xfrm>
            <a:off x="570155" y="5111690"/>
            <a:ext cx="38677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Antonio Di Monaco</a:t>
            </a:r>
          </a:p>
          <a:p>
            <a:r>
              <a:rPr lang="en-US" dirty="0"/>
              <a:t>Computer Science Bachelor Program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63B0E87-0692-1E7D-2BF8-8A674F0914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</p:spTree>
    <p:extLst>
      <p:ext uri="{BB962C8B-B14F-4D97-AF65-F5344CB8AC3E}">
        <p14:creationId xmlns:p14="http://schemas.microsoft.com/office/powerpoint/2010/main" val="27940351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6313177E-5D7E-7552-0642-FC63D6BB32ED}"/>
              </a:ext>
            </a:extLst>
          </p:cNvPr>
          <p:cNvSpPr txBox="1"/>
          <p:nvPr/>
        </p:nvSpPr>
        <p:spPr>
          <a:xfrm>
            <a:off x="4587606" y="3044279"/>
            <a:ext cx="3016788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4400" dirty="0"/>
              <a:t>Who we are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FC0A45D-015B-F9B3-DB27-9D90471817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</p:spTree>
    <p:extLst>
      <p:ext uri="{BB962C8B-B14F-4D97-AF65-F5344CB8AC3E}">
        <p14:creationId xmlns:p14="http://schemas.microsoft.com/office/powerpoint/2010/main" val="9575921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22FE028-2A15-9ACF-33F7-FE417157BE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8792B10-EC09-86CE-0DF7-81C4F316933D}"/>
              </a:ext>
            </a:extLst>
          </p:cNvPr>
          <p:cNvSpPr txBox="1"/>
          <p:nvPr/>
        </p:nvSpPr>
        <p:spPr>
          <a:xfrm>
            <a:off x="443659" y="365759"/>
            <a:ext cx="417248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What you will find here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657B151-C3D8-2A19-5923-DA963BCE77C1}"/>
              </a:ext>
            </a:extLst>
          </p:cNvPr>
          <p:cNvSpPr txBox="1"/>
          <p:nvPr/>
        </p:nvSpPr>
        <p:spPr>
          <a:xfrm>
            <a:off x="1001189" y="1627551"/>
            <a:ext cx="108061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Theory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1CB1170-EBED-FF3D-FF59-0F778C255602}"/>
              </a:ext>
            </a:extLst>
          </p:cNvPr>
          <p:cNvSpPr txBox="1"/>
          <p:nvPr/>
        </p:nvSpPr>
        <p:spPr>
          <a:xfrm>
            <a:off x="1001189" y="2640563"/>
            <a:ext cx="14434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Exercises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31EF35F-BE48-A62B-0003-BF8959C4BDEC}"/>
              </a:ext>
            </a:extLst>
          </p:cNvPr>
          <p:cNvSpPr txBox="1"/>
          <p:nvPr/>
        </p:nvSpPr>
        <p:spPr>
          <a:xfrm>
            <a:off x="1001189" y="3653575"/>
            <a:ext cx="255698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Personal opinions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9561938-7148-FFF2-66F3-F507E37B428F}"/>
              </a:ext>
            </a:extLst>
          </p:cNvPr>
          <p:cNvSpPr txBox="1"/>
          <p:nvPr/>
        </p:nvSpPr>
        <p:spPr>
          <a:xfrm>
            <a:off x="1001189" y="4666587"/>
            <a:ext cx="290496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Experienced advises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085F6EF-CE34-06A1-B35B-81116755AA2C}"/>
              </a:ext>
            </a:extLst>
          </p:cNvPr>
          <p:cNvSpPr txBox="1"/>
          <p:nvPr/>
        </p:nvSpPr>
        <p:spPr>
          <a:xfrm>
            <a:off x="7271657" y="1627551"/>
            <a:ext cx="4087337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/>
              <a:t>Lessons:</a:t>
            </a:r>
          </a:p>
          <a:p>
            <a:endParaRPr lang="en-US"/>
          </a:p>
          <a:p>
            <a:r>
              <a:rPr lang="en-US"/>
              <a:t>from May 17</a:t>
            </a:r>
            <a:r>
              <a:rPr lang="en-US" baseline="30000"/>
              <a:t>th</a:t>
            </a:r>
            <a:r>
              <a:rPr lang="en-US"/>
              <a:t> to June 11</a:t>
            </a:r>
            <a:r>
              <a:rPr lang="en-US" baseline="30000"/>
              <a:t>th  	</a:t>
            </a:r>
            <a:r>
              <a:rPr lang="en-US"/>
              <a:t>=&gt; 3 x week</a:t>
            </a:r>
          </a:p>
          <a:p>
            <a:r>
              <a:rPr lang="en-US"/>
              <a:t>from June 15</a:t>
            </a:r>
            <a:r>
              <a:rPr lang="en-US" baseline="30000"/>
              <a:t>th</a:t>
            </a:r>
            <a:r>
              <a:rPr lang="en-US"/>
              <a:t> to July 23</a:t>
            </a:r>
            <a:r>
              <a:rPr lang="en-US" baseline="30000"/>
              <a:t>rd</a:t>
            </a:r>
            <a:r>
              <a:rPr lang="en-US"/>
              <a:t> 	=&gt; 2 x week</a:t>
            </a:r>
          </a:p>
          <a:p>
            <a:endParaRPr lang="en-US"/>
          </a:p>
          <a:p>
            <a:r>
              <a:rPr lang="en-US"/>
              <a:t>each lesson is 1.5 hours</a:t>
            </a: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6207C69B-4388-C475-E748-4CFC59BD72B1}"/>
              </a:ext>
            </a:extLst>
          </p:cNvPr>
          <p:cNvGrpSpPr/>
          <p:nvPr/>
        </p:nvGrpSpPr>
        <p:grpSpPr>
          <a:xfrm>
            <a:off x="912220" y="2640563"/>
            <a:ext cx="1621410" cy="518474"/>
            <a:chOff x="5929460" y="3751868"/>
            <a:chExt cx="1621410" cy="518474"/>
          </a:xfrm>
        </p:grpSpPr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EB922633-49C8-818F-D27A-A2C2E7CE9AD1}"/>
                </a:ext>
              </a:extLst>
            </p:cNvPr>
            <p:cNvCxnSpPr/>
            <p:nvPr/>
          </p:nvCxnSpPr>
          <p:spPr>
            <a:xfrm>
              <a:off x="5929460" y="3751868"/>
              <a:ext cx="1621410" cy="51847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5C0FD78C-CE2F-9462-E278-F3A64747EE8A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5929460" y="3751868"/>
              <a:ext cx="1621410" cy="518474"/>
            </a:xfrm>
            <a:prstGeom prst="line">
              <a:avLst/>
            </a:prstGeom>
            <a:ln w="25400">
              <a:solidFill>
                <a:srgbClr val="FF0000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E8D1C9-BF75-0E88-0546-E1B6A88A2983}"/>
              </a:ext>
            </a:extLst>
          </p:cNvPr>
          <p:cNvGrpSpPr/>
          <p:nvPr/>
        </p:nvGrpSpPr>
        <p:grpSpPr>
          <a:xfrm>
            <a:off x="3063711" y="2089216"/>
            <a:ext cx="1552437" cy="1564359"/>
            <a:chOff x="3063711" y="2089216"/>
            <a:chExt cx="1552437" cy="1564359"/>
          </a:xfrm>
        </p:grpSpPr>
        <p:cxnSp>
          <p:nvCxnSpPr>
            <p:cNvPr id="16" name="Elbow Connector 15">
              <a:extLst>
                <a:ext uri="{FF2B5EF4-FFF2-40B4-BE49-F238E27FC236}">
                  <a16:creationId xmlns:a16="http://schemas.microsoft.com/office/drawing/2014/main" id="{D4AF13A1-6E12-D7B9-3DF0-0C22200E4981}"/>
                </a:ext>
              </a:extLst>
            </p:cNvPr>
            <p:cNvCxnSpPr/>
            <p:nvPr/>
          </p:nvCxnSpPr>
          <p:spPr>
            <a:xfrm flipV="1">
              <a:off x="3073138" y="2089216"/>
              <a:ext cx="1543010" cy="782179"/>
            </a:xfrm>
            <a:prstGeom prst="bentConnector3">
              <a:avLst/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Elbow Connector 17">
              <a:extLst>
                <a:ext uri="{FF2B5EF4-FFF2-40B4-BE49-F238E27FC236}">
                  <a16:creationId xmlns:a16="http://schemas.microsoft.com/office/drawing/2014/main" id="{92118A4E-F7F0-A975-E982-3E3C2CF9C30F}"/>
                </a:ext>
              </a:extLst>
            </p:cNvPr>
            <p:cNvCxnSpPr/>
            <p:nvPr/>
          </p:nvCxnSpPr>
          <p:spPr>
            <a:xfrm>
              <a:off x="3063711" y="2871395"/>
              <a:ext cx="1552437" cy="782180"/>
            </a:xfrm>
            <a:prstGeom prst="bentConnector3">
              <a:avLst>
                <a:gd name="adj1" fmla="val 50000"/>
              </a:avLst>
            </a:prstGeom>
            <a:ln>
              <a:tailEnd type="triangle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A74A7E0-EE8B-3765-CCD8-4A56F06CAB13}"/>
              </a:ext>
            </a:extLst>
          </p:cNvPr>
          <p:cNvSpPr txBox="1"/>
          <p:nvPr/>
        </p:nvSpPr>
        <p:spPr>
          <a:xfrm>
            <a:off x="4860405" y="1766050"/>
            <a:ext cx="12355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Interactive</a:t>
            </a:r>
          </a:p>
          <a:p>
            <a:pPr algn="ctr"/>
            <a:r>
              <a:rPr lang="en-US"/>
              <a:t>Coding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1BC95E7-20E0-1CFE-CCE0-97AD54FF7702}"/>
              </a:ext>
            </a:extLst>
          </p:cNvPr>
          <p:cNvSpPr txBox="1"/>
          <p:nvPr/>
        </p:nvSpPr>
        <p:spPr>
          <a:xfrm>
            <a:off x="4860405" y="3330409"/>
            <a:ext cx="117077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/>
              <a:t>In-lesson</a:t>
            </a:r>
          </a:p>
          <a:p>
            <a:pPr algn="ctr"/>
            <a:r>
              <a:rPr lang="en-US"/>
              <a:t>questions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7193EB7-5ED3-1989-D89B-8AFB75420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</p:spTree>
    <p:extLst>
      <p:ext uri="{BB962C8B-B14F-4D97-AF65-F5344CB8AC3E}">
        <p14:creationId xmlns:p14="http://schemas.microsoft.com/office/powerpoint/2010/main" val="21288316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4" grpId="0"/>
      <p:bldP spid="6" grpId="0"/>
      <p:bldP spid="7" grpId="0"/>
      <p:bldP spid="3" grpId="0"/>
      <p:bldP spid="21" grpId="0"/>
      <p:bldP spid="22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6CA7708-ADEE-8356-842B-E83FC63DC5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365B021D-B44F-4E2C-4E8F-41B6E8A30710}"/>
              </a:ext>
            </a:extLst>
          </p:cNvPr>
          <p:cNvSpPr txBox="1"/>
          <p:nvPr/>
        </p:nvSpPr>
        <p:spPr>
          <a:xfrm>
            <a:off x="1017301" y="1997839"/>
            <a:ext cx="5575565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dirty="0"/>
              <a:t>Communication</a:t>
            </a:r>
          </a:p>
          <a:p>
            <a:pPr algn="ctr"/>
            <a:r>
              <a:rPr lang="en-US" sz="6000" dirty="0"/>
              <a:t>&amp;</a:t>
            </a:r>
          </a:p>
          <a:p>
            <a:pPr algn="ctr"/>
            <a:r>
              <a:rPr lang="en-US" sz="6000" dirty="0"/>
              <a:t>Rules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2D0EACF-8490-2EE1-335A-3A8BD9FE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5909F-3D0E-5676-EB1C-F0CB3D7BE895}"/>
              </a:ext>
            </a:extLst>
          </p:cNvPr>
          <p:cNvSpPr txBox="1"/>
          <p:nvPr/>
        </p:nvSpPr>
        <p:spPr>
          <a:xfrm>
            <a:off x="7688825" y="1582340"/>
            <a:ext cx="3620928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Don’t be afraid to speak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Presence tracking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Camera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Availability for clarification talks</a:t>
            </a:r>
          </a:p>
        </p:txBody>
      </p:sp>
    </p:spTree>
    <p:extLst>
      <p:ext uri="{BB962C8B-B14F-4D97-AF65-F5344CB8AC3E}">
        <p14:creationId xmlns:p14="http://schemas.microsoft.com/office/powerpoint/2010/main" val="230188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62DF4F-7EF4-2ED7-C6EB-1828185915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F9C590F8-03DF-E668-232A-D5E289F2E0DC}"/>
              </a:ext>
            </a:extLst>
          </p:cNvPr>
          <p:cNvSpPr txBox="1"/>
          <p:nvPr/>
        </p:nvSpPr>
        <p:spPr>
          <a:xfrm>
            <a:off x="5089795" y="2921168"/>
            <a:ext cx="2012410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Exam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3DC2CD3-75D8-780C-6CFE-FB99F33DD4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</p:spTree>
    <p:extLst>
      <p:ext uri="{BB962C8B-B14F-4D97-AF65-F5344CB8AC3E}">
        <p14:creationId xmlns:p14="http://schemas.microsoft.com/office/powerpoint/2010/main" val="17560451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3BD4E1-C815-DED5-469B-614811DE62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4827A711-3845-B8FE-00E8-C904616CE809}"/>
              </a:ext>
            </a:extLst>
          </p:cNvPr>
          <p:cNvSpPr txBox="1"/>
          <p:nvPr/>
        </p:nvSpPr>
        <p:spPr>
          <a:xfrm>
            <a:off x="5676654" y="2921168"/>
            <a:ext cx="838691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AI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093FD0E3-BCFC-E173-0C5E-4D2C2AD7BB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</p:spTree>
    <p:extLst>
      <p:ext uri="{BB962C8B-B14F-4D97-AF65-F5344CB8AC3E}">
        <p14:creationId xmlns:p14="http://schemas.microsoft.com/office/powerpoint/2010/main" val="33330683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D22ACB3-C881-C391-EDD6-7A4D86306D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3A70F85-6880-35FE-95FF-A67E84A6E297}"/>
              </a:ext>
            </a:extLst>
          </p:cNvPr>
          <p:cNvSpPr txBox="1"/>
          <p:nvPr/>
        </p:nvSpPr>
        <p:spPr>
          <a:xfrm>
            <a:off x="443659" y="365759"/>
            <a:ext cx="808541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Which amazing languages you’ll learn here??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9CFE49-910C-573E-5E31-E5E476D3AE28}"/>
              </a:ext>
            </a:extLst>
          </p:cNvPr>
          <p:cNvSpPr txBox="1"/>
          <p:nvPr/>
        </p:nvSpPr>
        <p:spPr>
          <a:xfrm>
            <a:off x="1001189" y="1627551"/>
            <a:ext cx="61254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Java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0F26058-DA85-547C-0403-76516BCE448D}"/>
              </a:ext>
            </a:extLst>
          </p:cNvPr>
          <p:cNvSpPr txBox="1"/>
          <p:nvPr/>
        </p:nvSpPr>
        <p:spPr>
          <a:xfrm>
            <a:off x="1001189" y="2363108"/>
            <a:ext cx="14638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 not all of it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0FAD47-745D-BC4C-6740-072F48A371D6}"/>
              </a:ext>
            </a:extLst>
          </p:cNvPr>
          <p:cNvSpPr txBox="1"/>
          <p:nvPr/>
        </p:nvSpPr>
        <p:spPr>
          <a:xfrm>
            <a:off x="1001189" y="3098665"/>
            <a:ext cx="25766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 but it’s not about Java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EB5645C-65F6-9EC4-FE7F-D1E4155579C6}"/>
              </a:ext>
            </a:extLst>
          </p:cNvPr>
          <p:cNvSpPr txBox="1"/>
          <p:nvPr/>
        </p:nvSpPr>
        <p:spPr>
          <a:xfrm>
            <a:off x="1001189" y="3834222"/>
            <a:ext cx="41411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 it’s about solving problems using Java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F29A2EC-3D4D-E623-30C0-6602996AC4E2}"/>
              </a:ext>
            </a:extLst>
          </p:cNvPr>
          <p:cNvSpPr txBox="1"/>
          <p:nvPr/>
        </p:nvSpPr>
        <p:spPr>
          <a:xfrm rot="1382796">
            <a:off x="7908245" y="1624445"/>
            <a:ext cx="2760692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400" b="1" dirty="0">
                <a:solidFill>
                  <a:srgbClr val="FF0000"/>
                </a:solidFill>
              </a:rPr>
              <a:t>NO FRAMEWORKS</a:t>
            </a:r>
            <a:br>
              <a:rPr lang="en-US" sz="2400" b="1" dirty="0">
                <a:solidFill>
                  <a:srgbClr val="FF0000"/>
                </a:solidFill>
              </a:rPr>
            </a:br>
            <a:endParaRPr lang="en-US" sz="2400" b="1" dirty="0">
              <a:solidFill>
                <a:srgbClr val="FF0000"/>
              </a:solidFill>
            </a:endParaRP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NO LIBRARIES</a:t>
            </a:r>
            <a:br>
              <a:rPr lang="en-US" sz="2400" b="1" dirty="0">
                <a:solidFill>
                  <a:srgbClr val="FF0000"/>
                </a:solidFill>
              </a:rPr>
            </a:br>
            <a:endParaRPr lang="en-US" sz="2400" b="1" dirty="0">
              <a:solidFill>
                <a:srgbClr val="FF0000"/>
              </a:solidFill>
            </a:endParaRPr>
          </a:p>
          <a:p>
            <a:pPr algn="ctr"/>
            <a:r>
              <a:rPr lang="en-US" sz="2400" b="1" dirty="0">
                <a:solidFill>
                  <a:srgbClr val="FF0000"/>
                </a:solidFill>
              </a:rPr>
              <a:t>NO WHATEVER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9460B4-D130-550A-676D-F2CB8DB4F8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FE06EDC-2090-30F6-15E9-CA801744D74D}"/>
              </a:ext>
            </a:extLst>
          </p:cNvPr>
          <p:cNvSpPr txBox="1"/>
          <p:nvPr/>
        </p:nvSpPr>
        <p:spPr>
          <a:xfrm>
            <a:off x="8003459" y="4905097"/>
            <a:ext cx="1764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List, Map, Set …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B66C8DC2-E5CB-0FCC-E228-720FF66A8F97}"/>
              </a:ext>
            </a:extLst>
          </p:cNvPr>
          <p:cNvGrpSpPr/>
          <p:nvPr/>
        </p:nvGrpSpPr>
        <p:grpSpPr>
          <a:xfrm>
            <a:off x="8003459" y="4581832"/>
            <a:ext cx="1838631" cy="923430"/>
            <a:chOff x="8003459" y="4581832"/>
            <a:chExt cx="1838631" cy="923430"/>
          </a:xfrm>
        </p:grpSpPr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A7F5850-5F90-AE28-22F9-D2EFF4C24076}"/>
                </a:ext>
              </a:extLst>
            </p:cNvPr>
            <p:cNvCxnSpPr/>
            <p:nvPr/>
          </p:nvCxnSpPr>
          <p:spPr>
            <a:xfrm>
              <a:off x="8003459" y="4660490"/>
              <a:ext cx="1764907" cy="844772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>
              <a:extLst>
                <a:ext uri="{FF2B5EF4-FFF2-40B4-BE49-F238E27FC236}">
                  <a16:creationId xmlns:a16="http://schemas.microsoft.com/office/drawing/2014/main" id="{707577C5-BDBB-E8C0-97DD-7F5823F959A1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8082116" y="4581832"/>
              <a:ext cx="1759974" cy="923430"/>
            </a:xfrm>
            <a:prstGeom prst="line">
              <a:avLst/>
            </a:prstGeom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6" name="TextBox 15">
            <a:extLst>
              <a:ext uri="{FF2B5EF4-FFF2-40B4-BE49-F238E27FC236}">
                <a16:creationId xmlns:a16="http://schemas.microsoft.com/office/drawing/2014/main" id="{17DB0DFD-6C17-7AC8-114A-CAC11F569208}"/>
              </a:ext>
            </a:extLst>
          </p:cNvPr>
          <p:cNvSpPr txBox="1"/>
          <p:nvPr/>
        </p:nvSpPr>
        <p:spPr>
          <a:xfrm>
            <a:off x="1001189" y="4569779"/>
            <a:ext cx="313791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... ok, but why?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strong typing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well engineered interfaces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garbage-collected</a:t>
            </a:r>
          </a:p>
        </p:txBody>
      </p:sp>
    </p:spTree>
    <p:extLst>
      <p:ext uri="{BB962C8B-B14F-4D97-AF65-F5344CB8AC3E}">
        <p14:creationId xmlns:p14="http://schemas.microsoft.com/office/powerpoint/2010/main" val="1048636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2" grpId="0"/>
      <p:bldP spid="4" grpId="0"/>
      <p:bldP spid="6" grpId="0"/>
      <p:bldP spid="7" grpId="0"/>
      <p:bldP spid="9" grpId="0"/>
      <p:bldP spid="16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062817-EE4B-D20E-6183-B0C7988F3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98B5486-2811-40EB-FA04-AF4063716444}"/>
              </a:ext>
            </a:extLst>
          </p:cNvPr>
          <p:cNvSpPr txBox="1"/>
          <p:nvPr/>
        </p:nvSpPr>
        <p:spPr>
          <a:xfrm>
            <a:off x="443659" y="365759"/>
            <a:ext cx="368299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Learning references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9804404-10FD-77E4-8B8E-CED2B2C710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42E4B31-DE60-6F7B-C637-A6121A8BA32B}"/>
              </a:ext>
            </a:extLst>
          </p:cNvPr>
          <p:cNvSpPr txBox="1"/>
          <p:nvPr/>
        </p:nvSpPr>
        <p:spPr>
          <a:xfrm>
            <a:off x="443659" y="1445342"/>
            <a:ext cx="93206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Everything you see here is available at: </a:t>
            </a:r>
            <a:r>
              <a:rPr lang="en-US" dirty="0">
                <a:hlinkClick r:id="rId2"/>
              </a:rPr>
              <a:t>https://github.com/ComplexPlaneDev/ProgrammingII</a:t>
            </a:r>
            <a:endParaRPr lang="en-US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A7F906-EF19-22CA-23D0-DAF29B8E824A}"/>
              </a:ext>
            </a:extLst>
          </p:cNvPr>
          <p:cNvSpPr txBox="1"/>
          <p:nvPr/>
        </p:nvSpPr>
        <p:spPr>
          <a:xfrm>
            <a:off x="443659" y="2309482"/>
            <a:ext cx="10077631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Some Java references available in Cay S. Horstmann – Core Java – Volume I: Fundamentals – 14</a:t>
            </a:r>
            <a:r>
              <a:rPr lang="en-US" baseline="30000" dirty="0"/>
              <a:t>th</a:t>
            </a:r>
            <a:r>
              <a:rPr lang="en-US" dirty="0"/>
              <a:t> ed.</a:t>
            </a:r>
          </a:p>
          <a:p>
            <a:endParaRPr lang="en-US" dirty="0"/>
          </a:p>
          <a:p>
            <a:r>
              <a:rPr lang="en-US" dirty="0"/>
              <a:t>Some online links: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3"/>
              </a:rPr>
              <a:t>https://greenteapress.com/thinkjava6/html/index.html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hlinkClick r:id="rId4"/>
              </a:rPr>
              <a:t>https://java-programming.mooc.fi/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12534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A73640-F76E-3FAC-D4C9-4344D333F8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461FFB5-D5C7-523F-583D-734897AABB23}"/>
              </a:ext>
            </a:extLst>
          </p:cNvPr>
          <p:cNvSpPr txBox="1"/>
          <p:nvPr/>
        </p:nvSpPr>
        <p:spPr>
          <a:xfrm>
            <a:off x="443659" y="365759"/>
            <a:ext cx="1437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Topics!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3689B70-E71A-0073-BFC6-A3026D680567}"/>
              </a:ext>
            </a:extLst>
          </p:cNvPr>
          <p:cNvSpPr txBox="1"/>
          <p:nvPr/>
        </p:nvSpPr>
        <p:spPr>
          <a:xfrm>
            <a:off x="1001189" y="1627551"/>
            <a:ext cx="27347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Today: introduction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70E7111-F67A-84B9-AD09-1BF1806B4634}"/>
              </a:ext>
            </a:extLst>
          </p:cNvPr>
          <p:cNvSpPr txBox="1"/>
          <p:nvPr/>
        </p:nvSpPr>
        <p:spPr>
          <a:xfrm>
            <a:off x="1001189" y="2640563"/>
            <a:ext cx="2587568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11.5 =&gt; 18.5: OOP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Classes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Inheritance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Interfaces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Exceptions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D20E1B6-62CF-35CC-A7BB-387554A62CC7}"/>
              </a:ext>
            </a:extLst>
          </p:cNvPr>
          <p:cNvSpPr txBox="1"/>
          <p:nvPr/>
        </p:nvSpPr>
        <p:spPr>
          <a:xfrm>
            <a:off x="1001189" y="4392239"/>
            <a:ext cx="232788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20.5: Debugging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E0B9D84-A4F5-C696-1587-9133A2C7BE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</p:spTree>
    <p:extLst>
      <p:ext uri="{BB962C8B-B14F-4D97-AF65-F5344CB8AC3E}">
        <p14:creationId xmlns:p14="http://schemas.microsoft.com/office/powerpoint/2010/main" val="3216478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4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A5468A-8AA9-6B03-B07B-7749645865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D3D33BF-43E9-3D87-1DBD-FCC5CC97F85F}"/>
              </a:ext>
            </a:extLst>
          </p:cNvPr>
          <p:cNvSpPr txBox="1"/>
          <p:nvPr/>
        </p:nvSpPr>
        <p:spPr>
          <a:xfrm>
            <a:off x="443659" y="365759"/>
            <a:ext cx="1437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Topics!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6515D31-487B-2F6C-65ED-B74D9FB50E5E}"/>
              </a:ext>
            </a:extLst>
          </p:cNvPr>
          <p:cNvSpPr txBox="1"/>
          <p:nvPr/>
        </p:nvSpPr>
        <p:spPr>
          <a:xfrm>
            <a:off x="1001189" y="1627551"/>
            <a:ext cx="174592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21.5: Arrays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B9E6F71-5770-5741-DC8B-95AF1A468431}"/>
              </a:ext>
            </a:extLst>
          </p:cNvPr>
          <p:cNvSpPr txBox="1"/>
          <p:nvPr/>
        </p:nvSpPr>
        <p:spPr>
          <a:xfrm>
            <a:off x="1001188" y="2766233"/>
            <a:ext cx="33010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27.5 =&gt; 28.5: Recursion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Backtracking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22AB27-8198-11F5-BC68-E16EA7C691C1}"/>
              </a:ext>
            </a:extLst>
          </p:cNvPr>
          <p:cNvSpPr txBox="1"/>
          <p:nvPr/>
        </p:nvSpPr>
        <p:spPr>
          <a:xfrm>
            <a:off x="1001188" y="4089581"/>
            <a:ext cx="223894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1.6: Linked lists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E70AA5D-BC45-F995-EB10-88F135929B5F}"/>
              </a:ext>
            </a:extLst>
          </p:cNvPr>
          <p:cNvSpPr txBox="1"/>
          <p:nvPr/>
        </p:nvSpPr>
        <p:spPr>
          <a:xfrm>
            <a:off x="1001188" y="5228263"/>
            <a:ext cx="571021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2.6 =&gt; 3.6: Searching, sorting and merging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D232C0C-95BB-1A29-0883-D2F62CDE92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</p:spTree>
    <p:extLst>
      <p:ext uri="{BB962C8B-B14F-4D97-AF65-F5344CB8AC3E}">
        <p14:creationId xmlns:p14="http://schemas.microsoft.com/office/powerpoint/2010/main" val="2916718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2" grpId="0"/>
      <p:bldP spid="4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C88C1-B40E-589D-906A-4305E418B8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6FAC18BB-BBE6-F549-8871-0B395CD1550E}"/>
              </a:ext>
            </a:extLst>
          </p:cNvPr>
          <p:cNvSpPr txBox="1"/>
          <p:nvPr/>
        </p:nvSpPr>
        <p:spPr>
          <a:xfrm>
            <a:off x="443659" y="365759"/>
            <a:ext cx="1437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Topics!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314F6A3-4077-900B-F2D4-80608BAAA8BA}"/>
              </a:ext>
            </a:extLst>
          </p:cNvPr>
          <p:cNvSpPr txBox="1"/>
          <p:nvPr/>
        </p:nvSpPr>
        <p:spPr>
          <a:xfrm>
            <a:off x="1001189" y="1627551"/>
            <a:ext cx="286527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8.6: Stack &amp; Queues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D8CA05F-3B39-E7E4-2C25-6B60E324F676}"/>
              </a:ext>
            </a:extLst>
          </p:cNvPr>
          <p:cNvSpPr txBox="1"/>
          <p:nvPr/>
        </p:nvSpPr>
        <p:spPr>
          <a:xfrm>
            <a:off x="1001189" y="2640563"/>
            <a:ext cx="2662460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10.6 =&gt; 15.6: Trees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AVL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Trie and suffix trees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6489EA1-9F9B-C5F6-6FE5-802F16BB5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63E1FE-E8FD-0B8A-0BCD-983BD55EC5A8}"/>
              </a:ext>
            </a:extLst>
          </p:cNvPr>
          <p:cNvSpPr txBox="1"/>
          <p:nvPr/>
        </p:nvSpPr>
        <p:spPr>
          <a:xfrm>
            <a:off x="1001189" y="4022907"/>
            <a:ext cx="29246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18.6 =&gt; 25.6: Graphs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D818570-735A-54F1-7F83-A032AA81F9D2}"/>
              </a:ext>
            </a:extLst>
          </p:cNvPr>
          <p:cNvSpPr txBox="1"/>
          <p:nvPr/>
        </p:nvSpPr>
        <p:spPr>
          <a:xfrm>
            <a:off x="1001189" y="5035919"/>
            <a:ext cx="463909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29.6 =&gt; 2.7: Finite State Machines</a:t>
            </a:r>
          </a:p>
        </p:txBody>
      </p:sp>
    </p:spTree>
    <p:extLst>
      <p:ext uri="{BB962C8B-B14F-4D97-AF65-F5344CB8AC3E}">
        <p14:creationId xmlns:p14="http://schemas.microsoft.com/office/powerpoint/2010/main" val="35672441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4" grpId="0"/>
      <p:bldP spid="6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ECD964-53F8-9570-D816-6D297EA3E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1206BA0D-3F97-6232-0707-503AF3B99F7C}"/>
              </a:ext>
            </a:extLst>
          </p:cNvPr>
          <p:cNvSpPr txBox="1"/>
          <p:nvPr/>
        </p:nvSpPr>
        <p:spPr>
          <a:xfrm>
            <a:off x="443659" y="365759"/>
            <a:ext cx="143738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Topics!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BC3E0EA-27CB-639C-04B1-749C7883EDD6}"/>
              </a:ext>
            </a:extLst>
          </p:cNvPr>
          <p:cNvSpPr txBox="1"/>
          <p:nvPr/>
        </p:nvSpPr>
        <p:spPr>
          <a:xfrm>
            <a:off x="1001189" y="1627551"/>
            <a:ext cx="2106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6.7: Files &amp; I/O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48B5997-CB00-CA93-AE09-28874936E4BF}"/>
              </a:ext>
            </a:extLst>
          </p:cNvPr>
          <p:cNvSpPr txBox="1"/>
          <p:nvPr/>
        </p:nvSpPr>
        <p:spPr>
          <a:xfrm>
            <a:off x="1001189" y="2640563"/>
            <a:ext cx="239103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9.7: Serialization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2D1F4D-AD8A-4449-B3E1-BE6141FCC7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07BFD62-26BC-4B3C-DC29-A9B7A9D54572}"/>
              </a:ext>
            </a:extLst>
          </p:cNvPr>
          <p:cNvSpPr txBox="1"/>
          <p:nvPr/>
        </p:nvSpPr>
        <p:spPr>
          <a:xfrm>
            <a:off x="1001189" y="3653575"/>
            <a:ext cx="311014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13.7 =&gt; 16.7: Numeric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376278E-A145-4DA7-65FB-054C210EAA03}"/>
              </a:ext>
            </a:extLst>
          </p:cNvPr>
          <p:cNvSpPr txBox="1"/>
          <p:nvPr/>
        </p:nvSpPr>
        <p:spPr>
          <a:xfrm>
            <a:off x="1001189" y="4666587"/>
            <a:ext cx="211147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20.7 =&gt; 23.7: ?</a:t>
            </a:r>
          </a:p>
        </p:txBody>
      </p:sp>
    </p:spTree>
    <p:extLst>
      <p:ext uri="{BB962C8B-B14F-4D97-AF65-F5344CB8AC3E}">
        <p14:creationId xmlns:p14="http://schemas.microsoft.com/office/powerpoint/2010/main" val="36564612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  <p:bldP spid="4" grpId="0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7B68B38-6F00-445C-0F9B-9DA858FB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D767AD2-1EF4-D3BC-3037-09611FAB192D}"/>
              </a:ext>
            </a:extLst>
          </p:cNvPr>
          <p:cNvSpPr txBox="1"/>
          <p:nvPr/>
        </p:nvSpPr>
        <p:spPr>
          <a:xfrm>
            <a:off x="443659" y="365759"/>
            <a:ext cx="110716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Tools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168C304-552C-CE77-A0F9-DEEB6A261F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CB3871D-C6E3-A709-6505-BEF4719DD7FA}"/>
              </a:ext>
            </a:extLst>
          </p:cNvPr>
          <p:cNvSpPr txBox="1"/>
          <p:nvPr/>
        </p:nvSpPr>
        <p:spPr>
          <a:xfrm>
            <a:off x="550606" y="1386348"/>
            <a:ext cx="7164077" cy="40934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IDEs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 whatever you like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I’ll use </a:t>
            </a:r>
            <a:r>
              <a:rPr lang="en-US" sz="2000" dirty="0" err="1"/>
              <a:t>VSCode</a:t>
            </a:r>
            <a:r>
              <a:rPr lang="en-US" sz="2000" dirty="0"/>
              <a:t> mostly, maybe Eclipse for special needs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Java JDK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Use whatever you like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 use OpenJDK, version 21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You don’t need the latest and greatest, any version is fine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Maven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Not strictly needed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Very few examples will have JavaFX, available via Maven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40117084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30DDD7-CDDF-2AF4-1AE1-F0CEECB4FB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3E98B81-8AE4-9336-9B3F-0A734947F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CD46245-84C1-2E92-AACF-3A8CC84B16C1}"/>
              </a:ext>
            </a:extLst>
          </p:cNvPr>
          <p:cNvSpPr txBox="1"/>
          <p:nvPr/>
        </p:nvSpPr>
        <p:spPr>
          <a:xfrm>
            <a:off x="3526226" y="3105834"/>
            <a:ext cx="51395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dirty="0"/>
              <a:t>Knowledge requirements</a:t>
            </a:r>
          </a:p>
        </p:txBody>
      </p:sp>
    </p:spTree>
    <p:extLst>
      <p:ext uri="{BB962C8B-B14F-4D97-AF65-F5344CB8AC3E}">
        <p14:creationId xmlns:p14="http://schemas.microsoft.com/office/powerpoint/2010/main" val="62140597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5D2B-8067-B2A4-10D8-AB7A1AFCA3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73AE627-5FE4-F40C-4EEF-729CA5F9B92A}"/>
              </a:ext>
            </a:extLst>
          </p:cNvPr>
          <p:cNvSpPr txBox="1"/>
          <p:nvPr/>
        </p:nvSpPr>
        <p:spPr>
          <a:xfrm>
            <a:off x="443659" y="365759"/>
            <a:ext cx="32401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Types &amp; variables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443889B9-20C0-CFDA-A6EE-8C5B2B00C6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CD7C241-2E8E-5C2B-85B4-737ABCC19BE6}"/>
              </a:ext>
            </a:extLst>
          </p:cNvPr>
          <p:cNvSpPr txBox="1"/>
          <p:nvPr/>
        </p:nvSpPr>
        <p:spPr>
          <a:xfrm>
            <a:off x="443659" y="1167706"/>
            <a:ext cx="11724172" cy="532453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just need to know PODs (= Plain Old Data)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What an integer is (you don’t need to know different integer length, we have a numeric lesson for it)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What a floating-point type is (use whatever, again, we have a numeric lesson for it)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What a char is (no need of Unicode encoding, you can handle strings as ASCII)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What a </a:t>
            </a:r>
            <a:r>
              <a:rPr lang="en-US" sz="2000" dirty="0" err="1"/>
              <a:t>boolean</a:t>
            </a:r>
            <a:r>
              <a:rPr lang="en-US" sz="2000" dirty="0"/>
              <a:t> is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r>
              <a:rPr lang="en-US" sz="2000" dirty="0"/>
              <a:t>Confidence with all </a:t>
            </a:r>
            <a:r>
              <a:rPr lang="en-US" sz="2000" dirty="0" err="1"/>
              <a:t>boolean</a:t>
            </a:r>
            <a:r>
              <a:rPr lang="en-US" sz="2000" dirty="0"/>
              <a:t> operations</a:t>
            </a:r>
          </a:p>
          <a:p>
            <a:pPr marL="1200150" lvl="2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It could happen that you need to box/unbox those types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Enum types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Strings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Feel free to build and compose them in any way you like, this is not a course about how to create</a:t>
            </a:r>
            <a:br>
              <a:rPr lang="en-US" sz="2000" dirty="0"/>
            </a:br>
            <a:r>
              <a:rPr lang="en-US" sz="2000" dirty="0"/>
              <a:t>or handle strings.</a:t>
            </a:r>
          </a:p>
        </p:txBody>
      </p:sp>
    </p:spTree>
    <p:extLst>
      <p:ext uri="{BB962C8B-B14F-4D97-AF65-F5344CB8AC3E}">
        <p14:creationId xmlns:p14="http://schemas.microsoft.com/office/powerpoint/2010/main" val="18373051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2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7436A2-F216-FB41-E1EC-03A468B5A2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6C2CDF6-7E42-5DA5-CAC1-CEA4FBBB1998}"/>
              </a:ext>
            </a:extLst>
          </p:cNvPr>
          <p:cNvSpPr txBox="1"/>
          <p:nvPr/>
        </p:nvSpPr>
        <p:spPr>
          <a:xfrm>
            <a:off x="443659" y="365759"/>
            <a:ext cx="1872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Quiz time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652064BF-E61F-568D-E417-010E892FA9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871FFF3-DDDE-59A6-DEC8-99158BE48FB8}"/>
              </a:ext>
            </a:extLst>
          </p:cNvPr>
          <p:cNvSpPr txBox="1"/>
          <p:nvPr/>
        </p:nvSpPr>
        <p:spPr>
          <a:xfrm>
            <a:off x="443659" y="1319349"/>
            <a:ext cx="403976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is scope of a variable?</a:t>
            </a:r>
          </a:p>
          <a:p>
            <a:r>
              <a:rPr lang="en-US" sz="2400"/>
              <a:t>A. Memory size  </a:t>
            </a:r>
          </a:p>
          <a:p>
            <a:r>
              <a:rPr lang="en-US" sz="2400"/>
              <a:t>B. Where it can be accessed  </a:t>
            </a:r>
          </a:p>
          <a:p>
            <a:r>
              <a:rPr lang="en-US" sz="2400"/>
              <a:t>C. Its type</a:t>
            </a: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5F95216-AE68-2ABB-6C59-FCA16E154C25}"/>
              </a:ext>
            </a:extLst>
          </p:cNvPr>
          <p:cNvCxnSpPr/>
          <p:nvPr/>
        </p:nvCxnSpPr>
        <p:spPr>
          <a:xfrm flipH="1">
            <a:off x="4663440" y="2312126"/>
            <a:ext cx="13324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87CAA6BE-A4AE-3D23-CF92-31AFD4766C70}"/>
              </a:ext>
            </a:extLst>
          </p:cNvPr>
          <p:cNvSpPr txBox="1"/>
          <p:nvPr/>
        </p:nvSpPr>
        <p:spPr>
          <a:xfrm>
            <a:off x="443659" y="3840595"/>
            <a:ext cx="572233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happens if compare strings with ==?</a:t>
            </a:r>
          </a:p>
          <a:p>
            <a:r>
              <a:rPr lang="en-US" sz="2400"/>
              <a:t>A. Compares references  </a:t>
            </a:r>
          </a:p>
          <a:p>
            <a:r>
              <a:rPr lang="en-US" sz="2400"/>
              <a:t>B. Compares strings values  </a:t>
            </a:r>
          </a:p>
          <a:p>
            <a:r>
              <a:rPr lang="en-US" sz="2400"/>
              <a:t>C. Compile error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12D385C5-228D-65F7-43DF-15AE0F103739}"/>
              </a:ext>
            </a:extLst>
          </p:cNvPr>
          <p:cNvCxnSpPr/>
          <p:nvPr/>
        </p:nvCxnSpPr>
        <p:spPr>
          <a:xfrm flipH="1">
            <a:off x="4663439" y="4463143"/>
            <a:ext cx="13324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755326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675CB6-ED62-5880-BA00-F47D63F77C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72C771B-3488-9C7F-AA46-13751FB4324A}"/>
              </a:ext>
            </a:extLst>
          </p:cNvPr>
          <p:cNvSpPr txBox="1"/>
          <p:nvPr/>
        </p:nvSpPr>
        <p:spPr>
          <a:xfrm>
            <a:off x="443659" y="365759"/>
            <a:ext cx="3261021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Basic I/O support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F88A9B6-BB1F-3C39-5DD4-B9CF079237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7FD6F14-7E32-72B4-75DE-6ABC69ED8863}"/>
              </a:ext>
            </a:extLst>
          </p:cNvPr>
          <p:cNvSpPr txBox="1"/>
          <p:nvPr/>
        </p:nvSpPr>
        <p:spPr>
          <a:xfrm>
            <a:off x="550606" y="1386348"/>
            <a:ext cx="9390328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need to know how to read an input and write an output to console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GUI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web interfaces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 have a dedicated lesson for I/O and Files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special I/O formatting required, some exercises will require proper formatting,</a:t>
            </a:r>
            <a:br>
              <a:rPr lang="en-US" sz="2000" dirty="0"/>
            </a:br>
            <a:r>
              <a:rPr lang="en-US" sz="2000" dirty="0"/>
              <a:t>we will do that together, no need to know</a:t>
            </a:r>
          </a:p>
        </p:txBody>
      </p:sp>
    </p:spTree>
    <p:extLst>
      <p:ext uri="{BB962C8B-B14F-4D97-AF65-F5344CB8AC3E}">
        <p14:creationId xmlns:p14="http://schemas.microsoft.com/office/powerpoint/2010/main" val="30248447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758523-4FB8-63B9-EB86-A9ACE4CA54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77E2487-222A-025A-C6CF-6D975C21A0A3}"/>
              </a:ext>
            </a:extLst>
          </p:cNvPr>
          <p:cNvSpPr txBox="1"/>
          <p:nvPr/>
        </p:nvSpPr>
        <p:spPr>
          <a:xfrm>
            <a:off x="443659" y="365759"/>
            <a:ext cx="237430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Flow control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18293D3B-0710-228D-0A54-C984576C8D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99EE27A-5ABD-0CB3-49FA-223F6F9C33B4}"/>
              </a:ext>
            </a:extLst>
          </p:cNvPr>
          <p:cNvSpPr txBox="1"/>
          <p:nvPr/>
        </p:nvSpPr>
        <p:spPr>
          <a:xfrm>
            <a:off x="443659" y="1582340"/>
            <a:ext cx="8724504" cy="44012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If / else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if you don’t recall the switch, not a big deal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short-circuit </a:t>
            </a:r>
            <a:r>
              <a:rPr lang="en-US" sz="2000" dirty="0" err="1"/>
              <a:t>boolean</a:t>
            </a:r>
            <a:r>
              <a:rPr lang="en-US" sz="2000" dirty="0"/>
              <a:t> evaluation is MANDATORY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Loops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Knowing them all (while, do…while, for) will make your life here easier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For my concern, you need to be able to write one easy, no matter which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If you do a mess with the initialization, the progress or the control step,</a:t>
            </a:r>
            <a:br>
              <a:rPr lang="en-US" sz="2000" dirty="0"/>
            </a:br>
            <a:r>
              <a:rPr lang="en-US" sz="2000" dirty="0"/>
              <a:t>you will fail most of the time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Early break / continue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No need to know try / catch, we have a session for it</a:t>
            </a:r>
          </a:p>
        </p:txBody>
      </p:sp>
    </p:spTree>
    <p:extLst>
      <p:ext uri="{BB962C8B-B14F-4D97-AF65-F5344CB8AC3E}">
        <p14:creationId xmlns:p14="http://schemas.microsoft.com/office/powerpoint/2010/main" val="23790758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 bldLvl="2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AD722D-1CAD-C104-1766-F1FF731174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4510726-402C-8BD9-D737-61D914783983}"/>
              </a:ext>
            </a:extLst>
          </p:cNvPr>
          <p:cNvSpPr txBox="1"/>
          <p:nvPr/>
        </p:nvSpPr>
        <p:spPr>
          <a:xfrm>
            <a:off x="443659" y="365759"/>
            <a:ext cx="1872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Quiz time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F7782FF7-166D-C371-E6B9-200AE621E4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0CD8662-D2DB-C2B7-5566-B081EF7C9411}"/>
              </a:ext>
            </a:extLst>
          </p:cNvPr>
          <p:cNvSpPr txBox="1"/>
          <p:nvPr/>
        </p:nvSpPr>
        <p:spPr>
          <a:xfrm>
            <a:off x="443659" y="1319349"/>
            <a:ext cx="7649979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is short-circuit evaluation?</a:t>
            </a:r>
          </a:p>
          <a:p>
            <a:r>
              <a:rPr lang="en-US" sz="2400"/>
              <a:t>A. Full evaluation  of a boolean expression</a:t>
            </a:r>
          </a:p>
          <a:p>
            <a:r>
              <a:rPr lang="en-US" sz="2400"/>
              <a:t>B. Optimization of boolean expression at compile time</a:t>
            </a:r>
          </a:p>
          <a:p>
            <a:r>
              <a:rPr lang="en-US" sz="2400"/>
              <a:t>C. Early stop of a boolean evaluation when result known 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B8B3A64-4276-EA56-2DD1-EB0AB2D93CE5}"/>
              </a:ext>
            </a:extLst>
          </p:cNvPr>
          <p:cNvSpPr txBox="1"/>
          <p:nvPr/>
        </p:nvSpPr>
        <p:spPr>
          <a:xfrm>
            <a:off x="443659" y="3840595"/>
            <a:ext cx="7753276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is the total iterations of nested independent loops?</a:t>
            </a:r>
          </a:p>
          <a:p>
            <a:r>
              <a:rPr lang="en-US" sz="2400"/>
              <a:t>A. Sum of loops</a:t>
            </a:r>
          </a:p>
          <a:p>
            <a:r>
              <a:rPr lang="en-US" sz="2400"/>
              <a:t>B. Product of loops</a:t>
            </a:r>
          </a:p>
          <a:p>
            <a:r>
              <a:rPr lang="en-US" sz="2400"/>
              <a:t>C. Defined by the outer loop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958451A7-8552-A713-157E-2B5E90F7C646}"/>
              </a:ext>
            </a:extLst>
          </p:cNvPr>
          <p:cNvCxnSpPr/>
          <p:nvPr/>
        </p:nvCxnSpPr>
        <p:spPr>
          <a:xfrm flipH="1">
            <a:off x="3372394" y="4802778"/>
            <a:ext cx="13324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587523C0-A8D7-8EC9-FB7A-97B88B2C4698}"/>
              </a:ext>
            </a:extLst>
          </p:cNvPr>
          <p:cNvCxnSpPr/>
          <p:nvPr/>
        </p:nvCxnSpPr>
        <p:spPr>
          <a:xfrm flipH="1">
            <a:off x="8093638" y="2629988"/>
            <a:ext cx="13324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46109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36A1F8-D4E2-4B83-3C8A-4768162968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9DF481-C0B9-0286-70AC-A897BCF74FFB}"/>
              </a:ext>
            </a:extLst>
          </p:cNvPr>
          <p:cNvSpPr txBox="1"/>
          <p:nvPr/>
        </p:nvSpPr>
        <p:spPr>
          <a:xfrm>
            <a:off x="443659" y="365759"/>
            <a:ext cx="194918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Functions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7B8E65B1-0C74-B9B7-A51A-CD530F3B9D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25F8A45-0AA4-4EE4-ABD6-8CCE687316FF}"/>
              </a:ext>
            </a:extLst>
          </p:cNvPr>
          <p:cNvSpPr txBox="1"/>
          <p:nvPr/>
        </p:nvSpPr>
        <p:spPr>
          <a:xfrm>
            <a:off x="443659" y="1582340"/>
            <a:ext cx="10202280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need to know what a function signature is and all its components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You must have no doubt about what a type of a parameter is and what a parameter 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You need to have a clear idea of what a pass-by-value and a pass-by-reference is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How does Java handle this?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742950" lvl="1" indent="-285750">
              <a:buFont typeface="Arial" panose="020B0604020202020204" pitchFamily="34" charset="0"/>
              <a:buChar char="•"/>
            </a:pPr>
            <a:endParaRPr lang="en-US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dirty="0"/>
              <a:t>We’ll dig a bit into the call stack concept during the debugging session</a:t>
            </a:r>
          </a:p>
        </p:txBody>
      </p:sp>
    </p:spTree>
    <p:extLst>
      <p:ext uri="{BB962C8B-B14F-4D97-AF65-F5344CB8AC3E}">
        <p14:creationId xmlns:p14="http://schemas.microsoft.com/office/powerpoint/2010/main" val="3061116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4F9F4B-306C-02DF-0138-EF0F1E1474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4543B2E2-BE24-43BB-9281-773B9F45FAD9}"/>
              </a:ext>
            </a:extLst>
          </p:cNvPr>
          <p:cNvSpPr txBox="1"/>
          <p:nvPr/>
        </p:nvSpPr>
        <p:spPr>
          <a:xfrm>
            <a:off x="443659" y="365759"/>
            <a:ext cx="187262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dirty="0"/>
              <a:t>Quiz time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1C1D162-40B0-8C4B-E02E-08C3ADFAC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Programming II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63FE977-4CD9-E084-6809-6EEF581A543C}"/>
              </a:ext>
            </a:extLst>
          </p:cNvPr>
          <p:cNvSpPr txBox="1"/>
          <p:nvPr/>
        </p:nvSpPr>
        <p:spPr>
          <a:xfrm>
            <a:off x="443659" y="1319349"/>
            <a:ext cx="5498300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does a function signature include?</a:t>
            </a:r>
          </a:p>
          <a:p>
            <a:r>
              <a:rPr lang="en-US" sz="2400"/>
              <a:t>A. Name and parameter types</a:t>
            </a:r>
          </a:p>
          <a:p>
            <a:r>
              <a:rPr lang="en-US" sz="2400"/>
              <a:t>B. Only the name</a:t>
            </a:r>
          </a:p>
          <a:p>
            <a:r>
              <a:rPr lang="en-US" sz="2400"/>
              <a:t>C. Name and return value only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4EB688-3D99-B3DB-2E90-8C529A7084F1}"/>
              </a:ext>
            </a:extLst>
          </p:cNvPr>
          <p:cNvSpPr txBox="1"/>
          <p:nvPr/>
        </p:nvSpPr>
        <p:spPr>
          <a:xfrm>
            <a:off x="443659" y="3840595"/>
            <a:ext cx="6453754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/>
              <a:t>What is NOT part of a method signature in Java?</a:t>
            </a:r>
          </a:p>
          <a:p>
            <a:r>
              <a:rPr lang="en-US" sz="2400"/>
              <a:t>A. Method name</a:t>
            </a:r>
          </a:p>
          <a:p>
            <a:r>
              <a:rPr lang="en-US" sz="2400"/>
              <a:t>B. Parameter types</a:t>
            </a:r>
          </a:p>
          <a:p>
            <a:r>
              <a:rPr lang="en-US" sz="2400"/>
              <a:t>C. Return type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82701DFA-5E13-42C1-2F2D-4ACE73910322}"/>
              </a:ext>
            </a:extLst>
          </p:cNvPr>
          <p:cNvCxnSpPr/>
          <p:nvPr/>
        </p:nvCxnSpPr>
        <p:spPr>
          <a:xfrm flipH="1">
            <a:off x="2978331" y="5207727"/>
            <a:ext cx="13324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Straight Arrow Connector 3">
            <a:extLst>
              <a:ext uri="{FF2B5EF4-FFF2-40B4-BE49-F238E27FC236}">
                <a16:creationId xmlns:a16="http://schemas.microsoft.com/office/drawing/2014/main" id="{605F37AB-A70B-39C1-19B3-C2F9CAC4A15F}"/>
              </a:ext>
            </a:extLst>
          </p:cNvPr>
          <p:cNvCxnSpPr/>
          <p:nvPr/>
        </p:nvCxnSpPr>
        <p:spPr>
          <a:xfrm flipH="1">
            <a:off x="4763589" y="1898468"/>
            <a:ext cx="1332411" cy="0"/>
          </a:xfrm>
          <a:prstGeom prst="straightConnector1">
            <a:avLst/>
          </a:prstGeom>
          <a:ln w="38100">
            <a:solidFill>
              <a:srgbClr val="FF00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28717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8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51e9b6e7-e4bc-422b-b136-be52bca82e7c}" enabled="1" method="Privileged" siteId="{42f7676c-f455-423c-82f6-dc2d99791af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391</TotalTime>
  <Words>888</Words>
  <Application>Microsoft Macintosh PowerPoint</Application>
  <PresentationFormat>Widescreen</PresentationFormat>
  <Paragraphs>202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Di Monaco, Antonio</dc:creator>
  <cp:lastModifiedBy>Di Monaco, Antonio</cp:lastModifiedBy>
  <cp:revision>22</cp:revision>
  <dcterms:created xsi:type="dcterms:W3CDTF">2025-02-17T20:26:07Z</dcterms:created>
  <dcterms:modified xsi:type="dcterms:W3CDTF">2026-05-03T10:03:21Z</dcterms:modified>
</cp:coreProperties>
</file>