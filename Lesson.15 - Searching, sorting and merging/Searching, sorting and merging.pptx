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3" r:id="rId4"/>
    <p:sldId id="264" r:id="rId5"/>
    <p:sldId id="265" r:id="rId6"/>
    <p:sldId id="266" r:id="rId7"/>
    <p:sldId id="268" r:id="rId8"/>
    <p:sldId id="267" r:id="rId9"/>
    <p:sldId id="269" r:id="rId10"/>
    <p:sldId id="270" r:id="rId11"/>
    <p:sldId id="271" r:id="rId12"/>
    <p:sldId id="272" r:id="rId13"/>
    <p:sldId id="273" r:id="rId14"/>
    <p:sldId id="274"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80"/>
    <p:restoredTop sz="94568"/>
  </p:normalViewPr>
  <p:slideViewPr>
    <p:cSldViewPr snapToGrid="0">
      <p:cViewPr varScale="1">
        <p:scale>
          <a:sx n="118" d="100"/>
          <a:sy n="118" d="100"/>
        </p:scale>
        <p:origin x="1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E07293-F053-7B40-A228-5F1A48558100}" type="datetimeFigureOut">
              <a:rPr lang="en-US" smtClean="0"/>
              <a:t>6/26/26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41D49-4EEF-854E-9DDE-8BC5FEFD0847}" type="slidenum">
              <a:rPr lang="en-US" smtClean="0"/>
              <a:t>‹#›</a:t>
            </a:fld>
            <a:endParaRPr lang="en-US"/>
          </a:p>
        </p:txBody>
      </p:sp>
    </p:spTree>
    <p:extLst>
      <p:ext uri="{BB962C8B-B14F-4D97-AF65-F5344CB8AC3E}">
        <p14:creationId xmlns:p14="http://schemas.microsoft.com/office/powerpoint/2010/main" val="151055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A41D49-4EEF-854E-9DDE-8BC5FEFD0847}" type="slidenum">
              <a:rPr lang="en-US" smtClean="0"/>
              <a:t>5</a:t>
            </a:fld>
            <a:endParaRPr lang="en-US"/>
          </a:p>
        </p:txBody>
      </p:sp>
    </p:spTree>
    <p:extLst>
      <p:ext uri="{BB962C8B-B14F-4D97-AF65-F5344CB8AC3E}">
        <p14:creationId xmlns:p14="http://schemas.microsoft.com/office/powerpoint/2010/main" val="2884597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439B-63FB-6C79-15F1-BAA1C47C7A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A9E2CF-704F-6F6C-0426-B7F84FC24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B6FD8C-3A3D-445A-213A-CF6B71BA3ED7}"/>
              </a:ext>
            </a:extLst>
          </p:cNvPr>
          <p:cNvSpPr>
            <a:spLocks noGrp="1"/>
          </p:cNvSpPr>
          <p:nvPr>
            <p:ph type="dt" sz="half" idx="10"/>
          </p:nvPr>
        </p:nvSpPr>
        <p:spPr/>
        <p:txBody>
          <a:bodyPr/>
          <a:lstStyle/>
          <a:p>
            <a:fld id="{21C4F640-0D8A-0747-8296-4DEFE0F86D45}" type="datetime1">
              <a:t>6/26/26</a:t>
            </a:fld>
            <a:endParaRPr lang="en-US"/>
          </a:p>
        </p:txBody>
      </p:sp>
      <p:sp>
        <p:nvSpPr>
          <p:cNvPr id="5" name="Footer Placeholder 4">
            <a:extLst>
              <a:ext uri="{FF2B5EF4-FFF2-40B4-BE49-F238E27FC236}">
                <a16:creationId xmlns:a16="http://schemas.microsoft.com/office/drawing/2014/main" id="{2D47CA33-588F-4EAC-C341-1447D02D862E}"/>
              </a:ext>
            </a:extLst>
          </p:cNvPr>
          <p:cNvSpPr>
            <a:spLocks noGrp="1"/>
          </p:cNvSpPr>
          <p:nvPr>
            <p:ph type="ftr" sz="quarter" idx="11"/>
          </p:nvPr>
        </p:nvSpPr>
        <p:spPr/>
        <p:txBody>
          <a:bodyPr/>
          <a:lstStyle/>
          <a:p>
            <a:r>
              <a:rPr lang="en-US"/>
              <a:t>Programming II - Searching, sorting and merging</a:t>
            </a:r>
          </a:p>
        </p:txBody>
      </p:sp>
      <p:sp>
        <p:nvSpPr>
          <p:cNvPr id="6" name="Slide Number Placeholder 5">
            <a:extLst>
              <a:ext uri="{FF2B5EF4-FFF2-40B4-BE49-F238E27FC236}">
                <a16:creationId xmlns:a16="http://schemas.microsoft.com/office/drawing/2014/main" id="{0C43C2CF-CA0A-CFA0-6B58-37C42242B85F}"/>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251866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B5E98-1E0A-5C06-1F5F-DEBE421CE8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B92E38-AE1D-142D-1A59-8A0F47F9C3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44205-A97E-5C80-20A0-4B68B7652BA0}"/>
              </a:ext>
            </a:extLst>
          </p:cNvPr>
          <p:cNvSpPr>
            <a:spLocks noGrp="1"/>
          </p:cNvSpPr>
          <p:nvPr>
            <p:ph type="dt" sz="half" idx="10"/>
          </p:nvPr>
        </p:nvSpPr>
        <p:spPr/>
        <p:txBody>
          <a:bodyPr/>
          <a:lstStyle/>
          <a:p>
            <a:fld id="{5978250C-DF8B-7046-B728-AABD5AF60AB3}" type="datetime1">
              <a:t>6/26/26</a:t>
            </a:fld>
            <a:endParaRPr lang="en-US"/>
          </a:p>
        </p:txBody>
      </p:sp>
      <p:sp>
        <p:nvSpPr>
          <p:cNvPr id="5" name="Footer Placeholder 4">
            <a:extLst>
              <a:ext uri="{FF2B5EF4-FFF2-40B4-BE49-F238E27FC236}">
                <a16:creationId xmlns:a16="http://schemas.microsoft.com/office/drawing/2014/main" id="{018D4116-E39C-BD33-E13E-AF18EB8A1893}"/>
              </a:ext>
            </a:extLst>
          </p:cNvPr>
          <p:cNvSpPr>
            <a:spLocks noGrp="1"/>
          </p:cNvSpPr>
          <p:nvPr>
            <p:ph type="ftr" sz="quarter" idx="11"/>
          </p:nvPr>
        </p:nvSpPr>
        <p:spPr/>
        <p:txBody>
          <a:bodyPr/>
          <a:lstStyle/>
          <a:p>
            <a:r>
              <a:rPr lang="en-US"/>
              <a:t>Programming II - Searching, sorting and merging</a:t>
            </a:r>
          </a:p>
        </p:txBody>
      </p:sp>
      <p:sp>
        <p:nvSpPr>
          <p:cNvPr id="6" name="Slide Number Placeholder 5">
            <a:extLst>
              <a:ext uri="{FF2B5EF4-FFF2-40B4-BE49-F238E27FC236}">
                <a16:creationId xmlns:a16="http://schemas.microsoft.com/office/drawing/2014/main" id="{93C89E9A-B868-FE52-8CFE-6891962159B4}"/>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1031612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28CB-C549-0CDB-FB0B-590D1E78FF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F19BA9-E540-1566-4B2B-E59034E89F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436ECF-E7C9-D6D6-EE13-5AE0213736A4}"/>
              </a:ext>
            </a:extLst>
          </p:cNvPr>
          <p:cNvSpPr>
            <a:spLocks noGrp="1"/>
          </p:cNvSpPr>
          <p:nvPr>
            <p:ph type="dt" sz="half" idx="10"/>
          </p:nvPr>
        </p:nvSpPr>
        <p:spPr/>
        <p:txBody>
          <a:bodyPr/>
          <a:lstStyle/>
          <a:p>
            <a:fld id="{19DF9EFF-F0C3-3747-825A-DEB9A48F9C6F}" type="datetime1">
              <a:t>6/26/26</a:t>
            </a:fld>
            <a:endParaRPr lang="en-US"/>
          </a:p>
        </p:txBody>
      </p:sp>
      <p:sp>
        <p:nvSpPr>
          <p:cNvPr id="5" name="Footer Placeholder 4">
            <a:extLst>
              <a:ext uri="{FF2B5EF4-FFF2-40B4-BE49-F238E27FC236}">
                <a16:creationId xmlns:a16="http://schemas.microsoft.com/office/drawing/2014/main" id="{5C639BBF-4527-08FB-EACA-DCAD12194EE8}"/>
              </a:ext>
            </a:extLst>
          </p:cNvPr>
          <p:cNvSpPr>
            <a:spLocks noGrp="1"/>
          </p:cNvSpPr>
          <p:nvPr>
            <p:ph type="ftr" sz="quarter" idx="11"/>
          </p:nvPr>
        </p:nvSpPr>
        <p:spPr/>
        <p:txBody>
          <a:bodyPr/>
          <a:lstStyle/>
          <a:p>
            <a:r>
              <a:rPr lang="en-US"/>
              <a:t>Programming II - Searching, sorting and merging</a:t>
            </a:r>
          </a:p>
        </p:txBody>
      </p:sp>
      <p:sp>
        <p:nvSpPr>
          <p:cNvPr id="6" name="Slide Number Placeholder 5">
            <a:extLst>
              <a:ext uri="{FF2B5EF4-FFF2-40B4-BE49-F238E27FC236}">
                <a16:creationId xmlns:a16="http://schemas.microsoft.com/office/drawing/2014/main" id="{F2806293-AE67-6245-643E-B715DC4501D1}"/>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62353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D51C7-AD92-09E3-6E4E-47CA0921C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47D2D-1F7F-2B3D-CA36-7D64AE0757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88E74B-CD91-A054-ADC9-1EFCB77852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022C44-3D99-F76D-41A0-E73C8318A641}"/>
              </a:ext>
            </a:extLst>
          </p:cNvPr>
          <p:cNvSpPr>
            <a:spLocks noGrp="1"/>
          </p:cNvSpPr>
          <p:nvPr>
            <p:ph type="dt" sz="half" idx="10"/>
          </p:nvPr>
        </p:nvSpPr>
        <p:spPr/>
        <p:txBody>
          <a:bodyPr/>
          <a:lstStyle/>
          <a:p>
            <a:fld id="{883A4E8F-7483-2442-8B3F-72915AC30C5D}" type="datetime1">
              <a:t>6/26/26</a:t>
            </a:fld>
            <a:endParaRPr lang="en-US"/>
          </a:p>
        </p:txBody>
      </p:sp>
      <p:sp>
        <p:nvSpPr>
          <p:cNvPr id="6" name="Footer Placeholder 5">
            <a:extLst>
              <a:ext uri="{FF2B5EF4-FFF2-40B4-BE49-F238E27FC236}">
                <a16:creationId xmlns:a16="http://schemas.microsoft.com/office/drawing/2014/main" id="{2222654B-ABB1-B4E7-D3FF-75F502EF7C98}"/>
              </a:ext>
            </a:extLst>
          </p:cNvPr>
          <p:cNvSpPr>
            <a:spLocks noGrp="1"/>
          </p:cNvSpPr>
          <p:nvPr>
            <p:ph type="ftr" sz="quarter" idx="11"/>
          </p:nvPr>
        </p:nvSpPr>
        <p:spPr/>
        <p:txBody>
          <a:bodyPr/>
          <a:lstStyle/>
          <a:p>
            <a:r>
              <a:rPr lang="en-US"/>
              <a:t>Programming II - Searching, sorting and merging</a:t>
            </a:r>
          </a:p>
        </p:txBody>
      </p:sp>
      <p:sp>
        <p:nvSpPr>
          <p:cNvPr id="7" name="Slide Number Placeholder 6">
            <a:extLst>
              <a:ext uri="{FF2B5EF4-FFF2-40B4-BE49-F238E27FC236}">
                <a16:creationId xmlns:a16="http://schemas.microsoft.com/office/drawing/2014/main" id="{99EB3FF0-A6CC-BB11-1387-91380F75CBF6}"/>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704964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3EE0-13D7-B16A-671D-37C4003ED1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E36EBB-EB65-A1BE-9D46-0D48EAE2EC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796A3D-C74C-E765-80CD-7C597B8C64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5A3A30-D02C-B54E-0027-C54DB7D89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242F7-89D9-4224-E2F0-D92BEC3FF1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93D59E-AFA9-0483-559C-6C131C0E0675}"/>
              </a:ext>
            </a:extLst>
          </p:cNvPr>
          <p:cNvSpPr>
            <a:spLocks noGrp="1"/>
          </p:cNvSpPr>
          <p:nvPr>
            <p:ph type="dt" sz="half" idx="10"/>
          </p:nvPr>
        </p:nvSpPr>
        <p:spPr/>
        <p:txBody>
          <a:bodyPr/>
          <a:lstStyle/>
          <a:p>
            <a:fld id="{690E2C6A-9BC7-194D-B42B-F750E7676B8C}" type="datetime1">
              <a:t>6/26/26</a:t>
            </a:fld>
            <a:endParaRPr lang="en-US"/>
          </a:p>
        </p:txBody>
      </p:sp>
      <p:sp>
        <p:nvSpPr>
          <p:cNvPr id="8" name="Footer Placeholder 7">
            <a:extLst>
              <a:ext uri="{FF2B5EF4-FFF2-40B4-BE49-F238E27FC236}">
                <a16:creationId xmlns:a16="http://schemas.microsoft.com/office/drawing/2014/main" id="{A126F210-EE29-8E1D-8FA8-D10028D70AC5}"/>
              </a:ext>
            </a:extLst>
          </p:cNvPr>
          <p:cNvSpPr>
            <a:spLocks noGrp="1"/>
          </p:cNvSpPr>
          <p:nvPr>
            <p:ph type="ftr" sz="quarter" idx="11"/>
          </p:nvPr>
        </p:nvSpPr>
        <p:spPr/>
        <p:txBody>
          <a:bodyPr/>
          <a:lstStyle/>
          <a:p>
            <a:r>
              <a:rPr lang="en-US"/>
              <a:t>Programming II - Searching, sorting and merging</a:t>
            </a:r>
          </a:p>
        </p:txBody>
      </p:sp>
      <p:sp>
        <p:nvSpPr>
          <p:cNvPr id="9" name="Slide Number Placeholder 8">
            <a:extLst>
              <a:ext uri="{FF2B5EF4-FFF2-40B4-BE49-F238E27FC236}">
                <a16:creationId xmlns:a16="http://schemas.microsoft.com/office/drawing/2014/main" id="{46F38DDC-0ECF-9134-256E-293D6681EEB1}"/>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208547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876A2-3DA5-918E-EA96-5DE7EA197D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AE71DD-2CDF-D942-ECFA-3348F8859D92}"/>
              </a:ext>
            </a:extLst>
          </p:cNvPr>
          <p:cNvSpPr>
            <a:spLocks noGrp="1"/>
          </p:cNvSpPr>
          <p:nvPr>
            <p:ph type="dt" sz="half" idx="10"/>
          </p:nvPr>
        </p:nvSpPr>
        <p:spPr/>
        <p:txBody>
          <a:bodyPr/>
          <a:lstStyle/>
          <a:p>
            <a:fld id="{504DBD58-33AC-584D-B15D-D7DCBE69D2F1}" type="datetime1">
              <a:t>6/26/26</a:t>
            </a:fld>
            <a:endParaRPr lang="en-US"/>
          </a:p>
        </p:txBody>
      </p:sp>
      <p:sp>
        <p:nvSpPr>
          <p:cNvPr id="4" name="Footer Placeholder 3">
            <a:extLst>
              <a:ext uri="{FF2B5EF4-FFF2-40B4-BE49-F238E27FC236}">
                <a16:creationId xmlns:a16="http://schemas.microsoft.com/office/drawing/2014/main" id="{9144A0C1-2879-C55B-0CF2-13A64EE6F23C}"/>
              </a:ext>
            </a:extLst>
          </p:cNvPr>
          <p:cNvSpPr>
            <a:spLocks noGrp="1"/>
          </p:cNvSpPr>
          <p:nvPr>
            <p:ph type="ftr" sz="quarter" idx="11"/>
          </p:nvPr>
        </p:nvSpPr>
        <p:spPr/>
        <p:txBody>
          <a:bodyPr/>
          <a:lstStyle/>
          <a:p>
            <a:r>
              <a:rPr lang="en-US"/>
              <a:t>Programming II - Searching, sorting and merging</a:t>
            </a:r>
          </a:p>
        </p:txBody>
      </p:sp>
      <p:sp>
        <p:nvSpPr>
          <p:cNvPr id="5" name="Slide Number Placeholder 4">
            <a:extLst>
              <a:ext uri="{FF2B5EF4-FFF2-40B4-BE49-F238E27FC236}">
                <a16:creationId xmlns:a16="http://schemas.microsoft.com/office/drawing/2014/main" id="{7CB2FF08-FA4F-5E70-3D58-56BD02EDEC21}"/>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857964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5E7684-4EDD-C720-2CDF-C7DB971DBB9A}"/>
              </a:ext>
            </a:extLst>
          </p:cNvPr>
          <p:cNvSpPr>
            <a:spLocks noGrp="1"/>
          </p:cNvSpPr>
          <p:nvPr>
            <p:ph type="dt" sz="half" idx="10"/>
          </p:nvPr>
        </p:nvSpPr>
        <p:spPr/>
        <p:txBody>
          <a:bodyPr/>
          <a:lstStyle/>
          <a:p>
            <a:fld id="{1316E14E-D9FB-1A4C-8114-106B23DEEEE4}" type="datetime1">
              <a:t>6/26/26</a:t>
            </a:fld>
            <a:endParaRPr lang="en-US"/>
          </a:p>
        </p:txBody>
      </p:sp>
      <p:sp>
        <p:nvSpPr>
          <p:cNvPr id="3" name="Footer Placeholder 2">
            <a:extLst>
              <a:ext uri="{FF2B5EF4-FFF2-40B4-BE49-F238E27FC236}">
                <a16:creationId xmlns:a16="http://schemas.microsoft.com/office/drawing/2014/main" id="{050BEAB9-0036-AFDC-FD10-E5BBB32CABB1}"/>
              </a:ext>
            </a:extLst>
          </p:cNvPr>
          <p:cNvSpPr>
            <a:spLocks noGrp="1"/>
          </p:cNvSpPr>
          <p:nvPr>
            <p:ph type="ftr" sz="quarter" idx="11"/>
          </p:nvPr>
        </p:nvSpPr>
        <p:spPr/>
        <p:txBody>
          <a:bodyPr/>
          <a:lstStyle/>
          <a:p>
            <a:r>
              <a:rPr lang="en-US"/>
              <a:t>Programming II - Searching, sorting and merging</a:t>
            </a:r>
          </a:p>
        </p:txBody>
      </p:sp>
      <p:sp>
        <p:nvSpPr>
          <p:cNvPr id="4" name="Slide Number Placeholder 3">
            <a:extLst>
              <a:ext uri="{FF2B5EF4-FFF2-40B4-BE49-F238E27FC236}">
                <a16:creationId xmlns:a16="http://schemas.microsoft.com/office/drawing/2014/main" id="{6381F654-1E2B-5C4F-56B1-FD811F1DEF5E}"/>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2336799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AE98-D290-2D23-02C2-B1B9D08A3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D1B8CB-0769-520D-1239-A592E7364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E52471-F5C0-4650-7641-FEC81F273C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E6937-6113-2719-D75D-2A5C29221447}"/>
              </a:ext>
            </a:extLst>
          </p:cNvPr>
          <p:cNvSpPr>
            <a:spLocks noGrp="1"/>
          </p:cNvSpPr>
          <p:nvPr>
            <p:ph type="dt" sz="half" idx="10"/>
          </p:nvPr>
        </p:nvSpPr>
        <p:spPr/>
        <p:txBody>
          <a:bodyPr/>
          <a:lstStyle/>
          <a:p>
            <a:fld id="{D152D9D0-2D7F-6D4B-8C6F-51308BCC0605}" type="datetime1">
              <a:t>6/26/26</a:t>
            </a:fld>
            <a:endParaRPr lang="en-US"/>
          </a:p>
        </p:txBody>
      </p:sp>
      <p:sp>
        <p:nvSpPr>
          <p:cNvPr id="6" name="Footer Placeholder 5">
            <a:extLst>
              <a:ext uri="{FF2B5EF4-FFF2-40B4-BE49-F238E27FC236}">
                <a16:creationId xmlns:a16="http://schemas.microsoft.com/office/drawing/2014/main" id="{6806A247-0567-CD26-31DC-A70792F3C132}"/>
              </a:ext>
            </a:extLst>
          </p:cNvPr>
          <p:cNvSpPr>
            <a:spLocks noGrp="1"/>
          </p:cNvSpPr>
          <p:nvPr>
            <p:ph type="ftr" sz="quarter" idx="11"/>
          </p:nvPr>
        </p:nvSpPr>
        <p:spPr/>
        <p:txBody>
          <a:bodyPr/>
          <a:lstStyle/>
          <a:p>
            <a:r>
              <a:rPr lang="en-US"/>
              <a:t>Programming II - Searching, sorting and merging</a:t>
            </a:r>
          </a:p>
        </p:txBody>
      </p:sp>
      <p:sp>
        <p:nvSpPr>
          <p:cNvPr id="7" name="Slide Number Placeholder 6">
            <a:extLst>
              <a:ext uri="{FF2B5EF4-FFF2-40B4-BE49-F238E27FC236}">
                <a16:creationId xmlns:a16="http://schemas.microsoft.com/office/drawing/2014/main" id="{CE6A7F36-2EDB-2D13-ED56-83A061148F2D}"/>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2637338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D053-C082-202E-4257-E09A2B098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08AAF1-FF16-01CE-ECAA-EFE558D8AD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8DDB28-7904-6C8E-701B-A3CFF3D45F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7D25E-1E8D-FE8F-35CC-8D8B43280817}"/>
              </a:ext>
            </a:extLst>
          </p:cNvPr>
          <p:cNvSpPr>
            <a:spLocks noGrp="1"/>
          </p:cNvSpPr>
          <p:nvPr>
            <p:ph type="dt" sz="half" idx="10"/>
          </p:nvPr>
        </p:nvSpPr>
        <p:spPr/>
        <p:txBody>
          <a:bodyPr/>
          <a:lstStyle/>
          <a:p>
            <a:fld id="{8DDF6AFA-8744-7144-8A94-D303636FD02C}" type="datetime1">
              <a:t>6/26/26</a:t>
            </a:fld>
            <a:endParaRPr lang="en-US"/>
          </a:p>
        </p:txBody>
      </p:sp>
      <p:sp>
        <p:nvSpPr>
          <p:cNvPr id="6" name="Footer Placeholder 5">
            <a:extLst>
              <a:ext uri="{FF2B5EF4-FFF2-40B4-BE49-F238E27FC236}">
                <a16:creationId xmlns:a16="http://schemas.microsoft.com/office/drawing/2014/main" id="{10ABFC95-31D9-F0FD-B110-5448FD7D3E0D}"/>
              </a:ext>
            </a:extLst>
          </p:cNvPr>
          <p:cNvSpPr>
            <a:spLocks noGrp="1"/>
          </p:cNvSpPr>
          <p:nvPr>
            <p:ph type="ftr" sz="quarter" idx="11"/>
          </p:nvPr>
        </p:nvSpPr>
        <p:spPr/>
        <p:txBody>
          <a:bodyPr/>
          <a:lstStyle/>
          <a:p>
            <a:r>
              <a:rPr lang="en-US"/>
              <a:t>Programming II - Searching, sorting and merging</a:t>
            </a:r>
          </a:p>
        </p:txBody>
      </p:sp>
      <p:sp>
        <p:nvSpPr>
          <p:cNvPr id="7" name="Slide Number Placeholder 6">
            <a:extLst>
              <a:ext uri="{FF2B5EF4-FFF2-40B4-BE49-F238E27FC236}">
                <a16:creationId xmlns:a16="http://schemas.microsoft.com/office/drawing/2014/main" id="{A09AA12B-4266-61D9-EDD2-3EE5CE79D7FE}"/>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60564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37D41-2C62-B81A-4E55-5B17754E80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F87ADB-41B0-0C03-1623-085306CD78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ED994-B570-EC4C-69DF-20F16C7F1FF3}"/>
              </a:ext>
            </a:extLst>
          </p:cNvPr>
          <p:cNvSpPr>
            <a:spLocks noGrp="1"/>
          </p:cNvSpPr>
          <p:nvPr>
            <p:ph type="dt" sz="half" idx="10"/>
          </p:nvPr>
        </p:nvSpPr>
        <p:spPr/>
        <p:txBody>
          <a:bodyPr/>
          <a:lstStyle/>
          <a:p>
            <a:fld id="{66B302BA-E778-A046-9850-4AB5D5DA08E3}" type="datetime1">
              <a:t>6/26/26</a:t>
            </a:fld>
            <a:endParaRPr lang="en-US"/>
          </a:p>
        </p:txBody>
      </p:sp>
      <p:sp>
        <p:nvSpPr>
          <p:cNvPr id="5" name="Footer Placeholder 4">
            <a:extLst>
              <a:ext uri="{FF2B5EF4-FFF2-40B4-BE49-F238E27FC236}">
                <a16:creationId xmlns:a16="http://schemas.microsoft.com/office/drawing/2014/main" id="{E2CAD534-A450-A307-4B07-6C4650ACD328}"/>
              </a:ext>
            </a:extLst>
          </p:cNvPr>
          <p:cNvSpPr>
            <a:spLocks noGrp="1"/>
          </p:cNvSpPr>
          <p:nvPr>
            <p:ph type="ftr" sz="quarter" idx="11"/>
          </p:nvPr>
        </p:nvSpPr>
        <p:spPr/>
        <p:txBody>
          <a:bodyPr/>
          <a:lstStyle/>
          <a:p>
            <a:r>
              <a:rPr lang="en-US"/>
              <a:t>Programming II - Searching, sorting and merging</a:t>
            </a:r>
          </a:p>
        </p:txBody>
      </p:sp>
      <p:sp>
        <p:nvSpPr>
          <p:cNvPr id="6" name="Slide Number Placeholder 5">
            <a:extLst>
              <a:ext uri="{FF2B5EF4-FFF2-40B4-BE49-F238E27FC236}">
                <a16:creationId xmlns:a16="http://schemas.microsoft.com/office/drawing/2014/main" id="{F94DC195-7F54-203F-CDA1-C50631716912}"/>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86611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E438AF-B931-3C84-F6D4-87AB3B83A9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D28B3D-F088-3F99-72FF-7414B2DCD4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055F1-AB43-623C-C5CB-38A30E28D529}"/>
              </a:ext>
            </a:extLst>
          </p:cNvPr>
          <p:cNvSpPr>
            <a:spLocks noGrp="1"/>
          </p:cNvSpPr>
          <p:nvPr>
            <p:ph type="dt" sz="half" idx="10"/>
          </p:nvPr>
        </p:nvSpPr>
        <p:spPr/>
        <p:txBody>
          <a:bodyPr/>
          <a:lstStyle/>
          <a:p>
            <a:fld id="{700855EF-F5DF-BF4B-A9DB-CB8BEB4A1632}" type="datetime1">
              <a:t>6/26/26</a:t>
            </a:fld>
            <a:endParaRPr lang="en-US"/>
          </a:p>
        </p:txBody>
      </p:sp>
      <p:sp>
        <p:nvSpPr>
          <p:cNvPr id="5" name="Footer Placeholder 4">
            <a:extLst>
              <a:ext uri="{FF2B5EF4-FFF2-40B4-BE49-F238E27FC236}">
                <a16:creationId xmlns:a16="http://schemas.microsoft.com/office/drawing/2014/main" id="{6617671F-F3CA-AD8C-AAED-1CEDA06BD3F5}"/>
              </a:ext>
            </a:extLst>
          </p:cNvPr>
          <p:cNvSpPr>
            <a:spLocks noGrp="1"/>
          </p:cNvSpPr>
          <p:nvPr>
            <p:ph type="ftr" sz="quarter" idx="11"/>
          </p:nvPr>
        </p:nvSpPr>
        <p:spPr/>
        <p:txBody>
          <a:bodyPr/>
          <a:lstStyle/>
          <a:p>
            <a:r>
              <a:rPr lang="en-US"/>
              <a:t>Programming II - Searching, sorting and merging</a:t>
            </a:r>
          </a:p>
        </p:txBody>
      </p:sp>
      <p:sp>
        <p:nvSpPr>
          <p:cNvPr id="6" name="Slide Number Placeholder 5">
            <a:extLst>
              <a:ext uri="{FF2B5EF4-FFF2-40B4-BE49-F238E27FC236}">
                <a16:creationId xmlns:a16="http://schemas.microsoft.com/office/drawing/2014/main" id="{F15B1CDC-17D0-73DC-75AA-4AC4F7A19162}"/>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715349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DB54A4-460A-D881-CB80-B80976E994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4465D-2428-0E8F-C234-F54A0ACB29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1F970-F887-4C4D-5815-B89930B12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0EB27F-8819-4A45-B9A5-CD0AFC0A520C}" type="datetime1">
              <a:t>6/26/26</a:t>
            </a:fld>
            <a:endParaRPr lang="en-US"/>
          </a:p>
        </p:txBody>
      </p:sp>
      <p:sp>
        <p:nvSpPr>
          <p:cNvPr id="5" name="Footer Placeholder 4">
            <a:extLst>
              <a:ext uri="{FF2B5EF4-FFF2-40B4-BE49-F238E27FC236}">
                <a16:creationId xmlns:a16="http://schemas.microsoft.com/office/drawing/2014/main" id="{AAB557DE-AC99-B9B5-5DF2-4FB364C1F4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Programming II - Searching, sorting and merging</a:t>
            </a:r>
          </a:p>
        </p:txBody>
      </p:sp>
      <p:sp>
        <p:nvSpPr>
          <p:cNvPr id="6" name="Slide Number Placeholder 5">
            <a:extLst>
              <a:ext uri="{FF2B5EF4-FFF2-40B4-BE49-F238E27FC236}">
                <a16:creationId xmlns:a16="http://schemas.microsoft.com/office/drawing/2014/main" id="{28B09E07-DBC5-7183-4C8A-37012085C0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8A5E57-4BE3-6845-B213-5AF793E357AB}" type="slidenum">
              <a:rPr lang="en-US" smtClean="0"/>
              <a:t>‹#›</a:t>
            </a:fld>
            <a:endParaRPr lang="en-US"/>
          </a:p>
        </p:txBody>
      </p:sp>
    </p:spTree>
    <p:extLst>
      <p:ext uri="{BB962C8B-B14F-4D97-AF65-F5344CB8AC3E}">
        <p14:creationId xmlns:p14="http://schemas.microsoft.com/office/powerpoint/2010/main" val="4051891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75EDB5-7C26-1246-E398-1FA21B5C1782}"/>
              </a:ext>
            </a:extLst>
          </p:cNvPr>
          <p:cNvSpPr txBox="1"/>
          <p:nvPr/>
        </p:nvSpPr>
        <p:spPr>
          <a:xfrm>
            <a:off x="570154" y="915313"/>
            <a:ext cx="9455973" cy="523220"/>
          </a:xfrm>
          <a:prstGeom prst="rect">
            <a:avLst/>
          </a:prstGeom>
          <a:noFill/>
        </p:spPr>
        <p:txBody>
          <a:bodyPr wrap="square" rtlCol="0">
            <a:spAutoFit/>
          </a:bodyPr>
          <a:lstStyle/>
          <a:p>
            <a:r>
              <a:rPr lang="en-US" sz="2800" dirty="0"/>
              <a:t>Programming II Course</a:t>
            </a:r>
          </a:p>
        </p:txBody>
      </p:sp>
      <p:sp>
        <p:nvSpPr>
          <p:cNvPr id="6" name="TextBox 5">
            <a:extLst>
              <a:ext uri="{FF2B5EF4-FFF2-40B4-BE49-F238E27FC236}">
                <a16:creationId xmlns:a16="http://schemas.microsoft.com/office/drawing/2014/main" id="{C686B9AB-A154-F77B-F9BB-7DC5E358FC71}"/>
              </a:ext>
            </a:extLst>
          </p:cNvPr>
          <p:cNvSpPr txBox="1"/>
          <p:nvPr/>
        </p:nvSpPr>
        <p:spPr>
          <a:xfrm>
            <a:off x="570155" y="5111690"/>
            <a:ext cx="3867790" cy="646331"/>
          </a:xfrm>
          <a:prstGeom prst="rect">
            <a:avLst/>
          </a:prstGeom>
          <a:noFill/>
        </p:spPr>
        <p:txBody>
          <a:bodyPr wrap="none" rtlCol="0">
            <a:spAutoFit/>
          </a:bodyPr>
          <a:lstStyle/>
          <a:p>
            <a:r>
              <a:rPr lang="en-US" dirty="0"/>
              <a:t>Antonio Di Monaco</a:t>
            </a:r>
          </a:p>
          <a:p>
            <a:r>
              <a:rPr lang="en-US" dirty="0"/>
              <a:t>Computer Science Bachelor Program</a:t>
            </a:r>
          </a:p>
        </p:txBody>
      </p:sp>
      <p:sp>
        <p:nvSpPr>
          <p:cNvPr id="2" name="Footer Placeholder 1">
            <a:extLst>
              <a:ext uri="{FF2B5EF4-FFF2-40B4-BE49-F238E27FC236}">
                <a16:creationId xmlns:a16="http://schemas.microsoft.com/office/drawing/2014/main" id="{263B0E87-0692-1E7D-2BF8-8A674F09149D}"/>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92508F35-8C13-E451-FF21-78133D15ADFC}"/>
              </a:ext>
            </a:extLst>
          </p:cNvPr>
          <p:cNvSpPr txBox="1"/>
          <p:nvPr/>
        </p:nvSpPr>
        <p:spPr>
          <a:xfrm>
            <a:off x="570154" y="3013501"/>
            <a:ext cx="4947188" cy="523220"/>
          </a:xfrm>
          <a:prstGeom prst="rect">
            <a:avLst/>
          </a:prstGeom>
          <a:noFill/>
        </p:spPr>
        <p:txBody>
          <a:bodyPr wrap="none" rtlCol="0">
            <a:spAutoFit/>
          </a:bodyPr>
          <a:lstStyle/>
          <a:p>
            <a:r>
              <a:rPr lang="en-US" sz="2800"/>
              <a:t>Searching, sorting and merging</a:t>
            </a:r>
          </a:p>
        </p:txBody>
      </p:sp>
    </p:spTree>
    <p:extLst>
      <p:ext uri="{BB962C8B-B14F-4D97-AF65-F5344CB8AC3E}">
        <p14:creationId xmlns:p14="http://schemas.microsoft.com/office/powerpoint/2010/main" val="2794035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FC0A45D-015B-F9B3-DB27-9D9047181787}"/>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C522E73E-5FE4-B397-BDFC-5C186926044C}"/>
              </a:ext>
            </a:extLst>
          </p:cNvPr>
          <p:cNvSpPr txBox="1"/>
          <p:nvPr/>
        </p:nvSpPr>
        <p:spPr>
          <a:xfrm>
            <a:off x="430306" y="398033"/>
            <a:ext cx="1507720" cy="461665"/>
          </a:xfrm>
          <a:prstGeom prst="rect">
            <a:avLst/>
          </a:prstGeom>
          <a:noFill/>
        </p:spPr>
        <p:txBody>
          <a:bodyPr wrap="none" rtlCol="0">
            <a:spAutoFit/>
          </a:bodyPr>
          <a:lstStyle/>
          <a:p>
            <a:r>
              <a:rPr lang="en-US" sz="2400"/>
              <a:t>Searching</a:t>
            </a:r>
          </a:p>
        </p:txBody>
      </p:sp>
      <p:sp>
        <p:nvSpPr>
          <p:cNvPr id="6" name="TextBox 5">
            <a:extLst>
              <a:ext uri="{FF2B5EF4-FFF2-40B4-BE49-F238E27FC236}">
                <a16:creationId xmlns:a16="http://schemas.microsoft.com/office/drawing/2014/main" id="{228CB148-B9DA-5D8C-1A1B-814B601FAA86}"/>
              </a:ext>
            </a:extLst>
          </p:cNvPr>
          <p:cNvSpPr txBox="1"/>
          <p:nvPr/>
        </p:nvSpPr>
        <p:spPr>
          <a:xfrm>
            <a:off x="430306" y="1222744"/>
            <a:ext cx="9246442" cy="2585323"/>
          </a:xfrm>
          <a:prstGeom prst="rect">
            <a:avLst/>
          </a:prstGeom>
          <a:noFill/>
        </p:spPr>
        <p:txBody>
          <a:bodyPr wrap="none" rtlCol="0">
            <a:spAutoFit/>
          </a:bodyPr>
          <a:lstStyle/>
          <a:p>
            <a:r>
              <a:rPr lang="en-US"/>
              <a:t>Searching is the operation of finding an element in a collection.</a:t>
            </a:r>
          </a:p>
          <a:p>
            <a:endParaRPr lang="en-US"/>
          </a:p>
          <a:p>
            <a:endParaRPr lang="en-US"/>
          </a:p>
          <a:p>
            <a:r>
              <a:rPr lang="en-US"/>
              <a:t>When used on linear lists, there are basically two approaches:</a:t>
            </a:r>
          </a:p>
          <a:p>
            <a:endParaRPr lang="en-US"/>
          </a:p>
          <a:p>
            <a:pPr marL="285750" indent="-285750">
              <a:buFont typeface="Arial" panose="020B0604020202020204" pitchFamily="34" charset="0"/>
              <a:buChar char="•"/>
            </a:pPr>
            <a:r>
              <a:rPr lang="en-US"/>
              <a:t>linear search: it can be applied to any content configuration of the linear list – the slowest</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binary search: it can be appied to sorted lists only – the fastest</a:t>
            </a:r>
          </a:p>
        </p:txBody>
      </p:sp>
    </p:spTree>
    <p:extLst>
      <p:ext uri="{BB962C8B-B14F-4D97-AF65-F5344CB8AC3E}">
        <p14:creationId xmlns:p14="http://schemas.microsoft.com/office/powerpoint/2010/main" val="95759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41712-7F6C-3E7C-0648-7AA1450C372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41ACA7-4F85-FDB0-DDD4-8F45ED0B6745}"/>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DE0577FE-2668-4D4C-0A1B-5C2A160FA00D}"/>
              </a:ext>
            </a:extLst>
          </p:cNvPr>
          <p:cNvSpPr txBox="1"/>
          <p:nvPr/>
        </p:nvSpPr>
        <p:spPr>
          <a:xfrm>
            <a:off x="430306" y="398033"/>
            <a:ext cx="1977401" cy="461665"/>
          </a:xfrm>
          <a:prstGeom prst="rect">
            <a:avLst/>
          </a:prstGeom>
          <a:noFill/>
        </p:spPr>
        <p:txBody>
          <a:bodyPr wrap="none" rtlCol="0">
            <a:spAutoFit/>
          </a:bodyPr>
          <a:lstStyle/>
          <a:p>
            <a:r>
              <a:rPr lang="en-US" sz="2400"/>
              <a:t>Linear search</a:t>
            </a:r>
          </a:p>
        </p:txBody>
      </p:sp>
      <p:sp>
        <p:nvSpPr>
          <p:cNvPr id="6" name="TextBox 5">
            <a:extLst>
              <a:ext uri="{FF2B5EF4-FFF2-40B4-BE49-F238E27FC236}">
                <a16:creationId xmlns:a16="http://schemas.microsoft.com/office/drawing/2014/main" id="{BD092CC8-BD76-B948-A53F-FBF76915C9C4}"/>
              </a:ext>
            </a:extLst>
          </p:cNvPr>
          <p:cNvSpPr txBox="1"/>
          <p:nvPr/>
        </p:nvSpPr>
        <p:spPr>
          <a:xfrm>
            <a:off x="430306" y="1222744"/>
            <a:ext cx="11478159" cy="3970318"/>
          </a:xfrm>
          <a:prstGeom prst="rect">
            <a:avLst/>
          </a:prstGeom>
          <a:noFill/>
        </p:spPr>
        <p:txBody>
          <a:bodyPr wrap="square" rtlCol="0">
            <a:spAutoFit/>
          </a:bodyPr>
          <a:lstStyle/>
          <a:p>
            <a:r>
              <a:rPr lang="en-US" dirty="0"/>
              <a:t>Input:</a:t>
            </a:r>
          </a:p>
          <a:p>
            <a:pPr marL="285750" indent="-285750">
              <a:buFont typeface="Arial" panose="020B0604020202020204" pitchFamily="34" charset="0"/>
              <a:buChar char="•"/>
            </a:pPr>
            <a:r>
              <a:rPr lang="en-US" dirty="0"/>
              <a:t>an unsorted sequence of elements, arrays, linked lists, queues</a:t>
            </a:r>
          </a:p>
          <a:p>
            <a:pPr marL="285750" indent="-285750">
              <a:buFont typeface="Arial" panose="020B0604020202020204" pitchFamily="34" charset="0"/>
              <a:buChar char="•"/>
            </a:pPr>
            <a:r>
              <a:rPr lang="en-US" dirty="0"/>
              <a:t>an item to search, where the compare operation is defined (i.e. == operator or </a:t>
            </a:r>
            <a:r>
              <a:rPr lang="en-US" dirty="0" err="1"/>
              <a:t>isEqual</a:t>
            </a:r>
            <a:r>
              <a:rPr lang="en-US" dirty="0"/>
              <a:t>(...))</a:t>
            </a:r>
          </a:p>
          <a:p>
            <a:pPr marL="285750" indent="-285750">
              <a:buFont typeface="Arial" panose="020B0604020202020204" pitchFamily="34" charset="0"/>
              <a:buChar char="•"/>
            </a:pPr>
            <a:endParaRPr lang="en-US" dirty="0"/>
          </a:p>
          <a:p>
            <a:r>
              <a:rPr lang="en-US" dirty="0"/>
              <a:t>Given the input, the only possible way to search for the element is to test them one by one starting from the first item and moving forward, or starting from the last and moving backward. We expect to find our element in</a:t>
            </a:r>
            <a:br>
              <a:rPr lang="en-US" dirty="0"/>
            </a:br>
            <a:r>
              <a:rPr lang="en-US" dirty="0"/>
              <a:t>N/2 steps, assuming N as the length of our sequence.</a:t>
            </a:r>
          </a:p>
          <a:p>
            <a:endParaRPr lang="en-US" dirty="0"/>
          </a:p>
          <a:p>
            <a:r>
              <a:rPr lang="en-US" dirty="0"/>
              <a:t>The search can either return the position of the element, in case of a sequence that supports the direct access</a:t>
            </a:r>
            <a:br>
              <a:rPr lang="en-US" dirty="0"/>
            </a:br>
            <a:r>
              <a:rPr lang="en-US" dirty="0"/>
              <a:t>(i.e. arrays), or the element itself (as a reference).</a:t>
            </a:r>
          </a:p>
          <a:p>
            <a:endParaRPr lang="en-US" dirty="0"/>
          </a:p>
          <a:p>
            <a:r>
              <a:rPr lang="en-US" dirty="0"/>
              <a:t>Outcomes for non-existing items can be:</a:t>
            </a:r>
          </a:p>
          <a:p>
            <a:pPr marL="285750" indent="-285750">
              <a:buFont typeface="Arial" panose="020B0604020202020204" pitchFamily="34" charset="0"/>
              <a:buChar char="•"/>
            </a:pPr>
            <a:r>
              <a:rPr lang="en-US" dirty="0"/>
              <a:t>a custom exception</a:t>
            </a:r>
          </a:p>
          <a:p>
            <a:pPr marL="285750" indent="-285750">
              <a:buFont typeface="Arial" panose="020B0604020202020204" pitchFamily="34" charset="0"/>
              <a:buChar char="•"/>
            </a:pPr>
            <a:r>
              <a:rPr lang="en-US" dirty="0"/>
              <a:t>any application-defined values, but usually -1 (position) or null (reference) are used.</a:t>
            </a:r>
          </a:p>
        </p:txBody>
      </p:sp>
    </p:spTree>
    <p:extLst>
      <p:ext uri="{BB962C8B-B14F-4D97-AF65-F5344CB8AC3E}">
        <p14:creationId xmlns:p14="http://schemas.microsoft.com/office/powerpoint/2010/main" val="251816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DA68-305F-A89C-76D4-C4E9EA042BD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249D89-01EF-CC0E-C53C-755527E47C78}"/>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B355188B-D3DB-0D78-41AF-9336886E71B1}"/>
              </a:ext>
            </a:extLst>
          </p:cNvPr>
          <p:cNvSpPr txBox="1"/>
          <p:nvPr/>
        </p:nvSpPr>
        <p:spPr>
          <a:xfrm>
            <a:off x="3972726" y="3013501"/>
            <a:ext cx="4246547" cy="830997"/>
          </a:xfrm>
          <a:prstGeom prst="rect">
            <a:avLst/>
          </a:prstGeom>
          <a:noFill/>
        </p:spPr>
        <p:txBody>
          <a:bodyPr wrap="none" rtlCol="0">
            <a:spAutoFit/>
          </a:bodyPr>
          <a:lstStyle/>
          <a:p>
            <a:pPr algn="ctr"/>
            <a:r>
              <a:rPr lang="en-US" sz="2400"/>
              <a:t>Linear search: implementation</a:t>
            </a:r>
            <a:br>
              <a:rPr lang="en-US" sz="2400"/>
            </a:br>
            <a:r>
              <a:rPr lang="en-US" sz="2400"/>
              <a:t>(with sentinel too)</a:t>
            </a:r>
          </a:p>
        </p:txBody>
      </p:sp>
    </p:spTree>
    <p:extLst>
      <p:ext uri="{BB962C8B-B14F-4D97-AF65-F5344CB8AC3E}">
        <p14:creationId xmlns:p14="http://schemas.microsoft.com/office/powerpoint/2010/main" val="3291265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37BD-5C48-1848-E9FF-50941893874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0D0D08-7035-ADA1-FA70-793AF0BDADDB}"/>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BD7544FD-9344-A00F-0B0C-F15E3F002ADE}"/>
              </a:ext>
            </a:extLst>
          </p:cNvPr>
          <p:cNvSpPr txBox="1"/>
          <p:nvPr/>
        </p:nvSpPr>
        <p:spPr>
          <a:xfrm>
            <a:off x="430306" y="398033"/>
            <a:ext cx="1991699" cy="461665"/>
          </a:xfrm>
          <a:prstGeom prst="rect">
            <a:avLst/>
          </a:prstGeom>
          <a:noFill/>
        </p:spPr>
        <p:txBody>
          <a:bodyPr wrap="none" rtlCol="0">
            <a:spAutoFit/>
          </a:bodyPr>
          <a:lstStyle/>
          <a:p>
            <a:r>
              <a:rPr lang="en-US" sz="2400"/>
              <a:t>Binary search</a:t>
            </a:r>
          </a:p>
        </p:txBody>
      </p:sp>
      <p:sp>
        <p:nvSpPr>
          <p:cNvPr id="6" name="TextBox 5">
            <a:extLst>
              <a:ext uri="{FF2B5EF4-FFF2-40B4-BE49-F238E27FC236}">
                <a16:creationId xmlns:a16="http://schemas.microsoft.com/office/drawing/2014/main" id="{8DFE78E3-0D50-025E-748D-CF17AF69A8DC}"/>
              </a:ext>
            </a:extLst>
          </p:cNvPr>
          <p:cNvSpPr txBox="1"/>
          <p:nvPr/>
        </p:nvSpPr>
        <p:spPr>
          <a:xfrm>
            <a:off x="430306" y="1222744"/>
            <a:ext cx="11478159" cy="4801314"/>
          </a:xfrm>
          <a:prstGeom prst="rect">
            <a:avLst/>
          </a:prstGeom>
          <a:noFill/>
        </p:spPr>
        <p:txBody>
          <a:bodyPr wrap="square" rtlCol="0">
            <a:spAutoFit/>
          </a:bodyPr>
          <a:lstStyle/>
          <a:p>
            <a:r>
              <a:rPr lang="en-US" dirty="0"/>
              <a:t>Input:</a:t>
            </a:r>
          </a:p>
          <a:p>
            <a:pPr marL="285750" indent="-285750">
              <a:buFont typeface="Arial" panose="020B0604020202020204" pitchFamily="34" charset="0"/>
              <a:buChar char="•"/>
            </a:pPr>
            <a:r>
              <a:rPr lang="en-US" dirty="0"/>
              <a:t>an </a:t>
            </a:r>
            <a:r>
              <a:rPr lang="en-US" b="1" dirty="0"/>
              <a:t>sorted directly accessible sequence </a:t>
            </a:r>
            <a:r>
              <a:rPr lang="en-US" dirty="0"/>
              <a:t>of elements</a:t>
            </a:r>
          </a:p>
          <a:p>
            <a:pPr marL="285750" indent="-285750">
              <a:buFont typeface="Arial" panose="020B0604020202020204" pitchFamily="34" charset="0"/>
              <a:buChar char="•"/>
            </a:pPr>
            <a:r>
              <a:rPr lang="en-US" dirty="0"/>
              <a:t>an item to search, where the compare operation is defined (i.e. == operator or </a:t>
            </a:r>
            <a:r>
              <a:rPr lang="en-US" dirty="0" err="1"/>
              <a:t>isEqual</a:t>
            </a:r>
            <a:r>
              <a:rPr lang="en-US" dirty="0"/>
              <a:t>(...))</a:t>
            </a:r>
          </a:p>
          <a:p>
            <a:pPr marL="285750" indent="-285750">
              <a:buFont typeface="Arial" panose="020B0604020202020204" pitchFamily="34" charset="0"/>
              <a:buChar char="•"/>
            </a:pPr>
            <a:endParaRPr lang="en-US" dirty="0"/>
          </a:p>
          <a:p>
            <a:r>
              <a:rPr lang="en-US" dirty="0"/>
              <a:t>We set the start index (SI) to 0, the end index (EI) to N-1, and we calculate the middle index (MI = (EI + SI) / 2).</a:t>
            </a:r>
          </a:p>
          <a:p>
            <a:pPr marL="285750" indent="-285750">
              <a:buFont typeface="Arial" panose="020B0604020202020204" pitchFamily="34" charset="0"/>
              <a:buChar char="•"/>
            </a:pPr>
            <a:endParaRPr lang="en-US" dirty="0"/>
          </a:p>
          <a:p>
            <a:r>
              <a:rPr lang="en-US" dirty="0"/>
              <a:t>Then we check if the element is found at position MI. If so, the search is over.</a:t>
            </a:r>
          </a:p>
          <a:p>
            <a:endParaRPr lang="en-US" dirty="0"/>
          </a:p>
          <a:p>
            <a:r>
              <a:rPr lang="en-US" dirty="0"/>
              <a:t>If not, we use the sorted property, according to our item:</a:t>
            </a:r>
          </a:p>
          <a:p>
            <a:endParaRPr lang="en-US" dirty="0"/>
          </a:p>
          <a:p>
            <a:pPr marL="285750" indent="-285750">
              <a:buFont typeface="Arial" panose="020B0604020202020204" pitchFamily="34" charset="0"/>
              <a:buChar char="•"/>
            </a:pPr>
            <a:r>
              <a:rPr lang="en-US" dirty="0"/>
              <a:t>if it’s “greater”, then we can search in the </a:t>
            </a:r>
            <a:r>
              <a:rPr lang="en-US" dirty="0" err="1"/>
              <a:t>sublist</a:t>
            </a:r>
            <a:r>
              <a:rPr lang="en-US" dirty="0"/>
              <a:t> [MI + 1 ... EI]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it’s “lower”, then we can search in the </a:t>
            </a:r>
            <a:r>
              <a:rPr lang="en-US" dirty="0" err="1"/>
              <a:t>sublist</a:t>
            </a:r>
            <a:r>
              <a:rPr lang="en-US" dirty="0"/>
              <a:t> [SI ... MI - 1]</a:t>
            </a:r>
          </a:p>
          <a:p>
            <a:pPr marL="285750" indent="-285750">
              <a:buFont typeface="Arial" panose="020B0604020202020204" pitchFamily="34" charset="0"/>
              <a:buChar char="•"/>
            </a:pPr>
            <a:endParaRPr lang="en-US" dirty="0"/>
          </a:p>
          <a:p>
            <a:r>
              <a:rPr lang="en-US" dirty="0"/>
              <a:t>By design, at each step, SI and EI move towards each other, dividing by half the </a:t>
            </a:r>
            <a:r>
              <a:rPr lang="en-US" dirty="0" err="1"/>
              <a:t>sublist</a:t>
            </a:r>
            <a:r>
              <a:rPr lang="en-US" dirty="0"/>
              <a:t> size =&gt; log time.</a:t>
            </a:r>
          </a:p>
          <a:p>
            <a:endParaRPr lang="en-US" dirty="0"/>
          </a:p>
          <a:p>
            <a:r>
              <a:rPr lang="en-US" dirty="0"/>
              <a:t>The element is not found if SI &gt;= EI.</a:t>
            </a:r>
          </a:p>
        </p:txBody>
      </p:sp>
    </p:spTree>
    <p:extLst>
      <p:ext uri="{BB962C8B-B14F-4D97-AF65-F5344CB8AC3E}">
        <p14:creationId xmlns:p14="http://schemas.microsoft.com/office/powerpoint/2010/main" val="234912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B9F27-244F-E5F6-26A5-965A164B734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6FCB39-CBAA-1766-B1F0-95437838C7E2}"/>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3715EF86-CC42-5F90-71E8-A9FC525AC689}"/>
              </a:ext>
            </a:extLst>
          </p:cNvPr>
          <p:cNvSpPr txBox="1"/>
          <p:nvPr/>
        </p:nvSpPr>
        <p:spPr>
          <a:xfrm>
            <a:off x="3965577" y="3198167"/>
            <a:ext cx="4260846" cy="461665"/>
          </a:xfrm>
          <a:prstGeom prst="rect">
            <a:avLst/>
          </a:prstGeom>
          <a:noFill/>
        </p:spPr>
        <p:txBody>
          <a:bodyPr wrap="none" rtlCol="0">
            <a:spAutoFit/>
          </a:bodyPr>
          <a:lstStyle/>
          <a:p>
            <a:pPr algn="ctr"/>
            <a:r>
              <a:rPr lang="en-US" sz="2400"/>
              <a:t>Binary search: implementation</a:t>
            </a:r>
          </a:p>
        </p:txBody>
      </p:sp>
    </p:spTree>
    <p:extLst>
      <p:ext uri="{BB962C8B-B14F-4D97-AF65-F5344CB8AC3E}">
        <p14:creationId xmlns:p14="http://schemas.microsoft.com/office/powerpoint/2010/main" val="2332008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F8FAF-624C-D0E7-833E-2B5B9139B8C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6E5260-3CF5-3ACB-1BA9-B97D43ABDF66}"/>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508BF41D-4BA4-E3D5-D65A-903D0866112C}"/>
              </a:ext>
            </a:extLst>
          </p:cNvPr>
          <p:cNvSpPr txBox="1"/>
          <p:nvPr/>
        </p:nvSpPr>
        <p:spPr>
          <a:xfrm>
            <a:off x="430306" y="398033"/>
            <a:ext cx="1124026" cy="461665"/>
          </a:xfrm>
          <a:prstGeom prst="rect">
            <a:avLst/>
          </a:prstGeom>
          <a:noFill/>
        </p:spPr>
        <p:txBody>
          <a:bodyPr wrap="none" rtlCol="0">
            <a:spAutoFit/>
          </a:bodyPr>
          <a:lstStyle/>
          <a:p>
            <a:r>
              <a:rPr lang="en-US" sz="2400"/>
              <a:t>Sorting</a:t>
            </a:r>
          </a:p>
        </p:txBody>
      </p:sp>
      <p:sp>
        <p:nvSpPr>
          <p:cNvPr id="6" name="TextBox 5">
            <a:extLst>
              <a:ext uri="{FF2B5EF4-FFF2-40B4-BE49-F238E27FC236}">
                <a16:creationId xmlns:a16="http://schemas.microsoft.com/office/drawing/2014/main" id="{E26B5D12-F220-BD5B-9C50-9DC1851E67C5}"/>
              </a:ext>
            </a:extLst>
          </p:cNvPr>
          <p:cNvSpPr txBox="1"/>
          <p:nvPr/>
        </p:nvSpPr>
        <p:spPr>
          <a:xfrm>
            <a:off x="430306" y="1222744"/>
            <a:ext cx="7078028" cy="3693319"/>
          </a:xfrm>
          <a:prstGeom prst="rect">
            <a:avLst/>
          </a:prstGeom>
          <a:noFill/>
        </p:spPr>
        <p:txBody>
          <a:bodyPr wrap="none" rtlCol="0">
            <a:spAutoFit/>
          </a:bodyPr>
          <a:lstStyle/>
          <a:p>
            <a:r>
              <a:rPr lang="en-US" dirty="0"/>
              <a:t>Sorting is the process of putting elements of a sequence into an order.</a:t>
            </a:r>
          </a:p>
          <a:p>
            <a:endParaRPr lang="en-US" dirty="0"/>
          </a:p>
          <a:p>
            <a:endParaRPr lang="en-US" dirty="0"/>
          </a:p>
          <a:p>
            <a:r>
              <a:rPr lang="en-US" dirty="0"/>
              <a:t>Main characteristics of a sorting algorithms are:</a:t>
            </a:r>
          </a:p>
          <a:p>
            <a:endParaRPr lang="en-US" dirty="0"/>
          </a:p>
          <a:p>
            <a:pPr marL="285750" indent="-285750">
              <a:buFont typeface="Arial" panose="020B0604020202020204" pitchFamily="34" charset="0"/>
              <a:buChar char="•"/>
            </a:pPr>
            <a:r>
              <a:rPr lang="en-US" dirty="0"/>
              <a:t>Complexity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Memory usage (in-place, out-of-place)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Recursive / non-recursive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Stability</a:t>
            </a:r>
          </a:p>
          <a:p>
            <a:pPr marL="742950" lvl="1" indent="-285750">
              <a:buFont typeface="Arial" panose="020B0604020202020204" pitchFamily="34" charset="0"/>
              <a:buChar char="•"/>
            </a:pPr>
            <a:r>
              <a:rPr lang="en-US" dirty="0"/>
              <a:t>maintain the relative order of equal elements</a:t>
            </a:r>
          </a:p>
        </p:txBody>
      </p:sp>
    </p:spTree>
    <p:extLst>
      <p:ext uri="{BB962C8B-B14F-4D97-AF65-F5344CB8AC3E}">
        <p14:creationId xmlns:p14="http://schemas.microsoft.com/office/powerpoint/2010/main" val="262057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C345C-3FC2-3301-0F21-F298F2C38A9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8C5C0F-C115-2346-EF74-D5B14DD059A8}"/>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0E516138-F0B1-EEC9-8F6D-D46A83E884F0}"/>
              </a:ext>
            </a:extLst>
          </p:cNvPr>
          <p:cNvSpPr txBox="1"/>
          <p:nvPr/>
        </p:nvSpPr>
        <p:spPr>
          <a:xfrm>
            <a:off x="430306" y="398033"/>
            <a:ext cx="2021707" cy="461665"/>
          </a:xfrm>
          <a:prstGeom prst="rect">
            <a:avLst/>
          </a:prstGeom>
          <a:noFill/>
        </p:spPr>
        <p:txBody>
          <a:bodyPr wrap="none" rtlCol="0">
            <a:spAutoFit/>
          </a:bodyPr>
          <a:lstStyle/>
          <a:p>
            <a:r>
              <a:rPr lang="en-US" sz="2400"/>
              <a:t>Selection sort</a:t>
            </a:r>
          </a:p>
        </p:txBody>
      </p:sp>
      <p:sp>
        <p:nvSpPr>
          <p:cNvPr id="6" name="TextBox 5">
            <a:extLst>
              <a:ext uri="{FF2B5EF4-FFF2-40B4-BE49-F238E27FC236}">
                <a16:creationId xmlns:a16="http://schemas.microsoft.com/office/drawing/2014/main" id="{7208FC21-7254-F6CC-BC97-EBD2856546AB}"/>
              </a:ext>
            </a:extLst>
          </p:cNvPr>
          <p:cNvSpPr txBox="1"/>
          <p:nvPr/>
        </p:nvSpPr>
        <p:spPr>
          <a:xfrm>
            <a:off x="430306" y="1222744"/>
            <a:ext cx="11276024" cy="4524315"/>
          </a:xfrm>
          <a:prstGeom prst="rect">
            <a:avLst/>
          </a:prstGeom>
          <a:noFill/>
        </p:spPr>
        <p:txBody>
          <a:bodyPr wrap="square" rtlCol="0">
            <a:spAutoFit/>
          </a:bodyPr>
          <a:lstStyle/>
          <a:p>
            <a:r>
              <a:rPr lang="en-US" dirty="0"/>
              <a:t>Selection sort is a quadratic-time sorting algorithm, based on a continuous search of the ”minimum” element in a </a:t>
            </a:r>
            <a:r>
              <a:rPr lang="en-US" dirty="0" err="1"/>
              <a:t>sublist</a:t>
            </a:r>
            <a:r>
              <a:rPr lang="en-US" dirty="0"/>
              <a:t>, and swapping this element with the one in the first place.</a:t>
            </a:r>
          </a:p>
          <a:p>
            <a:endParaRPr lang="en-US" dirty="0"/>
          </a:p>
          <a:p>
            <a:pPr marL="342900" indent="-342900">
              <a:buFont typeface="+mj-lt"/>
              <a:buAutoNum type="arabicPeriod"/>
            </a:pPr>
            <a:r>
              <a:rPr lang="en-US" dirty="0"/>
              <a:t>Set the start of our search to the first index (SI = 0)</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Search for the minimum element in the index range [SI ... N-1]</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Once the minimum is found at MI-index, do a swap(list[SI], list[MI])</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r>
              <a:rPr lang="en-US" dirty="0"/>
              <a:t>Increment the value of SI and repeat from step (2), until SI reaches N-1.</a:t>
            </a:r>
          </a:p>
          <a:p>
            <a:pPr marL="342900" indent="-342900">
              <a:buFont typeface="+mj-lt"/>
              <a:buAutoNum type="arabicPeriod"/>
            </a:pPr>
            <a:endParaRPr lang="en-US" dirty="0"/>
          </a:p>
          <a:p>
            <a:endParaRPr lang="en-US" dirty="0"/>
          </a:p>
          <a:p>
            <a:r>
              <a:rPr lang="en-US" dirty="0"/>
              <a:t>The algorithm is not stable, swapping can move equal elements past each other.</a:t>
            </a:r>
          </a:p>
        </p:txBody>
      </p:sp>
    </p:spTree>
    <p:extLst>
      <p:ext uri="{BB962C8B-B14F-4D97-AF65-F5344CB8AC3E}">
        <p14:creationId xmlns:p14="http://schemas.microsoft.com/office/powerpoint/2010/main" val="194032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F6F84-0CE8-C94F-66D3-D1815BE2766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FE38F90-35BD-9BA1-4CC0-F3B37C826628}"/>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7E79FA9A-5905-C89F-2236-748A4B9DAD7C}"/>
              </a:ext>
            </a:extLst>
          </p:cNvPr>
          <p:cNvSpPr txBox="1"/>
          <p:nvPr/>
        </p:nvSpPr>
        <p:spPr>
          <a:xfrm>
            <a:off x="3919314" y="3198167"/>
            <a:ext cx="4353372" cy="461665"/>
          </a:xfrm>
          <a:prstGeom prst="rect">
            <a:avLst/>
          </a:prstGeom>
          <a:noFill/>
        </p:spPr>
        <p:txBody>
          <a:bodyPr wrap="none" rtlCol="0">
            <a:spAutoFit/>
          </a:bodyPr>
          <a:lstStyle/>
          <a:p>
            <a:pPr algn="ctr"/>
            <a:r>
              <a:rPr lang="en-US" sz="2400"/>
              <a:t>Selection sort: implementation</a:t>
            </a:r>
          </a:p>
        </p:txBody>
      </p:sp>
    </p:spTree>
    <p:extLst>
      <p:ext uri="{BB962C8B-B14F-4D97-AF65-F5344CB8AC3E}">
        <p14:creationId xmlns:p14="http://schemas.microsoft.com/office/powerpoint/2010/main" val="4219879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59175-572B-4D4B-6E2D-7F2D592A4C6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112637-13B0-EE55-9A71-C0BB8CFBF849}"/>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21F41777-3EFC-7058-C01B-1B22CC67FF43}"/>
              </a:ext>
            </a:extLst>
          </p:cNvPr>
          <p:cNvSpPr txBox="1"/>
          <p:nvPr/>
        </p:nvSpPr>
        <p:spPr>
          <a:xfrm>
            <a:off x="430306" y="398033"/>
            <a:ext cx="1713931" cy="461665"/>
          </a:xfrm>
          <a:prstGeom prst="rect">
            <a:avLst/>
          </a:prstGeom>
          <a:noFill/>
        </p:spPr>
        <p:txBody>
          <a:bodyPr wrap="none" rtlCol="0">
            <a:spAutoFit/>
          </a:bodyPr>
          <a:lstStyle/>
          <a:p>
            <a:r>
              <a:rPr lang="en-US" sz="2400"/>
              <a:t>Bubble sort</a:t>
            </a:r>
          </a:p>
        </p:txBody>
      </p:sp>
      <p:sp>
        <p:nvSpPr>
          <p:cNvPr id="6" name="TextBox 5">
            <a:extLst>
              <a:ext uri="{FF2B5EF4-FFF2-40B4-BE49-F238E27FC236}">
                <a16:creationId xmlns:a16="http://schemas.microsoft.com/office/drawing/2014/main" id="{DE04DC49-118B-ABAE-3F85-F02C697A5803}"/>
              </a:ext>
            </a:extLst>
          </p:cNvPr>
          <p:cNvSpPr txBox="1"/>
          <p:nvPr/>
        </p:nvSpPr>
        <p:spPr>
          <a:xfrm>
            <a:off x="430306" y="1222744"/>
            <a:ext cx="11555984" cy="3970318"/>
          </a:xfrm>
          <a:prstGeom prst="rect">
            <a:avLst/>
          </a:prstGeom>
          <a:noFill/>
        </p:spPr>
        <p:txBody>
          <a:bodyPr wrap="none" rtlCol="0">
            <a:spAutoFit/>
          </a:bodyPr>
          <a:lstStyle/>
          <a:p>
            <a:r>
              <a:rPr lang="en-US"/>
              <a:t>Bubble sort is a quadratic –time sorting algorithm that uses the idea that lighter elements move up in the collection,</a:t>
            </a:r>
            <a:br>
              <a:rPr lang="en-US"/>
            </a:br>
            <a:r>
              <a:rPr lang="en-US"/>
              <a:t>heavier elements move down.</a:t>
            </a:r>
          </a:p>
          <a:p>
            <a:endParaRPr lang="en-US"/>
          </a:p>
          <a:p>
            <a:endParaRPr lang="en-US"/>
          </a:p>
          <a:p>
            <a:pPr marL="342900" indent="-342900">
              <a:buFont typeface="+mj-lt"/>
              <a:buAutoNum type="arabicPeriod"/>
            </a:pPr>
            <a:r>
              <a:rPr lang="en-US"/>
              <a:t>Traverse the sequence from first index</a:t>
            </a:r>
          </a:p>
          <a:p>
            <a:pPr marL="342900" indent="-342900">
              <a:buFont typeface="+mj-lt"/>
              <a:buAutoNum type="arabicPeriod"/>
            </a:pPr>
            <a:endParaRPr lang="en-US"/>
          </a:p>
          <a:p>
            <a:pPr marL="342900" indent="-342900">
              <a:buFont typeface="+mj-lt"/>
              <a:buAutoNum type="arabicPeriod"/>
            </a:pPr>
            <a:endParaRPr lang="en-US"/>
          </a:p>
          <a:p>
            <a:pPr marL="342900" indent="-342900">
              <a:buFont typeface="+mj-lt"/>
              <a:buAutoNum type="arabicPeriod"/>
            </a:pPr>
            <a:r>
              <a:rPr lang="en-US"/>
              <a:t>At each step, swap any element with the following that is not in order</a:t>
            </a:r>
          </a:p>
          <a:p>
            <a:pPr marL="342900" indent="-342900">
              <a:buFont typeface="+mj-lt"/>
              <a:buAutoNum type="arabicPeriod"/>
            </a:pPr>
            <a:endParaRPr lang="en-US"/>
          </a:p>
          <a:p>
            <a:pPr marL="342900" indent="-342900">
              <a:buFont typeface="+mj-lt"/>
              <a:buAutoNum type="arabicPeriod"/>
            </a:pPr>
            <a:endParaRPr lang="en-US"/>
          </a:p>
          <a:p>
            <a:pPr marL="342900" indent="-342900">
              <a:buFont typeface="+mj-lt"/>
              <a:buAutoNum type="arabicPeriod"/>
            </a:pPr>
            <a:r>
              <a:rPr lang="en-US"/>
              <a:t>Repeat from point 1, as long as there’s at least one swap action</a:t>
            </a:r>
          </a:p>
          <a:p>
            <a:pPr marL="342900" indent="-342900">
              <a:buFont typeface="+mj-lt"/>
              <a:buAutoNum type="arabicPeriod"/>
            </a:pPr>
            <a:endParaRPr lang="en-US"/>
          </a:p>
          <a:p>
            <a:pPr marL="342900" indent="-342900">
              <a:buFont typeface="+mj-lt"/>
              <a:buAutoNum type="arabicPeriod"/>
            </a:pPr>
            <a:endParaRPr lang="en-US"/>
          </a:p>
          <a:p>
            <a:r>
              <a:rPr lang="en-US"/>
              <a:t>The algorithm is stable.</a:t>
            </a:r>
          </a:p>
        </p:txBody>
      </p:sp>
    </p:spTree>
    <p:extLst>
      <p:ext uri="{BB962C8B-B14F-4D97-AF65-F5344CB8AC3E}">
        <p14:creationId xmlns:p14="http://schemas.microsoft.com/office/powerpoint/2010/main" val="373709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B2AEF-526E-C02D-3583-5351BD55F53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6063C6-96F4-25C7-6F02-EC9F516E4EB1}"/>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2DDB04FC-6626-A25C-B692-A9F021AAB2A2}"/>
              </a:ext>
            </a:extLst>
          </p:cNvPr>
          <p:cNvSpPr txBox="1"/>
          <p:nvPr/>
        </p:nvSpPr>
        <p:spPr>
          <a:xfrm>
            <a:off x="4104461" y="3198167"/>
            <a:ext cx="3983078" cy="461665"/>
          </a:xfrm>
          <a:prstGeom prst="rect">
            <a:avLst/>
          </a:prstGeom>
          <a:noFill/>
        </p:spPr>
        <p:txBody>
          <a:bodyPr wrap="none" rtlCol="0">
            <a:spAutoFit/>
          </a:bodyPr>
          <a:lstStyle/>
          <a:p>
            <a:pPr algn="ctr"/>
            <a:r>
              <a:rPr lang="en-US" sz="2400"/>
              <a:t>Bubble sort: implementation</a:t>
            </a:r>
          </a:p>
        </p:txBody>
      </p:sp>
    </p:spTree>
    <p:extLst>
      <p:ext uri="{BB962C8B-B14F-4D97-AF65-F5344CB8AC3E}">
        <p14:creationId xmlns:p14="http://schemas.microsoft.com/office/powerpoint/2010/main" val="3877335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6864-2989-5A0E-245B-CF84EE2B1C6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745565-7697-1971-2728-E8A3EDAC9149}"/>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F082A350-5DC5-5A00-6CB7-9E8E9309FFAD}"/>
              </a:ext>
            </a:extLst>
          </p:cNvPr>
          <p:cNvSpPr txBox="1"/>
          <p:nvPr/>
        </p:nvSpPr>
        <p:spPr>
          <a:xfrm>
            <a:off x="430306" y="398033"/>
            <a:ext cx="1483676" cy="461665"/>
          </a:xfrm>
          <a:prstGeom prst="rect">
            <a:avLst/>
          </a:prstGeom>
          <a:noFill/>
        </p:spPr>
        <p:txBody>
          <a:bodyPr wrap="none" rtlCol="0">
            <a:spAutoFit/>
          </a:bodyPr>
          <a:lstStyle/>
          <a:p>
            <a:r>
              <a:rPr lang="en-US" sz="2400"/>
              <a:t>Quicksort</a:t>
            </a:r>
          </a:p>
        </p:txBody>
      </p:sp>
      <p:sp>
        <p:nvSpPr>
          <p:cNvPr id="6" name="TextBox 5">
            <a:extLst>
              <a:ext uri="{FF2B5EF4-FFF2-40B4-BE49-F238E27FC236}">
                <a16:creationId xmlns:a16="http://schemas.microsoft.com/office/drawing/2014/main" id="{F4B05886-BA2B-5384-F7EC-BA37D3BFE97D}"/>
              </a:ext>
            </a:extLst>
          </p:cNvPr>
          <p:cNvSpPr txBox="1"/>
          <p:nvPr/>
        </p:nvSpPr>
        <p:spPr>
          <a:xfrm>
            <a:off x="430306" y="1001038"/>
            <a:ext cx="10803855" cy="5078313"/>
          </a:xfrm>
          <a:prstGeom prst="rect">
            <a:avLst/>
          </a:prstGeom>
          <a:noFill/>
        </p:spPr>
        <p:txBody>
          <a:bodyPr wrap="none" rtlCol="0">
            <a:spAutoFit/>
          </a:bodyPr>
          <a:lstStyle/>
          <a:p>
            <a:r>
              <a:rPr lang="en-US" dirty="0"/>
              <a:t>Quick sort is a divide-and-conquer sorting algorithm based on partitioning and recursion.</a:t>
            </a:r>
          </a:p>
          <a:p>
            <a:endParaRPr lang="en-US" dirty="0"/>
          </a:p>
          <a:p>
            <a:pPr marL="342900" indent="-342900">
              <a:buFont typeface="+mj-lt"/>
              <a:buAutoNum type="arabicPeriod"/>
            </a:pPr>
            <a:r>
              <a:rPr lang="en-US" dirty="0"/>
              <a:t>Select a pivot element (usually the first element) on a list with ranges [start ... end]</a:t>
            </a:r>
          </a:p>
          <a:p>
            <a:pPr marL="342900" indent="-342900">
              <a:buFont typeface="+mj-lt"/>
              <a:buAutoNum type="arabicPeriod"/>
            </a:pPr>
            <a:endParaRPr lang="en-US" dirty="0"/>
          </a:p>
          <a:p>
            <a:pPr marL="342900" indent="-342900">
              <a:buFont typeface="+mj-lt"/>
              <a:buAutoNum type="arabicPeriod"/>
            </a:pPr>
            <a:r>
              <a:rPr lang="en-US" dirty="0"/>
              <a:t>Use two cursors, L and R, with L set to pivot position + 1, R to pivot position – 1</a:t>
            </a:r>
          </a:p>
          <a:p>
            <a:pPr marL="342900" indent="-342900">
              <a:buFont typeface="+mj-lt"/>
              <a:buAutoNum type="arabicPeriod"/>
            </a:pPr>
            <a:endParaRPr lang="en-US" dirty="0"/>
          </a:p>
          <a:p>
            <a:pPr marL="342900" indent="-342900">
              <a:buFont typeface="+mj-lt"/>
              <a:buAutoNum type="arabicPeriod"/>
            </a:pPr>
            <a:r>
              <a:rPr lang="en-US" dirty="0"/>
              <a:t>Move L to right and R to left until they both have an element greater than the pivot (pointed by L)</a:t>
            </a:r>
            <a:br>
              <a:rPr lang="en-US" dirty="0"/>
            </a:br>
            <a:r>
              <a:rPr lang="en-US" dirty="0"/>
              <a:t>and lower or equal than pivot (pointed by R). If so, swap them.</a:t>
            </a:r>
          </a:p>
          <a:p>
            <a:pPr marL="342900" indent="-342900">
              <a:buFont typeface="+mj-lt"/>
              <a:buAutoNum type="arabicPeriod"/>
            </a:pPr>
            <a:endParaRPr lang="en-US" dirty="0"/>
          </a:p>
          <a:p>
            <a:pPr marL="342900" indent="-342900">
              <a:buFont typeface="+mj-lt"/>
              <a:buAutoNum type="arabicPeriod"/>
            </a:pPr>
            <a:r>
              <a:rPr lang="en-US" dirty="0"/>
              <a:t>Repeat (3) until L &gt; R.</a:t>
            </a:r>
          </a:p>
          <a:p>
            <a:pPr marL="342900" indent="-342900">
              <a:buFont typeface="+mj-lt"/>
              <a:buAutoNum type="arabicPeriod"/>
            </a:pPr>
            <a:endParaRPr lang="en-US" dirty="0"/>
          </a:p>
          <a:p>
            <a:pPr marL="342900" indent="-342900">
              <a:buFont typeface="+mj-lt"/>
              <a:buAutoNum type="arabicPeriod"/>
            </a:pPr>
            <a:r>
              <a:rPr lang="en-US" dirty="0"/>
              <a:t>Return R as the new pivot index</a:t>
            </a:r>
          </a:p>
          <a:p>
            <a:pPr marL="342900" indent="-342900">
              <a:buFont typeface="+mj-lt"/>
              <a:buAutoNum type="arabicPeriod"/>
            </a:pPr>
            <a:endParaRPr lang="en-US" dirty="0"/>
          </a:p>
          <a:p>
            <a:pPr marL="342900" indent="-342900">
              <a:buFont typeface="+mj-lt"/>
              <a:buAutoNum type="arabicPeriod"/>
            </a:pPr>
            <a:r>
              <a:rPr lang="en-US" dirty="0"/>
              <a:t>Recurse the algorithm (1-5) on two </a:t>
            </a:r>
            <a:r>
              <a:rPr lang="en-US" dirty="0" err="1"/>
              <a:t>sublists</a:t>
            </a:r>
            <a:r>
              <a:rPr lang="en-US" dirty="0"/>
              <a:t>, one between start and pivot-pos – 1, the other between</a:t>
            </a:r>
            <a:br>
              <a:rPr lang="en-US" dirty="0"/>
            </a:br>
            <a:r>
              <a:rPr lang="en-US" dirty="0"/>
              <a:t>pivot-pos + 1 and end. If a </a:t>
            </a:r>
            <a:r>
              <a:rPr lang="en-US" dirty="0" err="1"/>
              <a:t>sublist</a:t>
            </a:r>
            <a:r>
              <a:rPr lang="en-US" dirty="0"/>
              <a:t> contains only two elements, either they are in order, or just swap them.</a:t>
            </a:r>
            <a:br>
              <a:rPr lang="en-US" dirty="0"/>
            </a:br>
            <a:r>
              <a:rPr lang="en-US" dirty="0"/>
              <a:t>If the </a:t>
            </a:r>
            <a:r>
              <a:rPr lang="en-US" dirty="0" err="1"/>
              <a:t>sublist</a:t>
            </a:r>
            <a:r>
              <a:rPr lang="en-US" dirty="0"/>
              <a:t> contains zero or one element, there’s nothing to do.</a:t>
            </a:r>
          </a:p>
          <a:p>
            <a:pPr marL="342900" indent="-342900">
              <a:buFont typeface="+mj-lt"/>
              <a:buAutoNum type="arabicPeriod"/>
            </a:pPr>
            <a:endParaRPr lang="en-US" dirty="0"/>
          </a:p>
          <a:p>
            <a:r>
              <a:rPr lang="en-US" dirty="0"/>
              <a:t>The algorithm is not stable.</a:t>
            </a:r>
          </a:p>
        </p:txBody>
      </p:sp>
    </p:spTree>
    <p:extLst>
      <p:ext uri="{BB962C8B-B14F-4D97-AF65-F5344CB8AC3E}">
        <p14:creationId xmlns:p14="http://schemas.microsoft.com/office/powerpoint/2010/main" val="418593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537F8-A456-533E-A6FF-DAEDEE2B43B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4AE412-634E-86F5-E397-076AA1A131A4}"/>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DA3804F4-1590-CEE3-EC3A-AB3304A8FB88}"/>
              </a:ext>
            </a:extLst>
          </p:cNvPr>
          <p:cNvSpPr txBox="1"/>
          <p:nvPr/>
        </p:nvSpPr>
        <p:spPr>
          <a:xfrm>
            <a:off x="4186214" y="3198167"/>
            <a:ext cx="3819572" cy="461665"/>
          </a:xfrm>
          <a:prstGeom prst="rect">
            <a:avLst/>
          </a:prstGeom>
          <a:noFill/>
        </p:spPr>
        <p:txBody>
          <a:bodyPr wrap="none" rtlCol="0">
            <a:spAutoFit/>
          </a:bodyPr>
          <a:lstStyle/>
          <a:p>
            <a:pPr algn="ctr"/>
            <a:r>
              <a:rPr lang="en-US" sz="2400"/>
              <a:t>Quicksort: implementation</a:t>
            </a:r>
          </a:p>
        </p:txBody>
      </p:sp>
    </p:spTree>
    <p:extLst>
      <p:ext uri="{BB962C8B-B14F-4D97-AF65-F5344CB8AC3E}">
        <p14:creationId xmlns:p14="http://schemas.microsoft.com/office/powerpoint/2010/main" val="51253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E51ED-04D2-7187-CF81-688691BFD82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430CC1D-7A36-BBF8-036D-8B23F525FB73}"/>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7ABC4671-977C-DD02-B9B4-BED639AB7E71}"/>
              </a:ext>
            </a:extLst>
          </p:cNvPr>
          <p:cNvSpPr txBox="1"/>
          <p:nvPr/>
        </p:nvSpPr>
        <p:spPr>
          <a:xfrm>
            <a:off x="430306" y="398033"/>
            <a:ext cx="1229247" cy="461665"/>
          </a:xfrm>
          <a:prstGeom prst="rect">
            <a:avLst/>
          </a:prstGeom>
          <a:noFill/>
        </p:spPr>
        <p:txBody>
          <a:bodyPr wrap="none" rtlCol="0">
            <a:spAutoFit/>
          </a:bodyPr>
          <a:lstStyle/>
          <a:p>
            <a:r>
              <a:rPr lang="en-US" sz="2400"/>
              <a:t>Merging</a:t>
            </a:r>
          </a:p>
        </p:txBody>
      </p:sp>
      <p:sp>
        <p:nvSpPr>
          <p:cNvPr id="6" name="TextBox 5">
            <a:extLst>
              <a:ext uri="{FF2B5EF4-FFF2-40B4-BE49-F238E27FC236}">
                <a16:creationId xmlns:a16="http://schemas.microsoft.com/office/drawing/2014/main" id="{69998F1B-0129-789D-F0F6-627496670069}"/>
              </a:ext>
            </a:extLst>
          </p:cNvPr>
          <p:cNvSpPr txBox="1"/>
          <p:nvPr/>
        </p:nvSpPr>
        <p:spPr>
          <a:xfrm>
            <a:off x="430306" y="1222744"/>
            <a:ext cx="11140229" cy="2862322"/>
          </a:xfrm>
          <a:prstGeom prst="rect">
            <a:avLst/>
          </a:prstGeom>
          <a:noFill/>
        </p:spPr>
        <p:txBody>
          <a:bodyPr wrap="none" rtlCol="0">
            <a:spAutoFit/>
          </a:bodyPr>
          <a:lstStyle/>
          <a:p>
            <a:r>
              <a:rPr lang="en-US"/>
              <a:t>Merging is the process of putting elements coming from two sorted sequences in one, preserving the order rule.</a:t>
            </a:r>
          </a:p>
          <a:p>
            <a:endParaRPr lang="en-US"/>
          </a:p>
          <a:p>
            <a:endParaRPr lang="en-US"/>
          </a:p>
          <a:p>
            <a:pPr marL="342900" indent="-342900">
              <a:buFont typeface="+mj-lt"/>
              <a:buAutoNum type="arabicPeriod"/>
            </a:pPr>
            <a:r>
              <a:rPr lang="en-US"/>
              <a:t>Given two input sequences, with length n and m, create a new sequence with length n + m.</a:t>
            </a:r>
          </a:p>
          <a:p>
            <a:pPr marL="342900" indent="-342900">
              <a:buFont typeface="+mj-lt"/>
              <a:buAutoNum type="arabicPeriod"/>
            </a:pPr>
            <a:endParaRPr lang="en-US"/>
          </a:p>
          <a:p>
            <a:pPr marL="342900" indent="-342900">
              <a:buFont typeface="+mj-lt"/>
              <a:buAutoNum type="arabicPeriod"/>
            </a:pPr>
            <a:r>
              <a:rPr lang="en-US"/>
              <a:t>Set two cursors, one of each sequence</a:t>
            </a:r>
          </a:p>
          <a:p>
            <a:pPr marL="342900" indent="-342900">
              <a:buFont typeface="+mj-lt"/>
              <a:buAutoNum type="arabicPeriod"/>
            </a:pPr>
            <a:endParaRPr lang="en-US"/>
          </a:p>
          <a:p>
            <a:pPr marL="342900" indent="-342900">
              <a:buFont typeface="+mj-lt"/>
              <a:buAutoNum type="arabicPeriod"/>
            </a:pPr>
            <a:r>
              <a:rPr lang="en-US"/>
              <a:t>Copy the lowest element and move the corresponding cursor</a:t>
            </a:r>
          </a:p>
          <a:p>
            <a:pPr marL="342900" indent="-342900">
              <a:buFont typeface="+mj-lt"/>
              <a:buAutoNum type="arabicPeriod"/>
            </a:pPr>
            <a:endParaRPr lang="en-US"/>
          </a:p>
          <a:p>
            <a:pPr marL="342900" indent="-342900">
              <a:buFont typeface="+mj-lt"/>
              <a:buAutoNum type="arabicPeriod"/>
            </a:pPr>
            <a:r>
              <a:rPr lang="en-US"/>
              <a:t>Repeat 3 until all the two sequences have been traversed</a:t>
            </a:r>
          </a:p>
        </p:txBody>
      </p:sp>
    </p:spTree>
    <p:extLst>
      <p:ext uri="{BB962C8B-B14F-4D97-AF65-F5344CB8AC3E}">
        <p14:creationId xmlns:p14="http://schemas.microsoft.com/office/powerpoint/2010/main" val="37026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73386-C22F-CD84-2AD3-C465909B5E5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1C6B7AD-AF75-E324-F08D-E5D82F924A7B}"/>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3DCE7994-7242-843D-A985-C1B532B1D004}"/>
              </a:ext>
            </a:extLst>
          </p:cNvPr>
          <p:cNvSpPr txBox="1"/>
          <p:nvPr/>
        </p:nvSpPr>
        <p:spPr>
          <a:xfrm>
            <a:off x="4463341" y="3198167"/>
            <a:ext cx="3265317" cy="461665"/>
          </a:xfrm>
          <a:prstGeom prst="rect">
            <a:avLst/>
          </a:prstGeom>
          <a:noFill/>
        </p:spPr>
        <p:txBody>
          <a:bodyPr wrap="none" rtlCol="0">
            <a:spAutoFit/>
          </a:bodyPr>
          <a:lstStyle/>
          <a:p>
            <a:pPr algn="ctr"/>
            <a:r>
              <a:rPr lang="en-US" sz="2400"/>
              <a:t>Merge: implementation</a:t>
            </a:r>
          </a:p>
        </p:txBody>
      </p:sp>
    </p:spTree>
    <p:extLst>
      <p:ext uri="{BB962C8B-B14F-4D97-AF65-F5344CB8AC3E}">
        <p14:creationId xmlns:p14="http://schemas.microsoft.com/office/powerpoint/2010/main" val="3586468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A401B-8096-949D-956C-D01D2206BAB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6923C6-CB27-94EF-8E68-4B3DB59D5CB8}"/>
              </a:ext>
            </a:extLst>
          </p:cNvPr>
          <p:cNvSpPr>
            <a:spLocks noGrp="1"/>
          </p:cNvSpPr>
          <p:nvPr>
            <p:ph type="ftr" sz="quarter" idx="11"/>
          </p:nvPr>
        </p:nvSpPr>
        <p:spPr/>
        <p:txBody>
          <a:bodyPr/>
          <a:lstStyle/>
          <a:p>
            <a:r>
              <a:rPr lang="en-US"/>
              <a:t>Programming II - Searching, sorting and merging</a:t>
            </a:r>
          </a:p>
        </p:txBody>
      </p:sp>
      <p:sp>
        <p:nvSpPr>
          <p:cNvPr id="3" name="TextBox 2">
            <a:extLst>
              <a:ext uri="{FF2B5EF4-FFF2-40B4-BE49-F238E27FC236}">
                <a16:creationId xmlns:a16="http://schemas.microsoft.com/office/drawing/2014/main" id="{D13CF954-9143-0FC6-FB7B-C7797102F80F}"/>
              </a:ext>
            </a:extLst>
          </p:cNvPr>
          <p:cNvSpPr txBox="1"/>
          <p:nvPr/>
        </p:nvSpPr>
        <p:spPr>
          <a:xfrm>
            <a:off x="2101285" y="3013501"/>
            <a:ext cx="7989430" cy="830997"/>
          </a:xfrm>
          <a:prstGeom prst="rect">
            <a:avLst/>
          </a:prstGeom>
          <a:noFill/>
        </p:spPr>
        <p:txBody>
          <a:bodyPr wrap="none" rtlCol="0">
            <a:spAutoFit/>
          </a:bodyPr>
          <a:lstStyle/>
          <a:p>
            <a:pPr algn="ctr"/>
            <a:r>
              <a:rPr lang="en-US" sz="2400"/>
              <a:t>Exercise: merge two linked lists without creating a new one,</a:t>
            </a:r>
            <a:br>
              <a:rPr lang="en-US" sz="2400"/>
            </a:br>
            <a:r>
              <a:rPr lang="en-US" sz="2400"/>
              <a:t>just move the pointers!</a:t>
            </a:r>
          </a:p>
        </p:txBody>
      </p:sp>
    </p:spTree>
    <p:extLst>
      <p:ext uri="{BB962C8B-B14F-4D97-AF65-F5344CB8AC3E}">
        <p14:creationId xmlns:p14="http://schemas.microsoft.com/office/powerpoint/2010/main" val="3365050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1e9b6e7-e4bc-422b-b136-be52bca82e7c}" enabled="1" method="Privilege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1856</TotalTime>
  <Words>1068</Words>
  <Application>Microsoft Macintosh PowerPoint</Application>
  <PresentationFormat>Widescreen</PresentationFormat>
  <Paragraphs>139</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 Monaco, Antonio</dc:creator>
  <cp:lastModifiedBy>Di Monaco, Antonio</cp:lastModifiedBy>
  <cp:revision>48</cp:revision>
  <dcterms:created xsi:type="dcterms:W3CDTF">2025-02-17T20:26:07Z</dcterms:created>
  <dcterms:modified xsi:type="dcterms:W3CDTF">2026-06-26T19:53:58Z</dcterms:modified>
</cp:coreProperties>
</file>