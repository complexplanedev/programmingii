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58"/>
  </p:normalViewPr>
  <p:slideViewPr>
    <p:cSldViewPr snapToGrid="0">
      <p:cViewPr varScale="1">
        <p:scale>
          <a:sx n="78" d="100"/>
          <a:sy n="78"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E07293-F053-7B40-A228-5F1A48558100}" type="datetimeFigureOut">
              <a:rPr lang="en-US" smtClean="0"/>
              <a:t>20-May-26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A41D49-4EEF-854E-9DDE-8BC5FEFD0847}" type="slidenum">
              <a:rPr lang="en-US" smtClean="0"/>
              <a:t>‹#›</a:t>
            </a:fld>
            <a:endParaRPr lang="en-US"/>
          </a:p>
        </p:txBody>
      </p:sp>
    </p:spTree>
    <p:extLst>
      <p:ext uri="{BB962C8B-B14F-4D97-AF65-F5344CB8AC3E}">
        <p14:creationId xmlns:p14="http://schemas.microsoft.com/office/powerpoint/2010/main" val="151055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5439B-63FB-6C79-15F1-BAA1C47C7A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A9E2CF-704F-6F6C-0426-B7F84FC246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B6FD8C-3A3D-445A-213A-CF6B71BA3ED7}"/>
              </a:ext>
            </a:extLst>
          </p:cNvPr>
          <p:cNvSpPr>
            <a:spLocks noGrp="1"/>
          </p:cNvSpPr>
          <p:nvPr>
            <p:ph type="dt" sz="half" idx="10"/>
          </p:nvPr>
        </p:nvSpPr>
        <p:spPr/>
        <p:txBody>
          <a:bodyPr/>
          <a:lstStyle/>
          <a:p>
            <a:fld id="{5894ABAF-98EB-2B4F-ADBB-46236AF87280}" type="datetime1">
              <a:t>20-May-26</a:t>
            </a:fld>
            <a:endParaRPr lang="en-US"/>
          </a:p>
        </p:txBody>
      </p:sp>
      <p:sp>
        <p:nvSpPr>
          <p:cNvPr id="5" name="Footer Placeholder 4">
            <a:extLst>
              <a:ext uri="{FF2B5EF4-FFF2-40B4-BE49-F238E27FC236}">
                <a16:creationId xmlns:a16="http://schemas.microsoft.com/office/drawing/2014/main" id="{2D47CA33-588F-4EAC-C341-1447D02D862E}"/>
              </a:ext>
            </a:extLst>
          </p:cNvPr>
          <p:cNvSpPr>
            <a:spLocks noGrp="1"/>
          </p:cNvSpPr>
          <p:nvPr>
            <p:ph type="ftr" sz="quarter" idx="11"/>
          </p:nvPr>
        </p:nvSpPr>
        <p:spPr/>
        <p:txBody>
          <a:bodyPr/>
          <a:lstStyle/>
          <a:p>
            <a:r>
              <a:rPr lang="en-US"/>
              <a:t>Programming II - Debugging</a:t>
            </a:r>
          </a:p>
        </p:txBody>
      </p:sp>
      <p:sp>
        <p:nvSpPr>
          <p:cNvPr id="6" name="Slide Number Placeholder 5">
            <a:extLst>
              <a:ext uri="{FF2B5EF4-FFF2-40B4-BE49-F238E27FC236}">
                <a16:creationId xmlns:a16="http://schemas.microsoft.com/office/drawing/2014/main" id="{0C43C2CF-CA0A-CFA0-6B58-37C42242B85F}"/>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2518665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B5E98-1E0A-5C06-1F5F-DEBE421CE8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B92E38-AE1D-142D-1A59-8A0F47F9C3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144205-A97E-5C80-20A0-4B68B7652BA0}"/>
              </a:ext>
            </a:extLst>
          </p:cNvPr>
          <p:cNvSpPr>
            <a:spLocks noGrp="1"/>
          </p:cNvSpPr>
          <p:nvPr>
            <p:ph type="dt" sz="half" idx="10"/>
          </p:nvPr>
        </p:nvSpPr>
        <p:spPr/>
        <p:txBody>
          <a:bodyPr/>
          <a:lstStyle/>
          <a:p>
            <a:fld id="{70F479C2-C6F3-DE4A-A4C6-D6CAF5845590}" type="datetime1">
              <a:t>20-May-26</a:t>
            </a:fld>
            <a:endParaRPr lang="en-US"/>
          </a:p>
        </p:txBody>
      </p:sp>
      <p:sp>
        <p:nvSpPr>
          <p:cNvPr id="5" name="Footer Placeholder 4">
            <a:extLst>
              <a:ext uri="{FF2B5EF4-FFF2-40B4-BE49-F238E27FC236}">
                <a16:creationId xmlns:a16="http://schemas.microsoft.com/office/drawing/2014/main" id="{018D4116-E39C-BD33-E13E-AF18EB8A1893}"/>
              </a:ext>
            </a:extLst>
          </p:cNvPr>
          <p:cNvSpPr>
            <a:spLocks noGrp="1"/>
          </p:cNvSpPr>
          <p:nvPr>
            <p:ph type="ftr" sz="quarter" idx="11"/>
          </p:nvPr>
        </p:nvSpPr>
        <p:spPr/>
        <p:txBody>
          <a:bodyPr/>
          <a:lstStyle/>
          <a:p>
            <a:r>
              <a:rPr lang="en-US"/>
              <a:t>Programming II - Debugging</a:t>
            </a:r>
          </a:p>
        </p:txBody>
      </p:sp>
      <p:sp>
        <p:nvSpPr>
          <p:cNvPr id="6" name="Slide Number Placeholder 5">
            <a:extLst>
              <a:ext uri="{FF2B5EF4-FFF2-40B4-BE49-F238E27FC236}">
                <a16:creationId xmlns:a16="http://schemas.microsoft.com/office/drawing/2014/main" id="{93C89E9A-B868-FE52-8CFE-6891962159B4}"/>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1031612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928CB-C549-0CDB-FB0B-590D1E78FF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F19BA9-E540-1566-4B2B-E59034E89FD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436ECF-E7C9-D6D6-EE13-5AE0213736A4}"/>
              </a:ext>
            </a:extLst>
          </p:cNvPr>
          <p:cNvSpPr>
            <a:spLocks noGrp="1"/>
          </p:cNvSpPr>
          <p:nvPr>
            <p:ph type="dt" sz="half" idx="10"/>
          </p:nvPr>
        </p:nvSpPr>
        <p:spPr/>
        <p:txBody>
          <a:bodyPr/>
          <a:lstStyle/>
          <a:p>
            <a:fld id="{BEFCC336-D274-FB40-956D-4E814CA192E9}" type="datetime1">
              <a:t>20-May-26</a:t>
            </a:fld>
            <a:endParaRPr lang="en-US"/>
          </a:p>
        </p:txBody>
      </p:sp>
      <p:sp>
        <p:nvSpPr>
          <p:cNvPr id="5" name="Footer Placeholder 4">
            <a:extLst>
              <a:ext uri="{FF2B5EF4-FFF2-40B4-BE49-F238E27FC236}">
                <a16:creationId xmlns:a16="http://schemas.microsoft.com/office/drawing/2014/main" id="{5C639BBF-4527-08FB-EACA-DCAD12194EE8}"/>
              </a:ext>
            </a:extLst>
          </p:cNvPr>
          <p:cNvSpPr>
            <a:spLocks noGrp="1"/>
          </p:cNvSpPr>
          <p:nvPr>
            <p:ph type="ftr" sz="quarter" idx="11"/>
          </p:nvPr>
        </p:nvSpPr>
        <p:spPr/>
        <p:txBody>
          <a:bodyPr/>
          <a:lstStyle/>
          <a:p>
            <a:r>
              <a:rPr lang="en-US"/>
              <a:t>Programming II - Debugging</a:t>
            </a:r>
          </a:p>
        </p:txBody>
      </p:sp>
      <p:sp>
        <p:nvSpPr>
          <p:cNvPr id="6" name="Slide Number Placeholder 5">
            <a:extLst>
              <a:ext uri="{FF2B5EF4-FFF2-40B4-BE49-F238E27FC236}">
                <a16:creationId xmlns:a16="http://schemas.microsoft.com/office/drawing/2014/main" id="{F2806293-AE67-6245-643E-B715DC4501D1}"/>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3623531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D51C7-AD92-09E3-6E4E-47CA0921C6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547D2D-1F7F-2B3D-CA36-7D64AE0757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88E74B-CD91-A054-ADC9-1EFCB77852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022C44-3D99-F76D-41A0-E73C8318A641}"/>
              </a:ext>
            </a:extLst>
          </p:cNvPr>
          <p:cNvSpPr>
            <a:spLocks noGrp="1"/>
          </p:cNvSpPr>
          <p:nvPr>
            <p:ph type="dt" sz="half" idx="10"/>
          </p:nvPr>
        </p:nvSpPr>
        <p:spPr/>
        <p:txBody>
          <a:bodyPr/>
          <a:lstStyle/>
          <a:p>
            <a:fld id="{5ACDBC80-5585-4A40-A09B-DCD5AAEF4ACF}" type="datetime1">
              <a:t>20-May-26</a:t>
            </a:fld>
            <a:endParaRPr lang="en-US"/>
          </a:p>
        </p:txBody>
      </p:sp>
      <p:sp>
        <p:nvSpPr>
          <p:cNvPr id="6" name="Footer Placeholder 5">
            <a:extLst>
              <a:ext uri="{FF2B5EF4-FFF2-40B4-BE49-F238E27FC236}">
                <a16:creationId xmlns:a16="http://schemas.microsoft.com/office/drawing/2014/main" id="{2222654B-ABB1-B4E7-D3FF-75F502EF7C98}"/>
              </a:ext>
            </a:extLst>
          </p:cNvPr>
          <p:cNvSpPr>
            <a:spLocks noGrp="1"/>
          </p:cNvSpPr>
          <p:nvPr>
            <p:ph type="ftr" sz="quarter" idx="11"/>
          </p:nvPr>
        </p:nvSpPr>
        <p:spPr/>
        <p:txBody>
          <a:bodyPr/>
          <a:lstStyle/>
          <a:p>
            <a:r>
              <a:rPr lang="en-US"/>
              <a:t>Programming II - Debugging</a:t>
            </a:r>
          </a:p>
        </p:txBody>
      </p:sp>
      <p:sp>
        <p:nvSpPr>
          <p:cNvPr id="7" name="Slide Number Placeholder 6">
            <a:extLst>
              <a:ext uri="{FF2B5EF4-FFF2-40B4-BE49-F238E27FC236}">
                <a16:creationId xmlns:a16="http://schemas.microsoft.com/office/drawing/2014/main" id="{99EB3FF0-A6CC-BB11-1387-91380F75CBF6}"/>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3704964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93EE0-13D7-B16A-671D-37C4003ED1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E36EBB-EB65-A1BE-9D46-0D48EAE2EC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796A3D-C74C-E765-80CD-7C597B8C64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5A3A30-D02C-B54E-0027-C54DB7D898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E242F7-89D9-4224-E2F0-D92BEC3FF1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793D59E-AFA9-0483-559C-6C131C0E0675}"/>
              </a:ext>
            </a:extLst>
          </p:cNvPr>
          <p:cNvSpPr>
            <a:spLocks noGrp="1"/>
          </p:cNvSpPr>
          <p:nvPr>
            <p:ph type="dt" sz="half" idx="10"/>
          </p:nvPr>
        </p:nvSpPr>
        <p:spPr/>
        <p:txBody>
          <a:bodyPr/>
          <a:lstStyle/>
          <a:p>
            <a:fld id="{EAFCE7BB-5012-B646-99BC-C09657C76A87}" type="datetime1">
              <a:t>20-May-26</a:t>
            </a:fld>
            <a:endParaRPr lang="en-US"/>
          </a:p>
        </p:txBody>
      </p:sp>
      <p:sp>
        <p:nvSpPr>
          <p:cNvPr id="8" name="Footer Placeholder 7">
            <a:extLst>
              <a:ext uri="{FF2B5EF4-FFF2-40B4-BE49-F238E27FC236}">
                <a16:creationId xmlns:a16="http://schemas.microsoft.com/office/drawing/2014/main" id="{A126F210-EE29-8E1D-8FA8-D10028D70AC5}"/>
              </a:ext>
            </a:extLst>
          </p:cNvPr>
          <p:cNvSpPr>
            <a:spLocks noGrp="1"/>
          </p:cNvSpPr>
          <p:nvPr>
            <p:ph type="ftr" sz="quarter" idx="11"/>
          </p:nvPr>
        </p:nvSpPr>
        <p:spPr/>
        <p:txBody>
          <a:bodyPr/>
          <a:lstStyle/>
          <a:p>
            <a:r>
              <a:rPr lang="en-US"/>
              <a:t>Programming II - Debugging</a:t>
            </a:r>
          </a:p>
        </p:txBody>
      </p:sp>
      <p:sp>
        <p:nvSpPr>
          <p:cNvPr id="9" name="Slide Number Placeholder 8">
            <a:extLst>
              <a:ext uri="{FF2B5EF4-FFF2-40B4-BE49-F238E27FC236}">
                <a16:creationId xmlns:a16="http://schemas.microsoft.com/office/drawing/2014/main" id="{46F38DDC-0ECF-9134-256E-293D6681EEB1}"/>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3208547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876A2-3DA5-918E-EA96-5DE7EA197D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AE71DD-2CDF-D942-ECFA-3348F8859D92}"/>
              </a:ext>
            </a:extLst>
          </p:cNvPr>
          <p:cNvSpPr>
            <a:spLocks noGrp="1"/>
          </p:cNvSpPr>
          <p:nvPr>
            <p:ph type="dt" sz="half" idx="10"/>
          </p:nvPr>
        </p:nvSpPr>
        <p:spPr/>
        <p:txBody>
          <a:bodyPr/>
          <a:lstStyle/>
          <a:p>
            <a:fld id="{BF842797-AB9C-8C4F-8B46-8D60009C1C95}" type="datetime1">
              <a:t>20-May-26</a:t>
            </a:fld>
            <a:endParaRPr lang="en-US"/>
          </a:p>
        </p:txBody>
      </p:sp>
      <p:sp>
        <p:nvSpPr>
          <p:cNvPr id="4" name="Footer Placeholder 3">
            <a:extLst>
              <a:ext uri="{FF2B5EF4-FFF2-40B4-BE49-F238E27FC236}">
                <a16:creationId xmlns:a16="http://schemas.microsoft.com/office/drawing/2014/main" id="{9144A0C1-2879-C55B-0CF2-13A64EE6F23C}"/>
              </a:ext>
            </a:extLst>
          </p:cNvPr>
          <p:cNvSpPr>
            <a:spLocks noGrp="1"/>
          </p:cNvSpPr>
          <p:nvPr>
            <p:ph type="ftr" sz="quarter" idx="11"/>
          </p:nvPr>
        </p:nvSpPr>
        <p:spPr/>
        <p:txBody>
          <a:bodyPr/>
          <a:lstStyle/>
          <a:p>
            <a:r>
              <a:rPr lang="en-US"/>
              <a:t>Programming II - Debugging</a:t>
            </a:r>
          </a:p>
        </p:txBody>
      </p:sp>
      <p:sp>
        <p:nvSpPr>
          <p:cNvPr id="5" name="Slide Number Placeholder 4">
            <a:extLst>
              <a:ext uri="{FF2B5EF4-FFF2-40B4-BE49-F238E27FC236}">
                <a16:creationId xmlns:a16="http://schemas.microsoft.com/office/drawing/2014/main" id="{7CB2FF08-FA4F-5E70-3D58-56BD02EDEC21}"/>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857964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5E7684-4EDD-C720-2CDF-C7DB971DBB9A}"/>
              </a:ext>
            </a:extLst>
          </p:cNvPr>
          <p:cNvSpPr>
            <a:spLocks noGrp="1"/>
          </p:cNvSpPr>
          <p:nvPr>
            <p:ph type="dt" sz="half" idx="10"/>
          </p:nvPr>
        </p:nvSpPr>
        <p:spPr/>
        <p:txBody>
          <a:bodyPr/>
          <a:lstStyle/>
          <a:p>
            <a:fld id="{AF04CB87-9B21-4B4B-AD98-61E407E4979E}" type="datetime1">
              <a:t>20-May-26</a:t>
            </a:fld>
            <a:endParaRPr lang="en-US"/>
          </a:p>
        </p:txBody>
      </p:sp>
      <p:sp>
        <p:nvSpPr>
          <p:cNvPr id="3" name="Footer Placeholder 2">
            <a:extLst>
              <a:ext uri="{FF2B5EF4-FFF2-40B4-BE49-F238E27FC236}">
                <a16:creationId xmlns:a16="http://schemas.microsoft.com/office/drawing/2014/main" id="{050BEAB9-0036-AFDC-FD10-E5BBB32CABB1}"/>
              </a:ext>
            </a:extLst>
          </p:cNvPr>
          <p:cNvSpPr>
            <a:spLocks noGrp="1"/>
          </p:cNvSpPr>
          <p:nvPr>
            <p:ph type="ftr" sz="quarter" idx="11"/>
          </p:nvPr>
        </p:nvSpPr>
        <p:spPr/>
        <p:txBody>
          <a:bodyPr/>
          <a:lstStyle/>
          <a:p>
            <a:r>
              <a:rPr lang="en-US"/>
              <a:t>Programming II - Debugging</a:t>
            </a:r>
          </a:p>
        </p:txBody>
      </p:sp>
      <p:sp>
        <p:nvSpPr>
          <p:cNvPr id="4" name="Slide Number Placeholder 3">
            <a:extLst>
              <a:ext uri="{FF2B5EF4-FFF2-40B4-BE49-F238E27FC236}">
                <a16:creationId xmlns:a16="http://schemas.microsoft.com/office/drawing/2014/main" id="{6381F654-1E2B-5C4F-56B1-FD811F1DEF5E}"/>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2336799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3AE98-D290-2D23-02C2-B1B9D08A3F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4D1B8CB-0769-520D-1239-A592E7364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E52471-F5C0-4650-7641-FEC81F273C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8E6937-6113-2719-D75D-2A5C29221447}"/>
              </a:ext>
            </a:extLst>
          </p:cNvPr>
          <p:cNvSpPr>
            <a:spLocks noGrp="1"/>
          </p:cNvSpPr>
          <p:nvPr>
            <p:ph type="dt" sz="half" idx="10"/>
          </p:nvPr>
        </p:nvSpPr>
        <p:spPr/>
        <p:txBody>
          <a:bodyPr/>
          <a:lstStyle/>
          <a:p>
            <a:fld id="{CC4CF6EE-F038-7045-9434-40ADFC45F048}" type="datetime1">
              <a:t>20-May-26</a:t>
            </a:fld>
            <a:endParaRPr lang="en-US"/>
          </a:p>
        </p:txBody>
      </p:sp>
      <p:sp>
        <p:nvSpPr>
          <p:cNvPr id="6" name="Footer Placeholder 5">
            <a:extLst>
              <a:ext uri="{FF2B5EF4-FFF2-40B4-BE49-F238E27FC236}">
                <a16:creationId xmlns:a16="http://schemas.microsoft.com/office/drawing/2014/main" id="{6806A247-0567-CD26-31DC-A70792F3C132}"/>
              </a:ext>
            </a:extLst>
          </p:cNvPr>
          <p:cNvSpPr>
            <a:spLocks noGrp="1"/>
          </p:cNvSpPr>
          <p:nvPr>
            <p:ph type="ftr" sz="quarter" idx="11"/>
          </p:nvPr>
        </p:nvSpPr>
        <p:spPr/>
        <p:txBody>
          <a:bodyPr/>
          <a:lstStyle/>
          <a:p>
            <a:r>
              <a:rPr lang="en-US"/>
              <a:t>Programming II - Debugging</a:t>
            </a:r>
          </a:p>
        </p:txBody>
      </p:sp>
      <p:sp>
        <p:nvSpPr>
          <p:cNvPr id="7" name="Slide Number Placeholder 6">
            <a:extLst>
              <a:ext uri="{FF2B5EF4-FFF2-40B4-BE49-F238E27FC236}">
                <a16:creationId xmlns:a16="http://schemas.microsoft.com/office/drawing/2014/main" id="{CE6A7F36-2EDB-2D13-ED56-83A061148F2D}"/>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2637338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4D053-C082-202E-4257-E09A2B098F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608AAF1-FF16-01CE-ECAA-EFE558D8AD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8DDB28-7904-6C8E-701B-A3CFF3D45F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17D25E-1E8D-FE8F-35CC-8D8B43280817}"/>
              </a:ext>
            </a:extLst>
          </p:cNvPr>
          <p:cNvSpPr>
            <a:spLocks noGrp="1"/>
          </p:cNvSpPr>
          <p:nvPr>
            <p:ph type="dt" sz="half" idx="10"/>
          </p:nvPr>
        </p:nvSpPr>
        <p:spPr/>
        <p:txBody>
          <a:bodyPr/>
          <a:lstStyle/>
          <a:p>
            <a:fld id="{12F6356E-BFF5-1F41-A917-3F796FFB0CC1}" type="datetime1">
              <a:t>20-May-26</a:t>
            </a:fld>
            <a:endParaRPr lang="en-US"/>
          </a:p>
        </p:txBody>
      </p:sp>
      <p:sp>
        <p:nvSpPr>
          <p:cNvPr id="6" name="Footer Placeholder 5">
            <a:extLst>
              <a:ext uri="{FF2B5EF4-FFF2-40B4-BE49-F238E27FC236}">
                <a16:creationId xmlns:a16="http://schemas.microsoft.com/office/drawing/2014/main" id="{10ABFC95-31D9-F0FD-B110-5448FD7D3E0D}"/>
              </a:ext>
            </a:extLst>
          </p:cNvPr>
          <p:cNvSpPr>
            <a:spLocks noGrp="1"/>
          </p:cNvSpPr>
          <p:nvPr>
            <p:ph type="ftr" sz="quarter" idx="11"/>
          </p:nvPr>
        </p:nvSpPr>
        <p:spPr/>
        <p:txBody>
          <a:bodyPr/>
          <a:lstStyle/>
          <a:p>
            <a:r>
              <a:rPr lang="en-US"/>
              <a:t>Programming II - Debugging</a:t>
            </a:r>
          </a:p>
        </p:txBody>
      </p:sp>
      <p:sp>
        <p:nvSpPr>
          <p:cNvPr id="7" name="Slide Number Placeholder 6">
            <a:extLst>
              <a:ext uri="{FF2B5EF4-FFF2-40B4-BE49-F238E27FC236}">
                <a16:creationId xmlns:a16="http://schemas.microsoft.com/office/drawing/2014/main" id="{A09AA12B-4266-61D9-EDD2-3EE5CE79D7FE}"/>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3605648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37D41-2C62-B81A-4E55-5B17754E80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F87ADB-41B0-0C03-1623-085306CD78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DED994-B570-EC4C-69DF-20F16C7F1FF3}"/>
              </a:ext>
            </a:extLst>
          </p:cNvPr>
          <p:cNvSpPr>
            <a:spLocks noGrp="1"/>
          </p:cNvSpPr>
          <p:nvPr>
            <p:ph type="dt" sz="half" idx="10"/>
          </p:nvPr>
        </p:nvSpPr>
        <p:spPr/>
        <p:txBody>
          <a:bodyPr/>
          <a:lstStyle/>
          <a:p>
            <a:fld id="{A6EF53D5-97A0-DE40-80B0-3F7E098A0576}" type="datetime1">
              <a:t>20-May-26</a:t>
            </a:fld>
            <a:endParaRPr lang="en-US"/>
          </a:p>
        </p:txBody>
      </p:sp>
      <p:sp>
        <p:nvSpPr>
          <p:cNvPr id="5" name="Footer Placeholder 4">
            <a:extLst>
              <a:ext uri="{FF2B5EF4-FFF2-40B4-BE49-F238E27FC236}">
                <a16:creationId xmlns:a16="http://schemas.microsoft.com/office/drawing/2014/main" id="{E2CAD534-A450-A307-4B07-6C4650ACD328}"/>
              </a:ext>
            </a:extLst>
          </p:cNvPr>
          <p:cNvSpPr>
            <a:spLocks noGrp="1"/>
          </p:cNvSpPr>
          <p:nvPr>
            <p:ph type="ftr" sz="quarter" idx="11"/>
          </p:nvPr>
        </p:nvSpPr>
        <p:spPr/>
        <p:txBody>
          <a:bodyPr/>
          <a:lstStyle/>
          <a:p>
            <a:r>
              <a:rPr lang="en-US"/>
              <a:t>Programming II - Debugging</a:t>
            </a:r>
          </a:p>
        </p:txBody>
      </p:sp>
      <p:sp>
        <p:nvSpPr>
          <p:cNvPr id="6" name="Slide Number Placeholder 5">
            <a:extLst>
              <a:ext uri="{FF2B5EF4-FFF2-40B4-BE49-F238E27FC236}">
                <a16:creationId xmlns:a16="http://schemas.microsoft.com/office/drawing/2014/main" id="{F94DC195-7F54-203F-CDA1-C50631716912}"/>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86611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E438AF-B931-3C84-F6D4-87AB3B83A9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D28B3D-F088-3F99-72FF-7414B2DCD4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B055F1-AB43-623C-C5CB-38A30E28D529}"/>
              </a:ext>
            </a:extLst>
          </p:cNvPr>
          <p:cNvSpPr>
            <a:spLocks noGrp="1"/>
          </p:cNvSpPr>
          <p:nvPr>
            <p:ph type="dt" sz="half" idx="10"/>
          </p:nvPr>
        </p:nvSpPr>
        <p:spPr/>
        <p:txBody>
          <a:bodyPr/>
          <a:lstStyle/>
          <a:p>
            <a:fld id="{05611642-6220-564F-88C5-A632078194B5}" type="datetime1">
              <a:t>20-May-26</a:t>
            </a:fld>
            <a:endParaRPr lang="en-US"/>
          </a:p>
        </p:txBody>
      </p:sp>
      <p:sp>
        <p:nvSpPr>
          <p:cNvPr id="5" name="Footer Placeholder 4">
            <a:extLst>
              <a:ext uri="{FF2B5EF4-FFF2-40B4-BE49-F238E27FC236}">
                <a16:creationId xmlns:a16="http://schemas.microsoft.com/office/drawing/2014/main" id="{6617671F-F3CA-AD8C-AAED-1CEDA06BD3F5}"/>
              </a:ext>
            </a:extLst>
          </p:cNvPr>
          <p:cNvSpPr>
            <a:spLocks noGrp="1"/>
          </p:cNvSpPr>
          <p:nvPr>
            <p:ph type="ftr" sz="quarter" idx="11"/>
          </p:nvPr>
        </p:nvSpPr>
        <p:spPr/>
        <p:txBody>
          <a:bodyPr/>
          <a:lstStyle/>
          <a:p>
            <a:r>
              <a:rPr lang="en-US"/>
              <a:t>Programming II - Debugging</a:t>
            </a:r>
          </a:p>
        </p:txBody>
      </p:sp>
      <p:sp>
        <p:nvSpPr>
          <p:cNvPr id="6" name="Slide Number Placeholder 5">
            <a:extLst>
              <a:ext uri="{FF2B5EF4-FFF2-40B4-BE49-F238E27FC236}">
                <a16:creationId xmlns:a16="http://schemas.microsoft.com/office/drawing/2014/main" id="{F15B1CDC-17D0-73DC-75AA-4AC4F7A19162}"/>
              </a:ext>
            </a:extLst>
          </p:cNvPr>
          <p:cNvSpPr>
            <a:spLocks noGrp="1"/>
          </p:cNvSpPr>
          <p:nvPr>
            <p:ph type="sldNum" sz="quarter" idx="12"/>
          </p:nvPr>
        </p:nvSpPr>
        <p:spPr/>
        <p:txBody>
          <a:bodyPr/>
          <a:lstStyle/>
          <a:p>
            <a:fld id="{8C8A5E57-4BE3-6845-B213-5AF793E357AB}" type="slidenum">
              <a:rPr lang="en-US" smtClean="0"/>
              <a:t>‹#›</a:t>
            </a:fld>
            <a:endParaRPr lang="en-US"/>
          </a:p>
        </p:txBody>
      </p:sp>
    </p:spTree>
    <p:extLst>
      <p:ext uri="{BB962C8B-B14F-4D97-AF65-F5344CB8AC3E}">
        <p14:creationId xmlns:p14="http://schemas.microsoft.com/office/powerpoint/2010/main" val="715349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DB54A4-460A-D881-CB80-B80976E994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04465D-2428-0E8F-C234-F54A0ACB29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D1F970-F887-4C4D-5815-B89930B12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50AD31-8873-584F-B95D-A291DFFA9898}" type="datetime1">
              <a:t>20-May-26</a:t>
            </a:fld>
            <a:endParaRPr lang="en-US"/>
          </a:p>
        </p:txBody>
      </p:sp>
      <p:sp>
        <p:nvSpPr>
          <p:cNvPr id="5" name="Footer Placeholder 4">
            <a:extLst>
              <a:ext uri="{FF2B5EF4-FFF2-40B4-BE49-F238E27FC236}">
                <a16:creationId xmlns:a16="http://schemas.microsoft.com/office/drawing/2014/main" id="{AAB557DE-AC99-B9B5-5DF2-4FB364C1F4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Programming II - Debugging</a:t>
            </a:r>
          </a:p>
        </p:txBody>
      </p:sp>
      <p:sp>
        <p:nvSpPr>
          <p:cNvPr id="6" name="Slide Number Placeholder 5">
            <a:extLst>
              <a:ext uri="{FF2B5EF4-FFF2-40B4-BE49-F238E27FC236}">
                <a16:creationId xmlns:a16="http://schemas.microsoft.com/office/drawing/2014/main" id="{28B09E07-DBC5-7183-4C8A-37012085C0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8A5E57-4BE3-6845-B213-5AF793E357AB}" type="slidenum">
              <a:rPr lang="en-US" smtClean="0"/>
              <a:t>‹#›</a:t>
            </a:fld>
            <a:endParaRPr lang="en-US"/>
          </a:p>
        </p:txBody>
      </p:sp>
    </p:spTree>
    <p:extLst>
      <p:ext uri="{BB962C8B-B14F-4D97-AF65-F5344CB8AC3E}">
        <p14:creationId xmlns:p14="http://schemas.microsoft.com/office/powerpoint/2010/main" val="4051891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975EDB5-7C26-1246-E398-1FA21B5C1782}"/>
              </a:ext>
            </a:extLst>
          </p:cNvPr>
          <p:cNvSpPr txBox="1"/>
          <p:nvPr/>
        </p:nvSpPr>
        <p:spPr>
          <a:xfrm>
            <a:off x="570154" y="915313"/>
            <a:ext cx="9455973" cy="523220"/>
          </a:xfrm>
          <a:prstGeom prst="rect">
            <a:avLst/>
          </a:prstGeom>
          <a:noFill/>
        </p:spPr>
        <p:txBody>
          <a:bodyPr wrap="square" rtlCol="0">
            <a:spAutoFit/>
          </a:bodyPr>
          <a:lstStyle/>
          <a:p>
            <a:r>
              <a:rPr lang="en-US" sz="2800" dirty="0"/>
              <a:t>Programming II Course</a:t>
            </a:r>
          </a:p>
        </p:txBody>
      </p:sp>
      <p:sp>
        <p:nvSpPr>
          <p:cNvPr id="6" name="TextBox 5">
            <a:extLst>
              <a:ext uri="{FF2B5EF4-FFF2-40B4-BE49-F238E27FC236}">
                <a16:creationId xmlns:a16="http://schemas.microsoft.com/office/drawing/2014/main" id="{C686B9AB-A154-F77B-F9BB-7DC5E358FC71}"/>
              </a:ext>
            </a:extLst>
          </p:cNvPr>
          <p:cNvSpPr txBox="1"/>
          <p:nvPr/>
        </p:nvSpPr>
        <p:spPr>
          <a:xfrm>
            <a:off x="570155" y="5111690"/>
            <a:ext cx="3867790" cy="646331"/>
          </a:xfrm>
          <a:prstGeom prst="rect">
            <a:avLst/>
          </a:prstGeom>
          <a:noFill/>
        </p:spPr>
        <p:txBody>
          <a:bodyPr wrap="none" rtlCol="0">
            <a:spAutoFit/>
          </a:bodyPr>
          <a:lstStyle/>
          <a:p>
            <a:r>
              <a:rPr lang="en-US" dirty="0"/>
              <a:t>Antonio Di Monaco</a:t>
            </a:r>
          </a:p>
          <a:p>
            <a:r>
              <a:rPr lang="en-US" dirty="0"/>
              <a:t>Computer Science Bachelor Program</a:t>
            </a:r>
          </a:p>
        </p:txBody>
      </p:sp>
      <p:sp>
        <p:nvSpPr>
          <p:cNvPr id="2" name="Footer Placeholder 1">
            <a:extLst>
              <a:ext uri="{FF2B5EF4-FFF2-40B4-BE49-F238E27FC236}">
                <a16:creationId xmlns:a16="http://schemas.microsoft.com/office/drawing/2014/main" id="{263B0E87-0692-1E7D-2BF8-8A674F09149D}"/>
              </a:ext>
            </a:extLst>
          </p:cNvPr>
          <p:cNvSpPr>
            <a:spLocks noGrp="1"/>
          </p:cNvSpPr>
          <p:nvPr>
            <p:ph type="ftr" sz="quarter" idx="11"/>
          </p:nvPr>
        </p:nvSpPr>
        <p:spPr/>
        <p:txBody>
          <a:bodyPr/>
          <a:lstStyle/>
          <a:p>
            <a:r>
              <a:rPr lang="en-US"/>
              <a:t>Programming II - Debugging</a:t>
            </a:r>
          </a:p>
        </p:txBody>
      </p:sp>
      <p:sp>
        <p:nvSpPr>
          <p:cNvPr id="3" name="TextBox 2">
            <a:extLst>
              <a:ext uri="{FF2B5EF4-FFF2-40B4-BE49-F238E27FC236}">
                <a16:creationId xmlns:a16="http://schemas.microsoft.com/office/drawing/2014/main" id="{92508F35-8C13-E451-FF21-78133D15ADFC}"/>
              </a:ext>
            </a:extLst>
          </p:cNvPr>
          <p:cNvSpPr txBox="1"/>
          <p:nvPr/>
        </p:nvSpPr>
        <p:spPr>
          <a:xfrm>
            <a:off x="570154" y="3013501"/>
            <a:ext cx="1829347" cy="523220"/>
          </a:xfrm>
          <a:prstGeom prst="rect">
            <a:avLst/>
          </a:prstGeom>
          <a:noFill/>
        </p:spPr>
        <p:txBody>
          <a:bodyPr wrap="none" rtlCol="0">
            <a:spAutoFit/>
          </a:bodyPr>
          <a:lstStyle/>
          <a:p>
            <a:r>
              <a:rPr lang="en-US" sz="2800"/>
              <a:t>Debugging</a:t>
            </a:r>
          </a:p>
        </p:txBody>
      </p:sp>
    </p:spTree>
    <p:extLst>
      <p:ext uri="{BB962C8B-B14F-4D97-AF65-F5344CB8AC3E}">
        <p14:creationId xmlns:p14="http://schemas.microsoft.com/office/powerpoint/2010/main" val="2794035155"/>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FC0A45D-015B-F9B3-DB27-9D9047181787}"/>
              </a:ext>
            </a:extLst>
          </p:cNvPr>
          <p:cNvSpPr>
            <a:spLocks noGrp="1"/>
          </p:cNvSpPr>
          <p:nvPr>
            <p:ph type="ftr" sz="quarter" idx="11"/>
          </p:nvPr>
        </p:nvSpPr>
        <p:spPr/>
        <p:txBody>
          <a:bodyPr/>
          <a:lstStyle/>
          <a:p>
            <a:r>
              <a:rPr lang="en-US"/>
              <a:t>Programming II - Debugging</a:t>
            </a:r>
          </a:p>
        </p:txBody>
      </p:sp>
      <p:sp>
        <p:nvSpPr>
          <p:cNvPr id="3" name="TextBox 2">
            <a:extLst>
              <a:ext uri="{FF2B5EF4-FFF2-40B4-BE49-F238E27FC236}">
                <a16:creationId xmlns:a16="http://schemas.microsoft.com/office/drawing/2014/main" id="{C522E73E-5FE4-B397-BDFC-5C186926044C}"/>
              </a:ext>
            </a:extLst>
          </p:cNvPr>
          <p:cNvSpPr txBox="1"/>
          <p:nvPr/>
        </p:nvSpPr>
        <p:spPr>
          <a:xfrm>
            <a:off x="430306" y="398033"/>
            <a:ext cx="2245615" cy="461665"/>
          </a:xfrm>
          <a:prstGeom prst="rect">
            <a:avLst/>
          </a:prstGeom>
          <a:noFill/>
        </p:spPr>
        <p:txBody>
          <a:bodyPr wrap="none" rtlCol="0">
            <a:spAutoFit/>
          </a:bodyPr>
          <a:lstStyle/>
          <a:p>
            <a:r>
              <a:rPr lang="en-US" sz="2400" dirty="0"/>
              <a:t>Why it matters?</a:t>
            </a:r>
          </a:p>
        </p:txBody>
      </p:sp>
      <p:sp>
        <p:nvSpPr>
          <p:cNvPr id="6" name="TextBox 5">
            <a:extLst>
              <a:ext uri="{FF2B5EF4-FFF2-40B4-BE49-F238E27FC236}">
                <a16:creationId xmlns:a16="http://schemas.microsoft.com/office/drawing/2014/main" id="{228CB148-B9DA-5D8C-1A1B-814B601FAA86}"/>
              </a:ext>
            </a:extLst>
          </p:cNvPr>
          <p:cNvSpPr txBox="1"/>
          <p:nvPr/>
        </p:nvSpPr>
        <p:spPr>
          <a:xfrm>
            <a:off x="542259" y="1222744"/>
            <a:ext cx="10922153" cy="3693319"/>
          </a:xfrm>
          <a:prstGeom prst="rect">
            <a:avLst/>
          </a:prstGeom>
          <a:noFill/>
        </p:spPr>
        <p:txBody>
          <a:bodyPr wrap="square" rtlCol="0">
            <a:spAutoFit/>
          </a:bodyPr>
          <a:lstStyle/>
          <a:p>
            <a:r>
              <a:rPr lang="en-US" dirty="0"/>
              <a:t>Let’s start with some terms first.</a:t>
            </a:r>
          </a:p>
          <a:p>
            <a:endParaRPr lang="en-US" dirty="0"/>
          </a:p>
          <a:p>
            <a:pPr marL="285750" indent="-285750">
              <a:buFont typeface="Arial" panose="020B0604020202020204" pitchFamily="34" charset="0"/>
              <a:buChar char="•"/>
            </a:pPr>
            <a:r>
              <a:rPr lang="en-US" dirty="0"/>
              <a:t>Bug: a mistake in the code or design, for example, using &lt;= instead of &lt; in a loop condition.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Error: an incorrect state of the program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Failure: an externally visible incorrect behavior caused by an error, for example a crash.</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r>
              <a:rPr lang="en-US" dirty="0"/>
              <a:t>Debugging is a process where we start from a failure and we move backwards to find the underlying bug that has caused it.</a:t>
            </a:r>
          </a:p>
          <a:p>
            <a:endParaRPr lang="en-US" dirty="0"/>
          </a:p>
          <a:p>
            <a:r>
              <a:rPr lang="en-US" dirty="0"/>
              <a:t>It can happen either during development cycle or after the release process.</a:t>
            </a:r>
          </a:p>
        </p:txBody>
      </p:sp>
    </p:spTree>
    <p:extLst>
      <p:ext uri="{BB962C8B-B14F-4D97-AF65-F5344CB8AC3E}">
        <p14:creationId xmlns:p14="http://schemas.microsoft.com/office/powerpoint/2010/main" val="957592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FB841-B069-0757-9483-F0D0BE16408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522D9F9D-3014-1A46-77C4-8AE5C15BC864}"/>
              </a:ext>
            </a:extLst>
          </p:cNvPr>
          <p:cNvSpPr>
            <a:spLocks noGrp="1"/>
          </p:cNvSpPr>
          <p:nvPr>
            <p:ph type="ftr" sz="quarter" idx="11"/>
          </p:nvPr>
        </p:nvSpPr>
        <p:spPr/>
        <p:txBody>
          <a:bodyPr/>
          <a:lstStyle/>
          <a:p>
            <a:r>
              <a:rPr lang="en-US"/>
              <a:t>Programming II - Debugging</a:t>
            </a:r>
          </a:p>
        </p:txBody>
      </p:sp>
      <p:sp>
        <p:nvSpPr>
          <p:cNvPr id="3" name="TextBox 2">
            <a:extLst>
              <a:ext uri="{FF2B5EF4-FFF2-40B4-BE49-F238E27FC236}">
                <a16:creationId xmlns:a16="http://schemas.microsoft.com/office/drawing/2014/main" id="{C760BB20-AC0C-714F-9CD6-A6001CF7A62A}"/>
              </a:ext>
            </a:extLst>
          </p:cNvPr>
          <p:cNvSpPr txBox="1"/>
          <p:nvPr/>
        </p:nvSpPr>
        <p:spPr>
          <a:xfrm>
            <a:off x="430306" y="398033"/>
            <a:ext cx="2702984" cy="461665"/>
          </a:xfrm>
          <a:prstGeom prst="rect">
            <a:avLst/>
          </a:prstGeom>
          <a:noFill/>
        </p:spPr>
        <p:txBody>
          <a:bodyPr wrap="none" rtlCol="0">
            <a:spAutoFit/>
          </a:bodyPr>
          <a:lstStyle/>
          <a:p>
            <a:r>
              <a:rPr lang="en-US" sz="2400"/>
              <a:t>Debugging is an art</a:t>
            </a:r>
          </a:p>
        </p:txBody>
      </p:sp>
      <p:sp>
        <p:nvSpPr>
          <p:cNvPr id="6" name="TextBox 5">
            <a:extLst>
              <a:ext uri="{FF2B5EF4-FFF2-40B4-BE49-F238E27FC236}">
                <a16:creationId xmlns:a16="http://schemas.microsoft.com/office/drawing/2014/main" id="{95BE2695-93F6-A669-CF55-118A972178F6}"/>
              </a:ext>
            </a:extLst>
          </p:cNvPr>
          <p:cNvSpPr txBox="1"/>
          <p:nvPr/>
        </p:nvSpPr>
        <p:spPr>
          <a:xfrm>
            <a:off x="542260" y="1222744"/>
            <a:ext cx="11357853" cy="4247317"/>
          </a:xfrm>
          <a:prstGeom prst="rect">
            <a:avLst/>
          </a:prstGeom>
          <a:noFill/>
        </p:spPr>
        <p:txBody>
          <a:bodyPr wrap="square" rtlCol="0">
            <a:spAutoFit/>
          </a:bodyPr>
          <a:lstStyle/>
          <a:p>
            <a:r>
              <a:rPr lang="en-US" dirty="0"/>
              <a:t>There’s no book, guideline or lesson that make you the perfect debugger. It’s like solving a crime, the more you solve, the better detective you become.</a:t>
            </a:r>
          </a:p>
          <a:p>
            <a:endParaRPr lang="en-US" dirty="0"/>
          </a:p>
          <a:p>
            <a:r>
              <a:rPr lang="en-US" dirty="0"/>
              <a:t>Some mindset about debugging.</a:t>
            </a:r>
          </a:p>
          <a:p>
            <a:endParaRPr lang="en-US" dirty="0"/>
          </a:p>
          <a:p>
            <a:pPr marL="285750" indent="-285750">
              <a:buFont typeface="Arial" panose="020B0604020202020204" pitchFamily="34" charset="0"/>
              <a:buChar char="•"/>
            </a:pPr>
            <a:r>
              <a:rPr lang="en-US" dirty="0"/>
              <a:t>Bugs are INEVITABLE.</a:t>
            </a:r>
            <a:br>
              <a:rPr lang="en-US" dirty="0"/>
            </a:br>
            <a:br>
              <a:rPr lang="en-US" dirty="0"/>
            </a:br>
            <a:r>
              <a:rPr lang="en-US" dirty="0"/>
              <a:t>It doesn’t matter how expert you are. The only difference between a beginner and an expert is that the second can understand quickly where the bug could be, thus reducing the perimeter of the bug.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goal is to UNDERSTAND why the program behaves as it does, and not just make the error message</a:t>
            </a:r>
            <a:br>
              <a:rPr lang="en-US" dirty="0"/>
            </a:br>
            <a:r>
              <a:rPr lang="en-US" dirty="0"/>
              <a:t>disappear.</a:t>
            </a:r>
          </a:p>
          <a:p>
            <a:pPr marL="285750" indent="-285750">
              <a:buFont typeface="Arial" panose="020B0604020202020204" pitchFamily="34" charset="0"/>
              <a:buChar char="•"/>
            </a:pPr>
            <a:endParaRPr lang="en-US" dirty="0"/>
          </a:p>
          <a:p>
            <a:r>
              <a:rPr lang="en-US" b="1" dirty="0">
                <a:solidFill>
                  <a:srgbClr val="FF0000"/>
                </a:solidFill>
              </a:rPr>
              <a:t>Debugging makes you a better programmer</a:t>
            </a:r>
            <a:r>
              <a:rPr lang="en-US" dirty="0"/>
              <a:t>, not just learning how to code, or knowing 20 different programming</a:t>
            </a:r>
            <a:br>
              <a:rPr lang="en-US" dirty="0"/>
            </a:br>
            <a:r>
              <a:rPr lang="en-US" dirty="0"/>
              <a:t>languages.</a:t>
            </a:r>
          </a:p>
        </p:txBody>
      </p:sp>
    </p:spTree>
    <p:extLst>
      <p:ext uri="{BB962C8B-B14F-4D97-AF65-F5344CB8AC3E}">
        <p14:creationId xmlns:p14="http://schemas.microsoft.com/office/powerpoint/2010/main" val="231218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044CD-D556-760B-DEDC-2FCC2D78FB8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9F2D62E-659A-14A7-E1B0-B5AD2D359559}"/>
              </a:ext>
            </a:extLst>
          </p:cNvPr>
          <p:cNvSpPr>
            <a:spLocks noGrp="1"/>
          </p:cNvSpPr>
          <p:nvPr>
            <p:ph type="ftr" sz="quarter" idx="11"/>
          </p:nvPr>
        </p:nvSpPr>
        <p:spPr/>
        <p:txBody>
          <a:bodyPr/>
          <a:lstStyle/>
          <a:p>
            <a:r>
              <a:rPr lang="en-US"/>
              <a:t>Programming II - Debugging</a:t>
            </a:r>
          </a:p>
        </p:txBody>
      </p:sp>
      <p:sp>
        <p:nvSpPr>
          <p:cNvPr id="3" name="TextBox 2">
            <a:extLst>
              <a:ext uri="{FF2B5EF4-FFF2-40B4-BE49-F238E27FC236}">
                <a16:creationId xmlns:a16="http://schemas.microsoft.com/office/drawing/2014/main" id="{661A231A-F639-C074-1DF6-DD777F0648F1}"/>
              </a:ext>
            </a:extLst>
          </p:cNvPr>
          <p:cNvSpPr txBox="1"/>
          <p:nvPr/>
        </p:nvSpPr>
        <p:spPr>
          <a:xfrm>
            <a:off x="430306" y="398033"/>
            <a:ext cx="2217467" cy="461665"/>
          </a:xfrm>
          <a:prstGeom prst="rect">
            <a:avLst/>
          </a:prstGeom>
          <a:noFill/>
        </p:spPr>
        <p:txBody>
          <a:bodyPr wrap="none" rtlCol="0">
            <a:spAutoFit/>
          </a:bodyPr>
          <a:lstStyle/>
          <a:p>
            <a:r>
              <a:rPr lang="en-US" sz="2400"/>
              <a:t>Debugging flow</a:t>
            </a:r>
          </a:p>
        </p:txBody>
      </p:sp>
      <p:sp>
        <p:nvSpPr>
          <p:cNvPr id="6" name="TextBox 5">
            <a:extLst>
              <a:ext uri="{FF2B5EF4-FFF2-40B4-BE49-F238E27FC236}">
                <a16:creationId xmlns:a16="http://schemas.microsoft.com/office/drawing/2014/main" id="{4CDEE791-F006-99A8-F073-5AFE19D0DB42}"/>
              </a:ext>
            </a:extLst>
          </p:cNvPr>
          <p:cNvSpPr txBox="1"/>
          <p:nvPr/>
        </p:nvSpPr>
        <p:spPr>
          <a:xfrm>
            <a:off x="542260" y="1222744"/>
            <a:ext cx="11037189" cy="4801314"/>
          </a:xfrm>
          <a:prstGeom prst="rect">
            <a:avLst/>
          </a:prstGeom>
          <a:noFill/>
        </p:spPr>
        <p:txBody>
          <a:bodyPr wrap="none" rtlCol="0">
            <a:spAutoFit/>
          </a:bodyPr>
          <a:lstStyle/>
          <a:p>
            <a:pPr marL="285750" indent="-285750">
              <a:buFont typeface="Arial" panose="020B0604020202020204" pitchFamily="34" charset="0"/>
              <a:buChar char="•"/>
            </a:pPr>
            <a:r>
              <a:rPr lang="en-US"/>
              <a:t>Observe carefully. The more data you have, the better, it doesn’t matter where it comes from.</a:t>
            </a:r>
            <a:br>
              <a:rPr lang="en-US"/>
            </a:br>
            <a:br>
              <a:rPr lang="en-US"/>
            </a:br>
            <a:r>
              <a:rPr lang="en-US"/>
              <a:t>Collect data from logs, by making questions to users, by understanding the context, all possible variables</a:t>
            </a:r>
            <a:br>
              <a:rPr lang="en-US"/>
            </a:br>
            <a:r>
              <a:rPr lang="en-US"/>
              <a:t>that could potentially trigger the bug.</a:t>
            </a:r>
            <a:br>
              <a:rPr lang="en-US"/>
            </a:br>
            <a:br>
              <a:rPr lang="en-US"/>
            </a:br>
            <a:r>
              <a:rPr lang="en-US"/>
              <a:t>DO NOT DISCARD ANYTHING, even the most meaningless stuff. Sometimes the bug can hide in places that</a:t>
            </a:r>
            <a:br>
              <a:rPr lang="en-US"/>
            </a:br>
            <a:r>
              <a:rPr lang="en-US"/>
              <a:t>you would never bet on it.</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Form hypotheses about what might be wrong.</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Prove or disprove such hypotheses. A failing hypothese is not a bad thing, it cuts out a lot of impossible</a:t>
            </a:r>
            <a:br>
              <a:rPr lang="en-US"/>
            </a:br>
            <a:r>
              <a:rPr lang="en-US"/>
              <a:t>scenarios.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Keep a log. Track any failing hypothese, because, when you start feeling lost, reviewing such log can help</a:t>
            </a:r>
            <a:br>
              <a:rPr lang="en-US"/>
            </a:br>
            <a:r>
              <a:rPr lang="en-US"/>
              <a:t>find new paths (i.e. new hypotheses).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b="1">
                <a:solidFill>
                  <a:srgbClr val="FF0000"/>
                </a:solidFill>
              </a:rPr>
              <a:t>P-A-T-I-E-N-C-E</a:t>
            </a:r>
            <a:r>
              <a:rPr lang="en-US"/>
              <a:t>, because this whole flow restarts over and over.</a:t>
            </a:r>
          </a:p>
        </p:txBody>
      </p:sp>
    </p:spTree>
    <p:extLst>
      <p:ext uri="{BB962C8B-B14F-4D97-AF65-F5344CB8AC3E}">
        <p14:creationId xmlns:p14="http://schemas.microsoft.com/office/powerpoint/2010/main" val="289763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56536-120D-213B-B069-034E5744F03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0694852-286D-20C6-1A6F-0FC0E24DB84B}"/>
              </a:ext>
            </a:extLst>
          </p:cNvPr>
          <p:cNvSpPr>
            <a:spLocks noGrp="1"/>
          </p:cNvSpPr>
          <p:nvPr>
            <p:ph type="ftr" sz="quarter" idx="11"/>
          </p:nvPr>
        </p:nvSpPr>
        <p:spPr/>
        <p:txBody>
          <a:bodyPr/>
          <a:lstStyle/>
          <a:p>
            <a:r>
              <a:rPr lang="en-US"/>
              <a:t>Programming II - Debugging</a:t>
            </a:r>
          </a:p>
        </p:txBody>
      </p:sp>
      <p:sp>
        <p:nvSpPr>
          <p:cNvPr id="3" name="TextBox 2">
            <a:extLst>
              <a:ext uri="{FF2B5EF4-FFF2-40B4-BE49-F238E27FC236}">
                <a16:creationId xmlns:a16="http://schemas.microsoft.com/office/drawing/2014/main" id="{FE5F1E47-47E8-6D50-E617-110E78B6F314}"/>
              </a:ext>
            </a:extLst>
          </p:cNvPr>
          <p:cNvSpPr txBox="1"/>
          <p:nvPr/>
        </p:nvSpPr>
        <p:spPr>
          <a:xfrm>
            <a:off x="430306" y="398033"/>
            <a:ext cx="5786071" cy="461665"/>
          </a:xfrm>
          <a:prstGeom prst="rect">
            <a:avLst/>
          </a:prstGeom>
          <a:noFill/>
        </p:spPr>
        <p:txBody>
          <a:bodyPr wrap="none" rtlCol="0">
            <a:spAutoFit/>
          </a:bodyPr>
          <a:lstStyle/>
          <a:p>
            <a:r>
              <a:rPr lang="en-US" sz="2400"/>
              <a:t>First step: data collection &amp; reproducibility</a:t>
            </a:r>
          </a:p>
        </p:txBody>
      </p:sp>
      <p:sp>
        <p:nvSpPr>
          <p:cNvPr id="6" name="TextBox 5">
            <a:extLst>
              <a:ext uri="{FF2B5EF4-FFF2-40B4-BE49-F238E27FC236}">
                <a16:creationId xmlns:a16="http://schemas.microsoft.com/office/drawing/2014/main" id="{BA68B679-69DC-2F25-B64E-A25E420CEFEF}"/>
              </a:ext>
            </a:extLst>
          </p:cNvPr>
          <p:cNvSpPr txBox="1"/>
          <p:nvPr/>
        </p:nvSpPr>
        <p:spPr>
          <a:xfrm>
            <a:off x="542260" y="1222744"/>
            <a:ext cx="11281935" cy="4801314"/>
          </a:xfrm>
          <a:prstGeom prst="rect">
            <a:avLst/>
          </a:prstGeom>
          <a:noFill/>
        </p:spPr>
        <p:txBody>
          <a:bodyPr wrap="square" rtlCol="0">
            <a:spAutoFit/>
          </a:bodyPr>
          <a:lstStyle/>
          <a:p>
            <a:r>
              <a:rPr lang="en-US" dirty="0"/>
              <a:t>The error must be reproducible. If not, we’re in troubles, things can get harder.</a:t>
            </a:r>
          </a:p>
          <a:p>
            <a:endParaRPr lang="en-US" dirty="0"/>
          </a:p>
          <a:p>
            <a:r>
              <a:rPr lang="en-US" dirty="0"/>
              <a:t>We collect any data we have (logs, stack traces, information coming from users), and we need to replicate the same action and the same environment that brings to the failure.</a:t>
            </a:r>
          </a:p>
          <a:p>
            <a:endParaRPr lang="en-US" dirty="0"/>
          </a:p>
          <a:p>
            <a:r>
              <a:rPr lang="en-US" dirty="0"/>
              <a:t>If the failure is 100% reproducible, then we’re in the best scenario possible, it could take days, it could take tenth of debugging sessions, but soon or later you’ll get to the bug.</a:t>
            </a:r>
          </a:p>
          <a:p>
            <a:endParaRPr lang="en-US" dirty="0"/>
          </a:p>
          <a:p>
            <a:r>
              <a:rPr lang="en-US" dirty="0"/>
              <a:t>If the failure is not 100% reproducible, then we need to be creative: according to the data we have, we need to force the behavior to be so. There’s not a guideline about this scenario, here your experience and intuition are the</a:t>
            </a:r>
            <a:br>
              <a:rPr lang="en-US" dirty="0"/>
            </a:br>
            <a:r>
              <a:rPr lang="en-US" dirty="0"/>
              <a:t>only weapons available.</a:t>
            </a:r>
          </a:p>
          <a:p>
            <a:endParaRPr lang="en-US" dirty="0"/>
          </a:p>
          <a:p>
            <a:r>
              <a:rPr lang="en-US" dirty="0"/>
              <a:t>Usually, when the reproducibility is close to zero, if the bug cannot be spot by any other means, a possible approach would be to apply a workaround. A workaround is a change in the code that avoids the creation of a specific setup that could increase the chances of the issue. So, the bug remains in the code, but we don’t create anymore the conditions for it to trigger. But this should be really your last chance, when you’re really desperate and you don’t see a way out, or a move that can give you more time for further debugging sessions.</a:t>
            </a:r>
          </a:p>
        </p:txBody>
      </p:sp>
    </p:spTree>
    <p:extLst>
      <p:ext uri="{BB962C8B-B14F-4D97-AF65-F5344CB8AC3E}">
        <p14:creationId xmlns:p14="http://schemas.microsoft.com/office/powerpoint/2010/main" val="45238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00009-D922-B21E-7449-A6DAE0E2649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CCC9AF4-AEEE-3120-2C01-8F228CDE8C65}"/>
              </a:ext>
            </a:extLst>
          </p:cNvPr>
          <p:cNvSpPr>
            <a:spLocks noGrp="1"/>
          </p:cNvSpPr>
          <p:nvPr>
            <p:ph type="ftr" sz="quarter" idx="11"/>
          </p:nvPr>
        </p:nvSpPr>
        <p:spPr/>
        <p:txBody>
          <a:bodyPr/>
          <a:lstStyle/>
          <a:p>
            <a:r>
              <a:rPr lang="en-US"/>
              <a:t>Programming II - Debugging</a:t>
            </a:r>
          </a:p>
        </p:txBody>
      </p:sp>
      <p:sp>
        <p:nvSpPr>
          <p:cNvPr id="3" name="TextBox 2">
            <a:extLst>
              <a:ext uri="{FF2B5EF4-FFF2-40B4-BE49-F238E27FC236}">
                <a16:creationId xmlns:a16="http://schemas.microsoft.com/office/drawing/2014/main" id="{D66B5203-5446-837F-D0AC-737EAF6C1C6E}"/>
              </a:ext>
            </a:extLst>
          </p:cNvPr>
          <p:cNvSpPr txBox="1"/>
          <p:nvPr/>
        </p:nvSpPr>
        <p:spPr>
          <a:xfrm>
            <a:off x="430306" y="398033"/>
            <a:ext cx="6213432" cy="461665"/>
          </a:xfrm>
          <a:prstGeom prst="rect">
            <a:avLst/>
          </a:prstGeom>
          <a:noFill/>
        </p:spPr>
        <p:txBody>
          <a:bodyPr wrap="none" rtlCol="0">
            <a:spAutoFit/>
          </a:bodyPr>
          <a:lstStyle/>
          <a:p>
            <a:r>
              <a:rPr lang="en-US" sz="2400"/>
              <a:t>Second step: narrow down the suspect region</a:t>
            </a:r>
          </a:p>
        </p:txBody>
      </p:sp>
      <p:sp>
        <p:nvSpPr>
          <p:cNvPr id="6" name="TextBox 5">
            <a:extLst>
              <a:ext uri="{FF2B5EF4-FFF2-40B4-BE49-F238E27FC236}">
                <a16:creationId xmlns:a16="http://schemas.microsoft.com/office/drawing/2014/main" id="{32B18AB8-9FBB-88A1-58C8-67C482A5A61C}"/>
              </a:ext>
            </a:extLst>
          </p:cNvPr>
          <p:cNvSpPr txBox="1"/>
          <p:nvPr/>
        </p:nvSpPr>
        <p:spPr>
          <a:xfrm>
            <a:off x="542260" y="1222744"/>
            <a:ext cx="11567462" cy="4247317"/>
          </a:xfrm>
          <a:prstGeom prst="rect">
            <a:avLst/>
          </a:prstGeom>
          <a:noFill/>
        </p:spPr>
        <p:txBody>
          <a:bodyPr wrap="square" rtlCol="0">
            <a:spAutoFit/>
          </a:bodyPr>
          <a:lstStyle/>
          <a:p>
            <a:r>
              <a:rPr lang="en-US" dirty="0"/>
              <a:t>Use the data you have to have a hint about where the issue could potentially be.</a:t>
            </a:r>
          </a:p>
          <a:p>
            <a:endParaRPr lang="en-US" dirty="0"/>
          </a:p>
          <a:p>
            <a:r>
              <a:rPr lang="en-US" dirty="0"/>
              <a:t>If you have a stack trace, that’s the best option possible, as a start.</a:t>
            </a:r>
          </a:p>
          <a:p>
            <a:endParaRPr lang="en-US" dirty="0"/>
          </a:p>
          <a:p>
            <a:r>
              <a:rPr lang="en-US" dirty="0"/>
              <a:t>There are two best places where to set the first breakpoint: either close to the exception or close to the failure triggering action.</a:t>
            </a:r>
          </a:p>
          <a:p>
            <a:pPr marL="285750" indent="-285750">
              <a:buFont typeface="Arial" panose="020B0604020202020204" pitchFamily="34" charset="0"/>
              <a:buChar char="•"/>
            </a:pPr>
            <a:r>
              <a:rPr lang="en-US" dirty="0"/>
              <a:t>the first case makes sense when the data you have point to a region that is really a good candidate where the bug</a:t>
            </a:r>
            <a:br>
              <a:rPr lang="en-US" dirty="0"/>
            </a:br>
            <a:r>
              <a:rPr lang="en-US" dirty="0"/>
              <a:t>could be. From there you move backward along the stack trace, until you find the place where things started</a:t>
            </a:r>
            <a:br>
              <a:rPr lang="en-US" dirty="0"/>
            </a:br>
            <a:r>
              <a:rPr lang="en-US" dirty="0"/>
              <a:t>go wild. This can bring you to the bug location faster, usually.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second case makes sense if the data you have does not shows the bug region clearly, either because it’s</a:t>
            </a:r>
            <a:br>
              <a:rPr lang="en-US" dirty="0"/>
            </a:br>
            <a:r>
              <a:rPr lang="en-US" dirty="0"/>
              <a:t>incomplete or you don’t see a clear correlation between the failure and the data you have. Then it’s better to</a:t>
            </a:r>
            <a:br>
              <a:rPr lang="en-US" dirty="0"/>
            </a:br>
            <a:r>
              <a:rPr lang="en-US" dirty="0"/>
              <a:t>follow the whole execution flow since the activation event that triggers the issue (for example, a button click).</a:t>
            </a:r>
            <a:br>
              <a:rPr lang="en-US" dirty="0"/>
            </a:br>
            <a:r>
              <a:rPr lang="en-US" dirty="0"/>
              <a:t>This takes much longer, and it follows a kind of top-down approach, and you need to keep track, at each</a:t>
            </a:r>
            <a:br>
              <a:rPr lang="en-US" dirty="0"/>
            </a:br>
            <a:r>
              <a:rPr lang="en-US" dirty="0"/>
              <a:t>debugging session, where is the latest debugging step before the error occurs.</a:t>
            </a:r>
          </a:p>
        </p:txBody>
      </p:sp>
    </p:spTree>
    <p:extLst>
      <p:ext uri="{BB962C8B-B14F-4D97-AF65-F5344CB8AC3E}">
        <p14:creationId xmlns:p14="http://schemas.microsoft.com/office/powerpoint/2010/main" val="1832039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84FA4-278E-D2B9-B1C8-4D381A80483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6D62A99-60BA-DC7B-7965-2CC5CE635BF7}"/>
              </a:ext>
            </a:extLst>
          </p:cNvPr>
          <p:cNvSpPr>
            <a:spLocks noGrp="1"/>
          </p:cNvSpPr>
          <p:nvPr>
            <p:ph type="ftr" sz="quarter" idx="11"/>
          </p:nvPr>
        </p:nvSpPr>
        <p:spPr/>
        <p:txBody>
          <a:bodyPr/>
          <a:lstStyle/>
          <a:p>
            <a:r>
              <a:rPr lang="en-US"/>
              <a:t>Programming II - Debugging</a:t>
            </a:r>
          </a:p>
        </p:txBody>
      </p:sp>
      <p:sp>
        <p:nvSpPr>
          <p:cNvPr id="3" name="TextBox 2">
            <a:extLst>
              <a:ext uri="{FF2B5EF4-FFF2-40B4-BE49-F238E27FC236}">
                <a16:creationId xmlns:a16="http://schemas.microsoft.com/office/drawing/2014/main" id="{9CA04865-54A5-974D-CEAD-92A74764DCC2}"/>
              </a:ext>
            </a:extLst>
          </p:cNvPr>
          <p:cNvSpPr txBox="1"/>
          <p:nvPr/>
        </p:nvSpPr>
        <p:spPr>
          <a:xfrm>
            <a:off x="430306" y="398033"/>
            <a:ext cx="1943674" cy="461665"/>
          </a:xfrm>
          <a:prstGeom prst="rect">
            <a:avLst/>
          </a:prstGeom>
          <a:noFill/>
        </p:spPr>
        <p:txBody>
          <a:bodyPr wrap="none" rtlCol="0">
            <a:spAutoFit/>
          </a:bodyPr>
          <a:lstStyle/>
          <a:p>
            <a:r>
              <a:rPr lang="en-US" sz="2400"/>
              <a:t>Third step: fix</a:t>
            </a:r>
          </a:p>
        </p:txBody>
      </p:sp>
      <p:sp>
        <p:nvSpPr>
          <p:cNvPr id="6" name="TextBox 5">
            <a:extLst>
              <a:ext uri="{FF2B5EF4-FFF2-40B4-BE49-F238E27FC236}">
                <a16:creationId xmlns:a16="http://schemas.microsoft.com/office/drawing/2014/main" id="{DE24DBB4-5206-18ED-D8C1-628499305717}"/>
              </a:ext>
            </a:extLst>
          </p:cNvPr>
          <p:cNvSpPr txBox="1"/>
          <p:nvPr/>
        </p:nvSpPr>
        <p:spPr>
          <a:xfrm>
            <a:off x="542260" y="1222744"/>
            <a:ext cx="11314892" cy="4801314"/>
          </a:xfrm>
          <a:prstGeom prst="rect">
            <a:avLst/>
          </a:prstGeom>
          <a:noFill/>
        </p:spPr>
        <p:txBody>
          <a:bodyPr wrap="square" rtlCol="0">
            <a:spAutoFit/>
          </a:bodyPr>
          <a:lstStyle/>
          <a:p>
            <a:r>
              <a:rPr lang="en-US" dirty="0"/>
              <a:t>So, after hours, days, weeks of debugging, you get there.</a:t>
            </a:r>
          </a:p>
          <a:p>
            <a:endParaRPr lang="en-US" dirty="0"/>
          </a:p>
          <a:p>
            <a:r>
              <a:rPr lang="en-US" dirty="0"/>
              <a:t>THINK BEFORE YOU START WRITING CODE. The first idea you got is 99% wrong, you can do better.</a:t>
            </a:r>
          </a:p>
          <a:p>
            <a:endParaRPr lang="en-US" dirty="0"/>
          </a:p>
          <a:p>
            <a:r>
              <a:rPr lang="en-US" dirty="0"/>
              <a:t>Use the “Rubber duck debugging”, explain it to your rubber duck. This will help you redo the actions in your brain, and it’s very </a:t>
            </a:r>
            <a:r>
              <a:rPr lang="en-US" dirty="0" err="1"/>
              <a:t>very</a:t>
            </a:r>
            <a:r>
              <a:rPr lang="en-US" dirty="0"/>
              <a:t> </a:t>
            </a:r>
            <a:r>
              <a:rPr lang="en-US" dirty="0" err="1"/>
              <a:t>very</a:t>
            </a:r>
            <a:r>
              <a:rPr lang="en-US" dirty="0"/>
              <a:t> likely that could bring you to the famous “A-HA!”.</a:t>
            </a:r>
          </a:p>
          <a:p>
            <a:endParaRPr lang="en-US" dirty="0"/>
          </a:p>
          <a:p>
            <a:r>
              <a:rPr lang="en-US" dirty="0"/>
              <a:t>Once you have quite a convincing plan, you can prove it with the debugger, when possible (by altering the data</a:t>
            </a:r>
            <a:br>
              <a:rPr lang="en-US" dirty="0"/>
            </a:br>
            <a:r>
              <a:rPr lang="en-US" dirty="0"/>
              <a:t>during the execution flow).</a:t>
            </a:r>
          </a:p>
          <a:p>
            <a:endParaRPr lang="en-US" dirty="0"/>
          </a:p>
          <a:p>
            <a:r>
              <a:rPr lang="en-US" dirty="0"/>
              <a:t>Do not just catch an error so to avoid it. Fix the cause.</a:t>
            </a:r>
          </a:p>
          <a:p>
            <a:endParaRPr lang="en-US" dirty="0"/>
          </a:p>
          <a:p>
            <a:r>
              <a:rPr lang="en-US" dirty="0"/>
              <a:t>If it’s a real bug, the change must be small. If the change gets bigger and bigger the more you fix, then you don’t have a bug, you have a design problem, and it requires a refactoring =&gt; Hard life rule: YOU CANNOT FIX A DESIGN</a:t>
            </a:r>
            <a:br>
              <a:rPr lang="en-US" dirty="0"/>
            </a:br>
            <a:r>
              <a:rPr lang="en-US" dirty="0"/>
              <a:t>PROBLEM. This bug is showing you that you never understood the problem and you coded a wrong solution.</a:t>
            </a:r>
          </a:p>
          <a:p>
            <a:endParaRPr lang="en-US" dirty="0"/>
          </a:p>
          <a:p>
            <a:r>
              <a:rPr lang="en-US" dirty="0"/>
              <a:t>Avoid future regressions =&gt; write a unit test.</a:t>
            </a:r>
          </a:p>
        </p:txBody>
      </p:sp>
    </p:spTree>
    <p:extLst>
      <p:ext uri="{BB962C8B-B14F-4D97-AF65-F5344CB8AC3E}">
        <p14:creationId xmlns:p14="http://schemas.microsoft.com/office/powerpoint/2010/main" val="374775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6D4A1-B1D1-E586-A625-5991560D833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88384D7-E667-A594-A2D9-5764774E7991}"/>
              </a:ext>
            </a:extLst>
          </p:cNvPr>
          <p:cNvSpPr>
            <a:spLocks noGrp="1"/>
          </p:cNvSpPr>
          <p:nvPr>
            <p:ph type="ftr" sz="quarter" idx="11"/>
          </p:nvPr>
        </p:nvSpPr>
        <p:spPr/>
        <p:txBody>
          <a:bodyPr/>
          <a:lstStyle/>
          <a:p>
            <a:r>
              <a:rPr lang="en-US"/>
              <a:t>Programming II - Debugging</a:t>
            </a:r>
          </a:p>
        </p:txBody>
      </p:sp>
      <p:sp>
        <p:nvSpPr>
          <p:cNvPr id="4" name="TextBox 3">
            <a:extLst>
              <a:ext uri="{FF2B5EF4-FFF2-40B4-BE49-F238E27FC236}">
                <a16:creationId xmlns:a16="http://schemas.microsoft.com/office/drawing/2014/main" id="{CA59DDD9-5505-168C-8C3C-50B3F0E7E38E}"/>
              </a:ext>
            </a:extLst>
          </p:cNvPr>
          <p:cNvSpPr txBox="1"/>
          <p:nvPr/>
        </p:nvSpPr>
        <p:spPr>
          <a:xfrm>
            <a:off x="5064082" y="3136612"/>
            <a:ext cx="2063835" cy="584775"/>
          </a:xfrm>
          <a:prstGeom prst="rect">
            <a:avLst/>
          </a:prstGeom>
          <a:noFill/>
        </p:spPr>
        <p:txBody>
          <a:bodyPr wrap="none" rtlCol="0">
            <a:spAutoFit/>
          </a:bodyPr>
          <a:lstStyle/>
          <a:p>
            <a:r>
              <a:rPr lang="en-US" sz="3200"/>
              <a:t>Let’s use it</a:t>
            </a:r>
          </a:p>
        </p:txBody>
      </p:sp>
    </p:spTree>
    <p:extLst>
      <p:ext uri="{BB962C8B-B14F-4D97-AF65-F5344CB8AC3E}">
        <p14:creationId xmlns:p14="http://schemas.microsoft.com/office/powerpoint/2010/main" val="29713184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1e9b6e7-e4bc-422b-b136-be52bca82e7c}" enabled="1" method="Privilege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otalTime>1418</TotalTime>
  <Words>1133</Words>
  <Application>Microsoft Office PowerPoint</Application>
  <PresentationFormat>Widescreen</PresentationFormat>
  <Paragraphs>79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 Monaco, Antonio</dc:creator>
  <cp:lastModifiedBy>Tatiana Rubina</cp:lastModifiedBy>
  <cp:revision>38</cp:revision>
  <dcterms:created xsi:type="dcterms:W3CDTF">2025-02-17T20:26:07Z</dcterms:created>
  <dcterms:modified xsi:type="dcterms:W3CDTF">2026-05-20T18:58:17Z</dcterms:modified>
</cp:coreProperties>
</file>