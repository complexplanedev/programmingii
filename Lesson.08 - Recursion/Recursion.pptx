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658"/>
  </p:normalViewPr>
  <p:slideViewPr>
    <p:cSldViewPr snapToGrid="0">
      <p:cViewPr varScale="1">
        <p:scale>
          <a:sx n="78" d="100"/>
          <a:sy n="78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BB587-DFF6-9A46-8B70-70845EADC7FA}" type="datetime1">
              <a:t>31-May-26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50C42-8F95-AD4C-A4D2-B00F771AAFE9}" type="datetime1">
              <a:t>31-May-26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1C5F-6D8E-A54A-B1F8-BF0906BD8178}" type="datetime1">
              <a:t>31-May-26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AAD3B-27A8-3F4C-9BEA-E74D12C553FB}" type="datetime1">
              <a:t>31-May-26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FCC7-7366-6241-963C-9386E81CF8C6}" type="datetime1">
              <a:t>31-May-26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26C60-3379-2546-BBF4-9B48001D5A25}" type="datetime1">
              <a:t>31-May-26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03B7A-AAFB-0048-B691-0E4BF1A8BAA7}" type="datetime1">
              <a:t>31-May-26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C06D0-8A9B-2F4C-BFBA-D7AF1FE05620}" type="datetime1">
              <a:t>31-May-26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34B83-49C9-044D-9464-45A6852A13FA}" type="datetime1">
              <a:t>31-May-26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2A787-0A44-B840-A511-37B67E8D79DA}" type="datetime1">
              <a:t>31-May-26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649AB-91CA-774E-9922-9763B1824EF0}" type="datetime1">
              <a:t>31-May-26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30AB6-89B9-9244-B4DD-88B8144D355F}" type="datetime1">
              <a:t>31-May-26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Recursion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753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Recursion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3901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is it and why it matters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CB148-B9DA-5D8C-1A1B-814B601FAA86}"/>
              </a:ext>
            </a:extLst>
          </p:cNvPr>
          <p:cNvSpPr txBox="1"/>
          <p:nvPr/>
        </p:nvSpPr>
        <p:spPr>
          <a:xfrm>
            <a:off x="542260" y="1222744"/>
            <a:ext cx="105714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Recursion</a:t>
            </a:r>
            <a:r>
              <a:rPr lang="en-US" dirty="0"/>
              <a:t> is a method of solving problems where the solution depends on solutions to smaller instances of the same problem. A recursive method is one that calls itself.</a:t>
            </a:r>
          </a:p>
          <a:p>
            <a:endParaRPr lang="en-US" dirty="0"/>
          </a:p>
          <a:p>
            <a:r>
              <a:rPr lang="en-US" dirty="0"/>
              <a:t>Analogies in real world: matryoshka, file systems folders, fractals</a:t>
            </a:r>
          </a:p>
          <a:p>
            <a:endParaRPr lang="en-US" dirty="0"/>
          </a:p>
          <a:p>
            <a:r>
              <a:rPr lang="en-US" dirty="0"/>
              <a:t>A recursive definition is made of two parts: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the simplest instance </a:t>
            </a:r>
            <a:r>
              <a:rPr lang="en-US" dirty="0"/>
              <a:t>that can be solved directly </a:t>
            </a:r>
            <a:r>
              <a:rPr lang="en-US" b="1" dirty="0"/>
              <a:t>without recursion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 recursive call that </a:t>
            </a:r>
            <a:r>
              <a:rPr lang="en-US" b="1" dirty="0">
                <a:solidFill>
                  <a:srgbClr val="FF0000"/>
                </a:solidFill>
              </a:rPr>
              <a:t>reduces the problem </a:t>
            </a:r>
            <a:r>
              <a:rPr lang="en-US" dirty="0"/>
              <a:t>to a </a:t>
            </a:r>
            <a:r>
              <a:rPr lang="en-US" b="1" dirty="0">
                <a:solidFill>
                  <a:srgbClr val="0070C0"/>
                </a:solidFill>
              </a:rPr>
              <a:t>simpler instance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Most common example: factorial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n!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n *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 – 1)!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 – 2)!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.... *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2!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1!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0!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0!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Let’s do it in Java, together with Fibonacci, sum and power examples.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21BF-0FAF-6BDB-0800-95E2E83B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D99F21-B783-5DA1-920B-DA3C7899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4D6351-92B9-9934-8F15-8C754904FD33}"/>
              </a:ext>
            </a:extLst>
          </p:cNvPr>
          <p:cNvSpPr txBox="1"/>
          <p:nvPr/>
        </p:nvSpPr>
        <p:spPr>
          <a:xfrm>
            <a:off x="430306" y="398033"/>
            <a:ext cx="2632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it be avoided?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006C7-9851-50CE-633C-2A750CA68126}"/>
              </a:ext>
            </a:extLst>
          </p:cNvPr>
          <p:cNvSpPr txBox="1"/>
          <p:nvPr/>
        </p:nvSpPr>
        <p:spPr>
          <a:xfrm>
            <a:off x="542260" y="1222744"/>
            <a:ext cx="1057142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Sure, anytime </a:t>
            </a:r>
            <a:r>
              <a:rPr lang="en-US" b="1" dirty="0">
                <a:solidFill>
                  <a:srgbClr val="FF0000"/>
                </a:solidFill>
                <a:cs typeface="Courier New" panose="02070309020205020404" pitchFamily="49" charset="0"/>
              </a:rPr>
              <a:t>you don’t need a stack</a:t>
            </a:r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.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value)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if (value == 0)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value * factorial(value – 1);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Any recursive algorithm can be turned into an iterative one: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factorial(int value)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f = 1;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for (int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&lt;= value; ++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f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 f;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f;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DF66BC-523E-E3B6-0D85-BE2991A9736F}"/>
              </a:ext>
            </a:extLst>
          </p:cNvPr>
          <p:cNvSpPr txBox="1"/>
          <p:nvPr/>
        </p:nvSpPr>
        <p:spPr>
          <a:xfrm>
            <a:off x="7406148" y="2408903"/>
            <a:ext cx="4339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stack is a limited memory resource,</a:t>
            </a:r>
          </a:p>
          <a:p>
            <a:r>
              <a:rPr lang="en-US" b="1" dirty="0"/>
              <a:t>so </a:t>
            </a:r>
            <a:r>
              <a:rPr lang="en-US" b="1" dirty="0">
                <a:solidFill>
                  <a:srgbClr val="FF0000"/>
                </a:solidFill>
              </a:rPr>
              <a:t>use it only when you need it</a:t>
            </a:r>
            <a:r>
              <a:rPr lang="en-US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64413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A7318-1F39-8348-C5E0-CB2C3F9E2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0E376C-8AC5-B6CB-ACBD-030B95D27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857B34-81CA-A0C6-ED48-97719CE508C3}"/>
              </a:ext>
            </a:extLst>
          </p:cNvPr>
          <p:cNvSpPr txBox="1"/>
          <p:nvPr/>
        </p:nvSpPr>
        <p:spPr>
          <a:xfrm>
            <a:off x="430306" y="398033"/>
            <a:ext cx="21401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Tower of Hanoi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ACAEB-BBF4-C712-D7F4-D2E5DEFABEB1}"/>
              </a:ext>
            </a:extLst>
          </p:cNvPr>
          <p:cNvSpPr txBox="1"/>
          <p:nvPr/>
        </p:nvSpPr>
        <p:spPr>
          <a:xfrm>
            <a:off x="542260" y="1233377"/>
            <a:ext cx="110226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Tower of Hanoi is a mathematical game or puzzle consisting of three rods and a number of disks of various diameters, which can slide onto any rod.</a:t>
            </a:r>
          </a:p>
          <a:p>
            <a:endParaRPr lang="en-US" dirty="0"/>
          </a:p>
          <a:p>
            <a:r>
              <a:rPr lang="en-US" dirty="0"/>
              <a:t>The puzzle begins with the disks stacked on one rod in order of decreasing size, the smallest at the top.</a:t>
            </a:r>
          </a:p>
          <a:p>
            <a:endParaRPr lang="en-US" dirty="0"/>
          </a:p>
          <a:p>
            <a:r>
              <a:rPr lang="en-US" dirty="0"/>
              <a:t>The objective of the puzzle is to move the entire stack to one of the other rods, obeying the following rules: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one disk may be moved at a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move consists of taking the upper disk from one of the stacks and placing it on top of another stack</a:t>
            </a:r>
            <a:br>
              <a:rPr lang="en-US" dirty="0"/>
            </a:br>
            <a:r>
              <a:rPr lang="en-US" dirty="0"/>
              <a:t>or on an empty rod.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disk may be placed on top of a disk that is smaller than it.</a:t>
            </a:r>
          </a:p>
        </p:txBody>
      </p:sp>
      <p:pic>
        <p:nvPicPr>
          <p:cNvPr id="7" name="Picture 6" descr="Author: André Karwath">
            <a:extLst>
              <a:ext uri="{FF2B5EF4-FFF2-40B4-BE49-F238E27FC236}">
                <a16:creationId xmlns:a16="http://schemas.microsoft.com/office/drawing/2014/main" id="{6864DD6D-B4DC-5446-7861-6A8E803EE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298" y="4506625"/>
            <a:ext cx="4064000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8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B0EF-B9A8-F28D-2FF4-0C79224F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18AD82-5A73-6BC6-6857-576E39E5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8E98B-D667-592C-6EFB-39AA75A15094}"/>
              </a:ext>
            </a:extLst>
          </p:cNvPr>
          <p:cNvSpPr txBox="1"/>
          <p:nvPr/>
        </p:nvSpPr>
        <p:spPr>
          <a:xfrm>
            <a:off x="430306" y="398033"/>
            <a:ext cx="1903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Backtracking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1EE6F-584B-7DD4-5115-403400FAF1E7}"/>
              </a:ext>
            </a:extLst>
          </p:cNvPr>
          <p:cNvSpPr txBox="1"/>
          <p:nvPr/>
        </p:nvSpPr>
        <p:spPr>
          <a:xfrm>
            <a:off x="542260" y="1222744"/>
            <a:ext cx="1008410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Backtracking </a:t>
            </a:r>
            <a:r>
              <a:rPr lang="en-US" dirty="0"/>
              <a:t>is an algorithmic technique for solving problems, with the following approach: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Build a solution incrementally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Abandon the solution (“backtrack”) as soon as the algorithm detects that the solution is not valid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cs typeface="Courier New" panose="02070309020205020404" pitchFamily="49" charset="0"/>
              </a:rPr>
              <a:t>Try the next solution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It’s used for: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Combinatorial optimizations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Graph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Puzzles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Compared to Brute Force, that generates and tests ALL combinations, Backtracking </a:t>
            </a:r>
            <a:r>
              <a:rPr lang="en-US">
                <a:cs typeface="Courier New" panose="02070309020205020404" pitchFamily="49" charset="0"/>
              </a:rPr>
              <a:t>builds solutions incrementally</a:t>
            </a:r>
            <a:r>
              <a:rPr lang="en-US" dirty="0">
                <a:cs typeface="Courier New" panose="02070309020205020404" pitchFamily="49" charset="0"/>
              </a:rPr>
              <a:t>, removing invalid ones while building, continuing only with promising ones.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Main 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Choose a choice and add it to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Recursively explore that choice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If it fails, remove choice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Try next one</a:t>
            </a:r>
          </a:p>
        </p:txBody>
      </p:sp>
    </p:spTree>
    <p:extLst>
      <p:ext uri="{BB962C8B-B14F-4D97-AF65-F5344CB8AC3E}">
        <p14:creationId xmlns:p14="http://schemas.microsoft.com/office/powerpoint/2010/main" val="88761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1159-AE87-667C-B828-CBDA43AC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3E0AAB-F431-CC2D-2103-942807A0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B3A1E-E6F6-75E5-7329-231C96BBA856}"/>
              </a:ext>
            </a:extLst>
          </p:cNvPr>
          <p:cNvSpPr txBox="1"/>
          <p:nvPr/>
        </p:nvSpPr>
        <p:spPr>
          <a:xfrm>
            <a:off x="5094764" y="3136612"/>
            <a:ext cx="20024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N-Queens</a:t>
            </a:r>
          </a:p>
        </p:txBody>
      </p:sp>
    </p:spTree>
    <p:extLst>
      <p:ext uri="{BB962C8B-B14F-4D97-AF65-F5344CB8AC3E}">
        <p14:creationId xmlns:p14="http://schemas.microsoft.com/office/powerpoint/2010/main" val="424389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7A2B-C17D-F797-DACD-1963364E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4CA23A-4362-D8BD-FAA4-DA1E55CF6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270AB-4DAA-B7CD-9E13-2E49DC08971D}"/>
              </a:ext>
            </a:extLst>
          </p:cNvPr>
          <p:cNvSpPr txBox="1"/>
          <p:nvPr/>
        </p:nvSpPr>
        <p:spPr>
          <a:xfrm>
            <a:off x="5332425" y="3136612"/>
            <a:ext cx="1527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Sudoku</a:t>
            </a:r>
          </a:p>
        </p:txBody>
      </p:sp>
    </p:spTree>
    <p:extLst>
      <p:ext uri="{BB962C8B-B14F-4D97-AF65-F5344CB8AC3E}">
        <p14:creationId xmlns:p14="http://schemas.microsoft.com/office/powerpoint/2010/main" val="56198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524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42</cp:revision>
  <dcterms:created xsi:type="dcterms:W3CDTF">2025-02-17T20:26:07Z</dcterms:created>
  <dcterms:modified xsi:type="dcterms:W3CDTF">2026-05-31T11:35:48Z</dcterms:modified>
</cp:coreProperties>
</file>