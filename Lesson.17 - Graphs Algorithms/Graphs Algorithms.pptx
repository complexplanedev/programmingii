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85" r:id="rId2"/>
    <p:sldId id="273" r:id="rId3"/>
    <p:sldId id="274" r:id="rId4"/>
    <p:sldId id="275" r:id="rId5"/>
    <p:sldId id="276" r:id="rId6"/>
    <p:sldId id="277" r:id="rId7"/>
    <p:sldId id="286" r:id="rId8"/>
    <p:sldId id="279" r:id="rId9"/>
    <p:sldId id="278" r:id="rId10"/>
    <p:sldId id="280" r:id="rId11"/>
    <p:sldId id="281" r:id="rId12"/>
    <p:sldId id="282" r:id="rId13"/>
    <p:sldId id="283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115" d="100"/>
          <a:sy n="115" d="100"/>
        </p:scale>
        <p:origin x="271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DC98-2452-0345-B26B-2566E1EF3FE2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2253D-710E-D04B-AFA5-C41825F9A5A9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D1AC-E53E-044A-BF5C-F2F09687DFA8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EC3A-1F36-C347-AADB-068285AF266F}" type="datetime1"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546E-8C33-E44F-8BA6-A2957E9E61A9}" type="datetime1">
              <a:t>07-Jul-26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BF5D3-3ABC-E54B-A1AA-AEC9634F7486}" type="datetime1">
              <a:t>07-Jul-26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DBAC-43B6-CD42-BCE2-2956FD54A12A}" type="datetime1">
              <a:t>07-Jul-26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745A-097A-904B-8D40-D0AE364D8D5E}" type="datetime1"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BF55-C1CF-1046-83FB-9C480CBC68A6}" type="datetime1"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9B42-DA0C-0F41-8232-359F501214CB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1BE2-DBFC-394C-BE9F-51411B25F9DD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14874-F9CE-564E-93A6-8D74394AB370}" type="datetime1"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3040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Graphs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09683-DA5F-71A9-B9A1-A2713AEA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81AA-ACD9-DFF0-0194-EDFA4AA0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335600" y="1028343"/>
            <a:ext cx="115038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BFS is an algorithm that searches a graph (in general, a tree data structure as well) for a node that satisfies a property. It starts at the tree root and explores all nodes at the present depth prior to moving on to the nodes at the next depth level.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need an extra queue data structure, to keep track of all the nodes that we encounter, starting from the root node, but we haven’t explored yet.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BFS can be applied to undirected and directed graphs with a given start node.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Possible applications: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web crawlers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navigation where all routes have the same cost (i.e. metro lines)</a:t>
            </a:r>
          </a:p>
          <a:p>
            <a:pPr marL="285750" indent="-285750">
              <a:buFontTx/>
              <a:buChar char="-"/>
            </a:pPr>
            <a:r>
              <a:rPr lang="en-US" dirty="0"/>
              <a:t>social networks (friends or friends-of-friends find, degree of connection ...)</a:t>
            </a:r>
          </a:p>
          <a:p>
            <a:pPr marL="285750" indent="-285750">
              <a:buFontTx/>
              <a:buChar char="-"/>
            </a:pPr>
            <a:r>
              <a:rPr lang="en-US" dirty="0"/>
              <a:t>node reachability (networks, garbage collection ...)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4AEDA-7A3F-1AB1-DEA1-DE50BAB3F07A}"/>
              </a:ext>
            </a:extLst>
          </p:cNvPr>
          <p:cNvSpPr txBox="1"/>
          <p:nvPr/>
        </p:nvSpPr>
        <p:spPr>
          <a:xfrm>
            <a:off x="335600" y="276447"/>
            <a:ext cx="3675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Breadth-First Search (BFS)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36C8-24FD-86DB-4AF5-B5FCEFDA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7A0B8-69FB-800B-5613-5C99D73B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1BF3-DF1B-1854-98A4-DE7FCB0C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46521-21B0-89E5-DF6C-4A4ED3D86536}"/>
              </a:ext>
            </a:extLst>
          </p:cNvPr>
          <p:cNvSpPr txBox="1"/>
          <p:nvPr/>
        </p:nvSpPr>
        <p:spPr>
          <a:xfrm>
            <a:off x="335600" y="276447"/>
            <a:ext cx="3675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Breadth-First Search (BFS)</a:t>
            </a:r>
            <a:endParaRPr lang="en-US" sz="240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8765D49-37A9-3545-7D0B-AA1B770378D8}"/>
              </a:ext>
            </a:extLst>
          </p:cNvPr>
          <p:cNvGrpSpPr/>
          <p:nvPr/>
        </p:nvGrpSpPr>
        <p:grpSpPr>
          <a:xfrm>
            <a:off x="3692864" y="681958"/>
            <a:ext cx="3627010" cy="1598004"/>
            <a:chOff x="485300" y="744365"/>
            <a:chExt cx="3627010" cy="159800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544EFB0-D5C8-22AF-99BF-0A4596A963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871611F-E441-F431-91A6-C6ECDAA7BB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5319192-726B-3697-736B-176E3A99DE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3517C41-2F8E-12A7-1D72-AE9A2E677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B2AFFE5-426E-C088-C5C4-7A624B33EE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3474508-0501-7E15-3670-E78ADFF78B64}"/>
                </a:ext>
              </a:extLst>
            </p:cNvPr>
            <p:cNvCxnSpPr>
              <a:stCxn id="7" idx="5"/>
              <a:endCxn id="27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0B1E9AF-93E1-91EA-18D3-76E3CE4047C4}"/>
                </a:ext>
              </a:extLst>
            </p:cNvPr>
            <p:cNvCxnSpPr>
              <a:stCxn id="7" idx="6"/>
              <a:endCxn id="35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27950DC-F1C2-BA21-C40F-B4027E1FEF1F}"/>
                </a:ext>
              </a:extLst>
            </p:cNvPr>
            <p:cNvCxnSpPr>
              <a:stCxn id="7" idx="4"/>
              <a:endCxn id="21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E8364DD-E611-9C7B-DB4E-122B6ADE511E}"/>
                </a:ext>
              </a:extLst>
            </p:cNvPr>
            <p:cNvCxnSpPr>
              <a:stCxn id="27" idx="3"/>
              <a:endCxn id="21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3F0A21B-3C33-9461-1E24-9F58A6B902D8}"/>
                </a:ext>
              </a:extLst>
            </p:cNvPr>
            <p:cNvCxnSpPr>
              <a:stCxn id="27" idx="5"/>
              <a:endCxn id="31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091EE67-9D5A-BF37-6D5C-FD26D1BF6B87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5151975-0DFE-9FAC-CB3D-1CE7D4B855EF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EF8377D-C77C-7B55-F428-1A89272C2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DE4341D-71FB-EA23-B5C7-8E6A2D68183C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56E1637-FE0E-031C-B249-F03F8CA801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2CBCE2B-3E6B-3D8C-5F93-38D130100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9064B13-1FAA-294D-6E7A-419E4DDF2D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E5D17DA-0ACB-9836-C1D7-E429D401C6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B939D5B-B72F-1DC0-7411-EC7B7EFA7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8958016-5A3A-6433-E1A3-50E7A581C5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579AD92-83CB-2547-B287-0E23BCDD1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621A436-EC9A-083E-B95F-B702C6F47B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BF3292-044F-A41E-D167-09FFD58F47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3D73855-1FC2-AC7D-9B54-5A97B90526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D2C7D5F-BEED-173B-CE5E-A79ACB879DC6}"/>
              </a:ext>
            </a:extLst>
          </p:cNvPr>
          <p:cNvGrpSpPr/>
          <p:nvPr/>
        </p:nvGrpSpPr>
        <p:grpSpPr>
          <a:xfrm>
            <a:off x="3692864" y="2538869"/>
            <a:ext cx="3627010" cy="1598004"/>
            <a:chOff x="485300" y="744365"/>
            <a:chExt cx="3627010" cy="159800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58BECD8-A311-C790-F430-9B8F61CD9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3784756D-1A14-1D41-92DB-6122BF786E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2CA0CE7-3800-90CF-117A-450205F1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A9EE053-5140-C77E-44C3-50CC2FA286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479B631-3009-DAF7-4163-A4A553093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4F78FD2-151B-44D6-0450-C335A4C0FDCB}"/>
                </a:ext>
              </a:extLst>
            </p:cNvPr>
            <p:cNvCxnSpPr>
              <a:stCxn id="105" idx="5"/>
              <a:endCxn id="107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8D31F4C-77E6-84C7-2EE6-AC43CD26C7C3}"/>
                </a:ext>
              </a:extLst>
            </p:cNvPr>
            <p:cNvCxnSpPr>
              <a:stCxn id="105" idx="6"/>
              <a:endCxn id="109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5F7300B-7771-7596-322E-AC7757EFC9D4}"/>
                </a:ext>
              </a:extLst>
            </p:cNvPr>
            <p:cNvCxnSpPr>
              <a:stCxn id="105" idx="4"/>
              <a:endCxn id="106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4DA6714-27BD-8770-3914-E9FE0B7B460E}"/>
                </a:ext>
              </a:extLst>
            </p:cNvPr>
            <p:cNvCxnSpPr>
              <a:stCxn id="107" idx="3"/>
              <a:endCxn id="106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6803DE7-B0FF-2A56-0A04-7CC3108901CE}"/>
                </a:ext>
              </a:extLst>
            </p:cNvPr>
            <p:cNvCxnSpPr>
              <a:stCxn id="107" idx="5"/>
              <a:endCxn id="108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4D83C05-FD66-3178-A534-F1E1FE1FB8D4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9DED803-93B6-0D3A-5140-4C3E334AC250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0BAA7677-7486-0521-2933-1A4712C19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C9B8928-ED52-B65D-3304-78EE1F536AA7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4AE0372-3CE8-72F3-925E-491A7B1E81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861EAE7-0ACD-0824-F1B1-FDB4E8BBAD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26B7D73-C894-A14E-DBEF-FC94D01E57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FD35A1C-3AB4-6A90-9D77-7A7746381C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EE0077F-9268-05D7-F3A4-28F5ADE0F3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5469D30-1125-265A-FC25-20D6AB1C48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CDB019F-632F-B1D5-427B-BA91DE2194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E90F1C3-8528-D36F-944D-84EFE4092F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25737BA-E69F-F629-AB05-BB49D3A59E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9207AC7-8365-22E5-C965-A68C23B624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180B3CE-E8AB-8A57-E275-AEF0FDD62484}"/>
              </a:ext>
            </a:extLst>
          </p:cNvPr>
          <p:cNvGrpSpPr/>
          <p:nvPr/>
        </p:nvGrpSpPr>
        <p:grpSpPr>
          <a:xfrm>
            <a:off x="3692864" y="4523236"/>
            <a:ext cx="3627010" cy="1598004"/>
            <a:chOff x="485300" y="744365"/>
            <a:chExt cx="3627010" cy="15980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31A972A-E4AB-9A2D-39FA-85F7D81A02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1DDAE12-98EA-DAF8-FBA9-E13EEB574E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03B27C5-EFC0-7459-5191-3E72AF5AEE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53F30BE8-1349-ECF9-A83E-3CB7B3336A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B708C19-6CFB-7B1B-41D6-099F155A7D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5A0E8A8-2558-54C8-F2FC-CE4400734903}"/>
                </a:ext>
              </a:extLst>
            </p:cNvPr>
            <p:cNvCxnSpPr>
              <a:stCxn id="132" idx="5"/>
              <a:endCxn id="134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E83B926-B9E8-8606-8773-F6A0F1361B86}"/>
                </a:ext>
              </a:extLst>
            </p:cNvPr>
            <p:cNvCxnSpPr>
              <a:stCxn id="132" idx="6"/>
              <a:endCxn id="136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2A5AAB0-58AE-B837-E2C7-05BC07CA932D}"/>
                </a:ext>
              </a:extLst>
            </p:cNvPr>
            <p:cNvCxnSpPr>
              <a:stCxn id="132" idx="4"/>
              <a:endCxn id="133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7DBCBBA-F2F4-574A-1403-09C72CDD3425}"/>
                </a:ext>
              </a:extLst>
            </p:cNvPr>
            <p:cNvCxnSpPr>
              <a:stCxn id="134" idx="3"/>
              <a:endCxn id="133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E6A803D-29B6-D8F7-0129-0E240F43F1E6}"/>
                </a:ext>
              </a:extLst>
            </p:cNvPr>
            <p:cNvCxnSpPr>
              <a:stCxn id="134" idx="5"/>
              <a:endCxn id="135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2BA6673-FC22-B2F9-5006-20E446EC3205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88A270D-5F2A-E44B-08DD-083756424569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98FFBA34-6054-B47D-CF68-7BABD6F9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313881F-45F8-F789-D04C-6D00548515C9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4E60D1A-8456-2808-C1F3-9029863D8E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F656DA3-9096-B4B4-072C-B098FB9852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72124C1-8760-3F1A-28E3-22A3E07589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7F36F1C-D071-A724-22CE-2B786D5CB3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FE06970-69FE-8B00-6384-E8C72D5610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BE5B50E-7E18-C658-4527-6FF1C87DE6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E85D350-858C-29BF-DE10-AEE1942743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61BCC8F-AC54-7581-DACC-C7596092C1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739241F-5E33-845A-E1B3-42369C0842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707EF5FB-C630-8CF0-EDC2-E958918D05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E5F8BAE-A3B6-E829-9F79-85DFE87995A7}"/>
              </a:ext>
            </a:extLst>
          </p:cNvPr>
          <p:cNvGrpSpPr/>
          <p:nvPr/>
        </p:nvGrpSpPr>
        <p:grpSpPr>
          <a:xfrm>
            <a:off x="7712935" y="780544"/>
            <a:ext cx="3627010" cy="1598004"/>
            <a:chOff x="485300" y="744365"/>
            <a:chExt cx="3627010" cy="1598004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A13561E-0D66-5016-109B-32C515C757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237A9C3-EC07-EBAC-BA5F-2FD0160EC8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1FF5F7E-C555-4DCD-A3FA-4ADE24E18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0F19EB4-6286-99FF-D0EF-95256EAD39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6EF46CA2-5CBB-3FB9-5F84-422C90311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AF2D761-922D-EB61-FDA5-15A014165373}"/>
                </a:ext>
              </a:extLst>
            </p:cNvPr>
            <p:cNvCxnSpPr>
              <a:stCxn id="157" idx="5"/>
              <a:endCxn id="159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239FD9B-5989-1B5B-CF97-C4DD17CFEEB4}"/>
                </a:ext>
              </a:extLst>
            </p:cNvPr>
            <p:cNvCxnSpPr>
              <a:stCxn id="157" idx="6"/>
              <a:endCxn id="161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2D709C11-A57D-83BA-E57D-36BE743F5D73}"/>
                </a:ext>
              </a:extLst>
            </p:cNvPr>
            <p:cNvCxnSpPr>
              <a:stCxn id="157" idx="4"/>
              <a:endCxn id="158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5D1446D-29DB-33A4-F80E-B861E5684D17}"/>
                </a:ext>
              </a:extLst>
            </p:cNvPr>
            <p:cNvCxnSpPr>
              <a:stCxn id="159" idx="3"/>
              <a:endCxn id="158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B76C344-B2BE-7D1F-42AE-19D83F5A7FAA}"/>
                </a:ext>
              </a:extLst>
            </p:cNvPr>
            <p:cNvCxnSpPr>
              <a:stCxn id="159" idx="5"/>
              <a:endCxn id="160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87DDA4C-4CFD-1F3F-66F3-ED718911A74C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0EB041A-ABE8-FA92-2B66-2CAE7E316C55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4D763C72-873C-D9B7-F2C0-D73FD4E3F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B99CADB-FDC5-CF67-3F48-2E19326B3BC1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42D7E63-32A0-4599-884C-BBD0BCB3EC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482B5A4-6FAC-19E0-0B16-6FCF2A2E93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F1F27F8-477E-B296-4AC9-8AE73FB204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943F658-7836-F5F5-86A0-1BC2BB750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4CD1F46-E2BE-7EF9-9073-6C9CCC89D8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EA35944-A871-428D-AA88-171EB8B1F5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9627996-52FF-A302-F40E-BA81685C4D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3A365E7-3F34-082A-DE6E-793E44CF94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26A22FA-3DED-F8DD-203C-1769D7C7CD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7C29F3AC-8EAC-C28D-352E-E2DD559CF3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DAB726E-135A-1AC3-3B4C-53DF61624C53}"/>
              </a:ext>
            </a:extLst>
          </p:cNvPr>
          <p:cNvGrpSpPr/>
          <p:nvPr/>
        </p:nvGrpSpPr>
        <p:grpSpPr>
          <a:xfrm>
            <a:off x="7726790" y="2530835"/>
            <a:ext cx="3627010" cy="1598004"/>
            <a:chOff x="485300" y="744365"/>
            <a:chExt cx="3627010" cy="1598004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85139947-61EC-499E-51EA-619750DFEC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86389829-D401-9EF9-E218-0524C35187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3BB04FE-F058-31A5-6DC5-D60FEDAD1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48F107F6-D453-C4B8-78D4-5A7B718315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CDC0F52F-F8FD-D4D8-4539-A82BD099CA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691EB06-32B1-8AFD-A0BD-9D639F8FD7B8}"/>
                </a:ext>
              </a:extLst>
            </p:cNvPr>
            <p:cNvCxnSpPr>
              <a:stCxn id="182" idx="5"/>
              <a:endCxn id="184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3AF2EDE-C76E-F188-3723-9417B5A7ED7C}"/>
                </a:ext>
              </a:extLst>
            </p:cNvPr>
            <p:cNvCxnSpPr>
              <a:stCxn id="182" idx="6"/>
              <a:endCxn id="186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E5F8B4FB-4FCB-2529-AD9A-6DE9CEAB5C6A}"/>
                </a:ext>
              </a:extLst>
            </p:cNvPr>
            <p:cNvCxnSpPr>
              <a:stCxn id="182" idx="4"/>
              <a:endCxn id="183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8D2A2F6E-4332-119E-B696-8CB084CDA0DF}"/>
                </a:ext>
              </a:extLst>
            </p:cNvPr>
            <p:cNvCxnSpPr>
              <a:stCxn id="184" idx="3"/>
              <a:endCxn id="183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C037975-EC5E-E3D4-2D28-8CCD2027B82A}"/>
                </a:ext>
              </a:extLst>
            </p:cNvPr>
            <p:cNvCxnSpPr>
              <a:stCxn id="184" idx="5"/>
              <a:endCxn id="185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D13E8B0-FAAE-3CD0-5068-FA9E4866AB7F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EBEF748-1FD3-7BD3-5997-0CC1015D1E15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976CB491-D3D3-67B5-E64F-61A4EFA1D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E1954F1-7FD9-7657-6274-4B7A0CEED01A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777DE59-8BB7-BCCE-3DF7-671BE02873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774B135-6B5B-0A4D-462C-005C6649B5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ED9A6B6-A54C-2FF2-67B0-9D3FDE1CA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5601C89-63F8-6EB0-B5E3-E8C5E9EA3D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8F7C95E-2D8B-432B-6CBF-7624F18FB7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CE3A9BD-5325-6547-D187-5F073389D2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AC7310C-434A-4887-A80A-9B0B91FEA7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9FFD3B8-26D8-8211-20C9-EC2936404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A47E469-4C33-5FB4-3AAC-BE56C1ED5E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1E406369-BDF0-66DF-3DAD-E211A4258B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96A0FE3-6634-C618-4AEF-4E79FE984896}"/>
              </a:ext>
            </a:extLst>
          </p:cNvPr>
          <p:cNvGrpSpPr/>
          <p:nvPr/>
        </p:nvGrpSpPr>
        <p:grpSpPr>
          <a:xfrm>
            <a:off x="7722172" y="4548980"/>
            <a:ext cx="3627010" cy="1598004"/>
            <a:chOff x="485300" y="744365"/>
            <a:chExt cx="3627010" cy="15980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59EA5DA-D198-AC0E-61EF-87D286516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E8F5E8C6-669E-7770-CC1E-69F8A35C9B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20A7BC6C-1AAE-ED0C-D70A-3D47735046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7D8B296-97CE-22C2-6570-A7367AA393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772717E5-B16D-7B84-F257-10A94B93E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9E9D5D73-2B17-D8C8-EFCE-53865F953114}"/>
                </a:ext>
              </a:extLst>
            </p:cNvPr>
            <p:cNvCxnSpPr>
              <a:stCxn id="207" idx="5"/>
              <a:endCxn id="209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344A224-A743-285F-A1AD-47E00B3F55CF}"/>
                </a:ext>
              </a:extLst>
            </p:cNvPr>
            <p:cNvCxnSpPr>
              <a:stCxn id="207" idx="6"/>
              <a:endCxn id="211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CF80D59-C892-F4DD-BE2A-C97056FE73E9}"/>
                </a:ext>
              </a:extLst>
            </p:cNvPr>
            <p:cNvCxnSpPr>
              <a:stCxn id="207" idx="4"/>
              <a:endCxn id="208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93372321-774D-9B05-29BE-5D07501037D2}"/>
                </a:ext>
              </a:extLst>
            </p:cNvPr>
            <p:cNvCxnSpPr>
              <a:stCxn id="209" idx="3"/>
              <a:endCxn id="208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A84F3A5-B2AB-5A1E-B14D-C08A069D7684}"/>
                </a:ext>
              </a:extLst>
            </p:cNvPr>
            <p:cNvCxnSpPr>
              <a:stCxn id="209" idx="5"/>
              <a:endCxn id="210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046BC165-8634-3859-1FEC-1AB54E617501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52448A1-8B08-C70C-8A3E-B101B7057CED}"/>
                </a:ext>
              </a:extLst>
            </p:cNvPr>
            <p:cNvSpPr txBox="1"/>
            <p:nvPr/>
          </p:nvSpPr>
          <p:spPr>
            <a:xfrm>
              <a:off x="485300" y="1411446"/>
              <a:ext cx="5581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Queue</a:t>
              </a: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F81DA7B2-EFEE-C06E-5B95-91F807519E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175" y="1800795"/>
              <a:ext cx="0" cy="304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10A2C31-08DD-1BA4-80D2-41DF31D35DB7}"/>
                </a:ext>
              </a:extLst>
            </p:cNvPr>
            <p:cNvSpPr txBox="1"/>
            <p:nvPr/>
          </p:nvSpPr>
          <p:spPr>
            <a:xfrm>
              <a:off x="1071747" y="2126925"/>
              <a:ext cx="4988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FRONT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FBCE713F-7697-20AC-C86F-9A0460A463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6B3FFCB-ACE7-75B5-F2DB-5E8C1B86FE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8ECCB3F7-0C55-E5BB-A3D0-5A1AB117C4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F632210-167A-44ED-1D3A-2A766838C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E08B062-BF68-E5BB-F382-B6B8812E0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2CC89C5-682A-967C-DD3B-7808E409D8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AEA5F3B9-DC5F-392F-A2EA-3BE769283C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11289A5-E183-34E8-8893-63DA29F7B4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3FBDEDD-69AC-375C-AAB8-032216A342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0941215-C702-0515-C618-751E620A1C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231" name="TextBox 230">
            <a:extLst>
              <a:ext uri="{FF2B5EF4-FFF2-40B4-BE49-F238E27FC236}">
                <a16:creationId xmlns:a16="http://schemas.microsoft.com/office/drawing/2014/main" id="{E173F822-EC9A-7D4A-5A52-65F964815F6B}"/>
              </a:ext>
            </a:extLst>
          </p:cNvPr>
          <p:cNvSpPr txBox="1"/>
          <p:nvPr/>
        </p:nvSpPr>
        <p:spPr>
          <a:xfrm>
            <a:off x="121114" y="2736502"/>
            <a:ext cx="33457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create a queue Q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put first node in Q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while Q is not empty: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remove the head u of Q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add u to visited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enqueue all unvisited neighbors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of u</a:t>
            </a:r>
          </a:p>
        </p:txBody>
      </p:sp>
    </p:spTree>
    <p:extLst>
      <p:ext uri="{BB962C8B-B14F-4D97-AF65-F5344CB8AC3E}">
        <p14:creationId xmlns:p14="http://schemas.microsoft.com/office/powerpoint/2010/main" val="45600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E038-A219-7598-9578-ED3133B5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E0DA9-1E74-BAF5-2398-39C2EF03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F007-7B04-604F-1836-BDBB2262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6B492-DBB5-6E68-A6A1-CACE507AE915}"/>
              </a:ext>
            </a:extLst>
          </p:cNvPr>
          <p:cNvSpPr txBox="1"/>
          <p:nvPr/>
        </p:nvSpPr>
        <p:spPr>
          <a:xfrm>
            <a:off x="335600" y="1028343"/>
            <a:ext cx="116032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DFS, as well BFS, searches a graph (in general, a tree data structure as well) for a node that satisfies a property. The difference is that DFS starts from the root node and explores as far as possible along each branch before backtracking, while BFS explores closest neighbors first.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need a stack for DFS (usually implemented implicitly by a recursion).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DFS can be applied to undirected and directed graphs with a given start node.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Possible applications: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web crawlers (BFS is more surface-level, while DFS is used for deep-site crawling)</a:t>
            </a:r>
          </a:p>
          <a:p>
            <a:pPr marL="285750" indent="-285750">
              <a:buFontTx/>
              <a:buChar char="-"/>
            </a:pPr>
            <a:r>
              <a:rPr lang="en-US" dirty="0"/>
              <a:t>cycles detection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solving maze-like problems</a:t>
            </a:r>
          </a:p>
          <a:p>
            <a:pPr marL="285750" indent="-285750">
              <a:buFontTx/>
              <a:buChar char="-"/>
            </a:pPr>
            <a:r>
              <a:rPr lang="en-US" dirty="0"/>
              <a:t>critical nodes and edges identification (i.e. parts of the graph that, once removed, split the graph in multiple disconnected subgraphs)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A4653-A071-5E7D-04DB-8F148B4AEC5F}"/>
              </a:ext>
            </a:extLst>
          </p:cNvPr>
          <p:cNvSpPr txBox="1"/>
          <p:nvPr/>
        </p:nvSpPr>
        <p:spPr>
          <a:xfrm>
            <a:off x="335600" y="276447"/>
            <a:ext cx="346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Depth-First Search (DFS)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0187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FFD3-41EB-BE3D-4657-749C0AFD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81B5D-4CFA-A1E1-772F-1DF380C3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9F291-E350-7D9E-6B82-6B705137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BACE2-152F-46BD-77CC-D6F1FD550301}"/>
              </a:ext>
            </a:extLst>
          </p:cNvPr>
          <p:cNvSpPr txBox="1"/>
          <p:nvPr/>
        </p:nvSpPr>
        <p:spPr>
          <a:xfrm>
            <a:off x="335600" y="276447"/>
            <a:ext cx="346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Depth-First Search (DFS)</a:t>
            </a:r>
            <a:endParaRPr lang="en-US" sz="240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1EF6095-2606-19AC-3B2F-413CEEC14EB4}"/>
              </a:ext>
            </a:extLst>
          </p:cNvPr>
          <p:cNvGrpSpPr/>
          <p:nvPr/>
        </p:nvGrpSpPr>
        <p:grpSpPr>
          <a:xfrm>
            <a:off x="3692864" y="681958"/>
            <a:ext cx="3627010" cy="1273879"/>
            <a:chOff x="485300" y="744365"/>
            <a:chExt cx="3627010" cy="127387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77AD97-54C9-0225-9B08-9885D4E70C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1D3D2E2-9A5C-7A60-92C3-1300846665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5F7DCBF-9A18-C8A0-F882-8C899FA4A5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A38B37D-844B-AA49-4167-5D57CFFE4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6922DC5-8E8D-AD4B-CE04-D9590E73D3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1B7110E-BBA3-0F5E-2DD6-B543D4E2D3BD}"/>
                </a:ext>
              </a:extLst>
            </p:cNvPr>
            <p:cNvCxnSpPr>
              <a:stCxn id="7" idx="5"/>
              <a:endCxn id="27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86803A-1CFA-DFEF-8877-C6A6136A083D}"/>
                </a:ext>
              </a:extLst>
            </p:cNvPr>
            <p:cNvCxnSpPr>
              <a:stCxn id="7" idx="6"/>
              <a:endCxn id="35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A48101-F3B9-8AB6-F7D9-0475A9496DD1}"/>
                </a:ext>
              </a:extLst>
            </p:cNvPr>
            <p:cNvCxnSpPr>
              <a:stCxn id="7" idx="4"/>
              <a:endCxn id="21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A1D1250-F654-C24E-8940-44D2A69DB35A}"/>
                </a:ext>
              </a:extLst>
            </p:cNvPr>
            <p:cNvCxnSpPr>
              <a:stCxn id="27" idx="3"/>
              <a:endCxn id="21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0082188-CDC6-4D8B-1AA6-30978D01A7B2}"/>
                </a:ext>
              </a:extLst>
            </p:cNvPr>
            <p:cNvCxnSpPr>
              <a:stCxn id="27" idx="5"/>
              <a:endCxn id="31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6009B41-9C25-B1E4-E808-DC5F410FC70B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0E3862-B8BE-CEF4-53C5-45D06853F49E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050FBA0-494C-6D7A-B5DB-A9BAF5C6B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B6F7200-194F-EE5D-CDDC-D865AD16BB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85B2C37-569C-2D51-2E75-7482687885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3387BB4-7BE4-771C-539B-FB6936EE42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435FA1-DC76-93D1-DFC1-221A657B98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FB7E5EF-853F-1B48-844B-58CD1726BE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4335A1E-AB23-36E6-C440-9F9D482BD8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8862C94-4BD8-1AB3-B87B-35E6C1E8C4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B1F7AD0-E057-D3E6-35A2-414CF88B41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C859CA9-93F2-769F-FD76-63E9EDABCB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600508D-99E7-42F5-40FF-51635127E19A}"/>
              </a:ext>
            </a:extLst>
          </p:cNvPr>
          <p:cNvGrpSpPr/>
          <p:nvPr/>
        </p:nvGrpSpPr>
        <p:grpSpPr>
          <a:xfrm>
            <a:off x="3692864" y="2538869"/>
            <a:ext cx="3627010" cy="1273879"/>
            <a:chOff x="485300" y="744365"/>
            <a:chExt cx="3627010" cy="1273879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10D62C3-7484-9B36-B062-3BE4F86CD9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1E17837-3A53-D389-0C44-1EB69C6987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2A2EECB-658B-D3BD-458A-02931F8186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B407DE1-46DD-0193-CF00-6710D5A592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37D6E72-6360-F1E3-638B-DC19C7E5E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763E8C2-C48A-6B32-7CF2-95A557A7A95F}"/>
                </a:ext>
              </a:extLst>
            </p:cNvPr>
            <p:cNvCxnSpPr>
              <a:stCxn id="105" idx="5"/>
              <a:endCxn id="107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0C71C79-9A29-A787-B805-9B51FC420C34}"/>
                </a:ext>
              </a:extLst>
            </p:cNvPr>
            <p:cNvCxnSpPr>
              <a:stCxn id="105" idx="6"/>
              <a:endCxn id="109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2F7E560-0B58-93F2-9298-3F17494183CB}"/>
                </a:ext>
              </a:extLst>
            </p:cNvPr>
            <p:cNvCxnSpPr>
              <a:stCxn id="105" idx="4"/>
              <a:endCxn id="106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AD3116F-0F95-B49D-693E-9E82F9E81841}"/>
                </a:ext>
              </a:extLst>
            </p:cNvPr>
            <p:cNvCxnSpPr>
              <a:stCxn id="107" idx="3"/>
              <a:endCxn id="106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01D0EB9-AE53-7817-93E4-CDCE74B75469}"/>
                </a:ext>
              </a:extLst>
            </p:cNvPr>
            <p:cNvCxnSpPr>
              <a:stCxn id="107" idx="5"/>
              <a:endCxn id="108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6FBF4D1-FCE9-4BAF-4E5E-45BBD279D834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FDB8A30-1369-BE11-3586-7C7219273968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3F6466D-88EE-A5C0-1FC7-0FF3A8320B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79B57D8-6DA1-3F40-62E4-42ECD3DDF3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47869F9-426E-5341-D94A-821A015138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FB2A755-25CE-02A4-CF34-D670794092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B6F5059-E39A-5120-C9D4-C9DDE10CD5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1692864-9E14-8438-E1BF-BAB781D0B1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B7497C0-6F32-999F-96FE-329B7DEFF7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54A98E5-80AD-BEE0-D3CA-2F148F94DA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2F0349F-61BD-7932-E2DF-1468AFD232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9A63F44-1539-7128-02E1-33918BC21B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A5A0D3-5879-8EA6-097C-3202BF9F0911}"/>
              </a:ext>
            </a:extLst>
          </p:cNvPr>
          <p:cNvGrpSpPr/>
          <p:nvPr/>
        </p:nvGrpSpPr>
        <p:grpSpPr>
          <a:xfrm>
            <a:off x="3692864" y="4523236"/>
            <a:ext cx="3627010" cy="1273879"/>
            <a:chOff x="485300" y="744365"/>
            <a:chExt cx="3627010" cy="1273879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F217576-628B-B607-016C-18EA25F0D3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F05CF3E-2A95-FBAB-EFAE-55AB4F5655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7D30F0A-B4D1-F86C-D243-0416E936B7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FD6A97B-61C8-8BE0-1BB8-8AB27C4C60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6460612-1113-E4CF-C4AE-58BDCCDD6C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292690B-06BE-1EAD-2ADE-33BB2FDCF9DB}"/>
                </a:ext>
              </a:extLst>
            </p:cNvPr>
            <p:cNvCxnSpPr>
              <a:stCxn id="132" idx="5"/>
              <a:endCxn id="134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043CE30-D584-8560-C302-F82F00DD3B88}"/>
                </a:ext>
              </a:extLst>
            </p:cNvPr>
            <p:cNvCxnSpPr>
              <a:stCxn id="132" idx="6"/>
              <a:endCxn id="136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6EF3E1-4A79-B0B1-F6A6-691602EC3480}"/>
                </a:ext>
              </a:extLst>
            </p:cNvPr>
            <p:cNvCxnSpPr>
              <a:stCxn id="132" idx="4"/>
              <a:endCxn id="133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617F5B1-C852-651C-A722-13833C7EC25B}"/>
                </a:ext>
              </a:extLst>
            </p:cNvPr>
            <p:cNvCxnSpPr>
              <a:stCxn id="134" idx="3"/>
              <a:endCxn id="133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7394A6B-64F2-D29B-F5A0-D1A1EA90F8E6}"/>
                </a:ext>
              </a:extLst>
            </p:cNvPr>
            <p:cNvCxnSpPr>
              <a:stCxn id="134" idx="5"/>
              <a:endCxn id="135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4B4FE11-79BE-533B-6A38-08CC94430314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3A24EFE-9E00-0FE4-15FE-FB70C3BA79B3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A8FFC3B-86A4-0EB0-A5C0-E45867D7E1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8B94105-BFEF-4A7A-D0C0-E0D8127B62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FE3DC91-86A2-9D42-12DF-BB24BE9421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E1D5593C-2C8E-A994-543A-9CEE08EEF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53B4CA73-4FD1-7B86-3FD1-1D64A75628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3594DAE-469A-C8D8-20D9-0145181B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867CC96-FEC8-2E08-6A69-88C3133CDB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6CCC520-96C1-4662-7CDC-54EB2676E1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FC504AC-D2D5-0307-36F6-95B7229153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286570D-8EB5-EE0E-C6D0-680EB4EE26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F8FE19D-3308-22F6-B8AD-D88C0E0C7C16}"/>
              </a:ext>
            </a:extLst>
          </p:cNvPr>
          <p:cNvGrpSpPr/>
          <p:nvPr/>
        </p:nvGrpSpPr>
        <p:grpSpPr>
          <a:xfrm>
            <a:off x="7712935" y="780544"/>
            <a:ext cx="3627010" cy="1273879"/>
            <a:chOff x="485300" y="744365"/>
            <a:chExt cx="3627010" cy="1273879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ABDF4E16-C1C8-6BB5-3E6E-5507C287C3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8F978B04-2DD0-FDEC-A510-DBE61D925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8E0146B-C3A5-B28A-8330-984F8475F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17FCC549-C623-5505-A8C0-80A6E79EDF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97D7B60-D35A-0978-6103-1F94D1779D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38800FA-7FD4-7CCD-D8B3-6490765B3CBE}"/>
                </a:ext>
              </a:extLst>
            </p:cNvPr>
            <p:cNvCxnSpPr>
              <a:stCxn id="157" idx="5"/>
              <a:endCxn id="159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088F1DC-4785-BE5F-AD56-AF9793BB730E}"/>
                </a:ext>
              </a:extLst>
            </p:cNvPr>
            <p:cNvCxnSpPr>
              <a:stCxn id="157" idx="6"/>
              <a:endCxn id="161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89CA432-94DC-EFA5-75F6-AED6D705D3F5}"/>
                </a:ext>
              </a:extLst>
            </p:cNvPr>
            <p:cNvCxnSpPr>
              <a:stCxn id="157" idx="4"/>
              <a:endCxn id="158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DA23326-C03E-5CD6-22AE-7BF3C2945BF9}"/>
                </a:ext>
              </a:extLst>
            </p:cNvPr>
            <p:cNvCxnSpPr>
              <a:stCxn id="159" idx="3"/>
              <a:endCxn id="158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A9ED865-9677-68C2-1E58-8F8A9B69A1F9}"/>
                </a:ext>
              </a:extLst>
            </p:cNvPr>
            <p:cNvCxnSpPr>
              <a:stCxn id="159" idx="5"/>
              <a:endCxn id="160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776005B-B94D-BD2F-2F26-559320305BCB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657762E-5D8D-D700-DC4F-BCA008513401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9BAD0235-E651-00D0-C27B-48F3BA3C6A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750A145-1377-7D88-46D9-829FFB0AA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1F746D5-FB1E-97A5-D5DF-B745A528A2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86B664E-EDDA-7CB5-A5A2-42639439D2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858C41B-C2CB-F811-2A9B-E1EE99C91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DD64E39-E9EF-0A7E-C9F6-72E36C2D41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13A2023-E616-7759-9C3A-4765F705D3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27FA37D-DCB1-1A0B-6B94-0E89917261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05E1A0A-8784-21AD-97BA-D06604723B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36165FF-F0E3-9D9F-CBAD-39ADDB0ED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7D8DBF58-2B6E-884E-53C1-BDDD4482BB75}"/>
              </a:ext>
            </a:extLst>
          </p:cNvPr>
          <p:cNvGrpSpPr/>
          <p:nvPr/>
        </p:nvGrpSpPr>
        <p:grpSpPr>
          <a:xfrm>
            <a:off x="7726790" y="2530835"/>
            <a:ext cx="3627010" cy="1273879"/>
            <a:chOff x="485300" y="744365"/>
            <a:chExt cx="3627010" cy="1273879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6515FCF7-68AF-30C1-3506-3CB69ACC3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45B21BE4-4021-647A-2FC0-5CBBEDAEF6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C5721EF-4099-772C-1975-B9E2B0346F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23CDC1B-E944-9EE8-2F7C-48D7E49270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EC7FC985-B1C5-1CAA-CA15-066502795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6731EF5-BA1A-92B3-69E2-00B696A59C8C}"/>
                </a:ext>
              </a:extLst>
            </p:cNvPr>
            <p:cNvCxnSpPr>
              <a:stCxn id="182" idx="5"/>
              <a:endCxn id="184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FAB5CFE-AC9C-995F-595C-E89E05F27139}"/>
                </a:ext>
              </a:extLst>
            </p:cNvPr>
            <p:cNvCxnSpPr>
              <a:stCxn id="182" idx="6"/>
              <a:endCxn id="186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32CCD6D-CB08-A415-1AE5-88440F86520E}"/>
                </a:ext>
              </a:extLst>
            </p:cNvPr>
            <p:cNvCxnSpPr>
              <a:stCxn id="182" idx="4"/>
              <a:endCxn id="183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970970E-7867-18A2-AA70-34B075C66F14}"/>
                </a:ext>
              </a:extLst>
            </p:cNvPr>
            <p:cNvCxnSpPr>
              <a:stCxn id="184" idx="3"/>
              <a:endCxn id="183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58E363E8-C69A-4717-321E-82C065920812}"/>
                </a:ext>
              </a:extLst>
            </p:cNvPr>
            <p:cNvCxnSpPr>
              <a:stCxn id="184" idx="5"/>
              <a:endCxn id="185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B9A480D-8C18-4DC7-3F5E-6878527F30FE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2D01B1F-3149-2367-55A2-9F90651441BF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202C797-3FF0-010C-D690-7CD10A51E0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8A889D96-BB21-4207-9BB9-09B41383C6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861C812-568F-1E9D-13ED-759902AA12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877CB11-F8AE-60D7-CF03-2D79E5C5D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661E0C9-6286-5417-ED16-6D09C831D1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3A4D8D8-E2B4-4BB0-0BF6-CD8E55305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B071BB8-6F2C-6F5D-1F63-115C8C92D0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6CB7EDC-DD49-560F-99A6-02098F2D1E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FA880CD-5AB1-0F26-ADF1-5A8150D545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2015D43-3CD9-3CFC-EB96-A51A26AEA2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A856B6C-D516-C6E1-2673-B72F097259F6}"/>
              </a:ext>
            </a:extLst>
          </p:cNvPr>
          <p:cNvGrpSpPr/>
          <p:nvPr/>
        </p:nvGrpSpPr>
        <p:grpSpPr>
          <a:xfrm>
            <a:off x="7722172" y="4548980"/>
            <a:ext cx="3627010" cy="1273879"/>
            <a:chOff x="485300" y="744365"/>
            <a:chExt cx="3627010" cy="1273879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7BD6FA0A-EA33-9A5C-271F-AFF44DEE1E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744365"/>
              <a:ext cx="342900" cy="3429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00E4CA6-20E5-8AF8-E29C-3DAF6EA09F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663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C053457-870D-4FC7-4C67-0417277DE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0563" y="120985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99B67078-3450-2E57-9D01-56061C37A2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1675344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9E58C5E-FB9E-5558-6540-184B390CB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9410" y="749412"/>
              <a:ext cx="342900" cy="3429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7DDAF05-45BE-FCAA-1D26-B6623E6AD9D8}"/>
                </a:ext>
              </a:extLst>
            </p:cNvPr>
            <p:cNvCxnSpPr>
              <a:stCxn id="207" idx="5"/>
              <a:endCxn id="209" idx="1"/>
            </p:cNvCxnSpPr>
            <p:nvPr/>
          </p:nvCxnSpPr>
          <p:spPr>
            <a:xfrm>
              <a:off x="3219313" y="1037048"/>
              <a:ext cx="191467" cy="2230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0B0BEC71-1FC0-FACD-DE62-71225079C771}"/>
                </a:ext>
              </a:extLst>
            </p:cNvPr>
            <p:cNvCxnSpPr>
              <a:stCxn id="207" idx="6"/>
              <a:endCxn id="211" idx="2"/>
            </p:cNvCxnSpPr>
            <p:nvPr/>
          </p:nvCxnSpPr>
          <p:spPr>
            <a:xfrm>
              <a:off x="3269530" y="915815"/>
              <a:ext cx="499880" cy="50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E35B8D1-E14F-4A68-FB32-4444B25CA732}"/>
                </a:ext>
              </a:extLst>
            </p:cNvPr>
            <p:cNvCxnSpPr>
              <a:stCxn id="207" idx="4"/>
              <a:endCxn id="208" idx="0"/>
            </p:cNvCxnSpPr>
            <p:nvPr/>
          </p:nvCxnSpPr>
          <p:spPr>
            <a:xfrm>
              <a:off x="3098080" y="1087265"/>
              <a:ext cx="0" cy="588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4C4023A-1CA9-F9AE-1D66-AA0EA611D0D4}"/>
                </a:ext>
              </a:extLst>
            </p:cNvPr>
            <p:cNvCxnSpPr>
              <a:stCxn id="209" idx="3"/>
              <a:endCxn id="208" idx="7"/>
            </p:cNvCxnSpPr>
            <p:nvPr/>
          </p:nvCxnSpPr>
          <p:spPr>
            <a:xfrm flipH="1">
              <a:off x="3219313" y="1502537"/>
              <a:ext cx="191467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922F72D4-1ECD-31B6-10D7-FBD8C2C781B5}"/>
                </a:ext>
              </a:extLst>
            </p:cNvPr>
            <p:cNvCxnSpPr>
              <a:stCxn id="209" idx="5"/>
              <a:endCxn id="210" idx="1"/>
            </p:cNvCxnSpPr>
            <p:nvPr/>
          </p:nvCxnSpPr>
          <p:spPr>
            <a:xfrm>
              <a:off x="3653246" y="1502537"/>
              <a:ext cx="166381" cy="223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ACC3A568-F1C0-2641-5013-5764BC6C769D}"/>
                </a:ext>
              </a:extLst>
            </p:cNvPr>
            <p:cNvSpPr txBox="1"/>
            <p:nvPr/>
          </p:nvSpPr>
          <p:spPr>
            <a:xfrm>
              <a:off x="485300" y="1010457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Visited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997A43B7-0611-9BA4-9FBF-9EF84824F913}"/>
                </a:ext>
              </a:extLst>
            </p:cNvPr>
            <p:cNvSpPr txBox="1"/>
            <p:nvPr/>
          </p:nvSpPr>
          <p:spPr>
            <a:xfrm>
              <a:off x="485300" y="1411446"/>
              <a:ext cx="4972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Stack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2F2C940-3A40-CDAE-72C5-1AFF6DDC92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290C6616-925C-FBCD-4FAA-A526FE4699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2C31D1D7-58AA-BBE9-159D-07DDA1869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65230E4E-BC5D-C5CB-BFBB-974882977A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1113" y="99415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7CE7945-8EDD-736A-988F-DB80A2ABF3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044" y="996201"/>
              <a:ext cx="297180" cy="29718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BF425FC-4004-9B88-628C-E02ABECC61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732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6DFF2A14-1530-3A05-C9D3-72650CA8CF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450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D849BCD-D448-CCBC-0032-67746EC557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1684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54FBA40-8C45-475D-CC67-51CE02B83F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5280" y="1394078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B2CB5A0-B541-4BD2-BEE7-0112AE704F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26977" y="1391141"/>
              <a:ext cx="297180" cy="297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231" name="TextBox 230">
            <a:extLst>
              <a:ext uri="{FF2B5EF4-FFF2-40B4-BE49-F238E27FC236}">
                <a16:creationId xmlns:a16="http://schemas.microsoft.com/office/drawing/2014/main" id="{7E077321-A93C-2B01-DA25-CAA490D536A1}"/>
              </a:ext>
            </a:extLst>
          </p:cNvPr>
          <p:cNvSpPr txBox="1"/>
          <p:nvPr/>
        </p:nvSpPr>
        <p:spPr>
          <a:xfrm>
            <a:off x="335600" y="2274838"/>
            <a:ext cx="25090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DFS(G, u)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v ∈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G.Adj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[u]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== false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DFS(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G,v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u ∈ 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u ∈ 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DFS(G, u)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20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1514-5542-2975-8573-8227D7D8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28E93-8959-60C4-0EFD-45687558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1D74-BB3C-C911-8E2E-C7735A1D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E155B-6BF6-D9FC-2F9E-1A710229978D}"/>
              </a:ext>
            </a:extLst>
          </p:cNvPr>
          <p:cNvSpPr txBox="1"/>
          <p:nvPr/>
        </p:nvSpPr>
        <p:spPr>
          <a:xfrm>
            <a:off x="335600" y="263941"/>
            <a:ext cx="5623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Depth-First Search (DFS) – visit strategies</a:t>
            </a:r>
            <a:endParaRPr lang="en-US" sz="240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0A03133-B38C-1050-DF4A-26F8BE594989}"/>
              </a:ext>
            </a:extLst>
          </p:cNvPr>
          <p:cNvSpPr txBox="1"/>
          <p:nvPr/>
        </p:nvSpPr>
        <p:spPr>
          <a:xfrm>
            <a:off x="335600" y="2228997"/>
            <a:ext cx="25090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DFS(G, u)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v ∈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G.Adj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[u]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== false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DFS(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G,v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u ∈ 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each u ∈ 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DFS(G, u)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A0B5D-9A08-CE86-BB4E-58D7C2AE4C09}"/>
              </a:ext>
            </a:extLst>
          </p:cNvPr>
          <p:cNvCxnSpPr>
            <a:cxnSpLocks/>
          </p:cNvCxnSpPr>
          <p:nvPr/>
        </p:nvCxnSpPr>
        <p:spPr>
          <a:xfrm flipH="1">
            <a:off x="2197561" y="1807517"/>
            <a:ext cx="416330" cy="498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CCD7A-F795-5FDE-117B-FDA34996BB24}"/>
              </a:ext>
            </a:extLst>
          </p:cNvPr>
          <p:cNvSpPr txBox="1"/>
          <p:nvPr/>
        </p:nvSpPr>
        <p:spPr>
          <a:xfrm>
            <a:off x="1572484" y="1246469"/>
            <a:ext cx="2082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the order of DFS instructions</a:t>
            </a:r>
            <a:br>
              <a:rPr lang="en-US" sz="1200"/>
            </a:br>
            <a:r>
              <a:rPr lang="en-US" sz="1200"/>
              <a:t>decides the visit 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E15C2-D4DD-1FF1-BD40-E5AF3B4CFE16}"/>
              </a:ext>
            </a:extLst>
          </p:cNvPr>
          <p:cNvSpPr txBox="1"/>
          <p:nvPr/>
        </p:nvSpPr>
        <p:spPr>
          <a:xfrm>
            <a:off x="3874482" y="1399309"/>
            <a:ext cx="814024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pre-ordering: we visit the node, then all neighbors in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post-ordering: we visit all neighbors in order, then the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 pre-ordering: we visit the node, then all neighbors in reverse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 post-ordering: we visit all neighbors in reverse order, then the node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case a graph collapses to a binary tree, we have two additional visit strategies: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in-order: we visit the left subtree, then the node, then the right subtree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 in-order: we visit the right subtree, then the node, then the left subtree</a:t>
            </a:r>
          </a:p>
        </p:txBody>
      </p:sp>
    </p:spTree>
    <p:extLst>
      <p:ext uri="{BB962C8B-B14F-4D97-AF65-F5344CB8AC3E}">
        <p14:creationId xmlns:p14="http://schemas.microsoft.com/office/powerpoint/2010/main" val="13730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II – Graphs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267855" y="210731"/>
            <a:ext cx="2172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Priority queues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267855" y="975334"/>
            <a:ext cx="114492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priority queue is an abstract data type similar to a regular queue.</a:t>
            </a:r>
          </a:p>
          <a:p>
            <a:endParaRPr lang="en-US" dirty="0"/>
          </a:p>
          <a:p>
            <a:r>
              <a:rPr lang="en-US" dirty="0"/>
              <a:t>In a priority queue, each element has an associated priority, which determines its order of service. Priority queue serves highest priority items first.</a:t>
            </a:r>
          </a:p>
          <a:p>
            <a:endParaRPr lang="en-US" dirty="0"/>
          </a:p>
          <a:p>
            <a:r>
              <a:rPr lang="en-US" dirty="0"/>
              <a:t>Generally, we have two kinds of priority queues: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max-priority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min-priority</a:t>
            </a:r>
          </a:p>
          <a:p>
            <a:endParaRPr lang="en-US" dirty="0"/>
          </a:p>
          <a:p>
            <a:r>
              <a:rPr lang="en-US" dirty="0"/>
              <a:t>They can be implemented in several ways, including heaps and skip lists.</a:t>
            </a:r>
          </a:p>
          <a:p>
            <a:endParaRPr lang="en-US" dirty="0"/>
          </a:p>
          <a:p>
            <a:r>
              <a:rPr lang="en-US" dirty="0"/>
              <a:t>Arrays do not fit: while, when items are sorted by priority, the access is quite quick, insertion/deletion can be slow,</a:t>
            </a:r>
            <a:br>
              <a:rPr lang="en-US" dirty="0"/>
            </a:br>
            <a:r>
              <a:rPr lang="en-US" dirty="0"/>
              <a:t>due to reallocation.</a:t>
            </a:r>
          </a:p>
          <a:p>
            <a:endParaRPr lang="en-US" dirty="0"/>
          </a:p>
          <a:p>
            <a:r>
              <a:rPr lang="en-US" dirty="0"/>
              <a:t>Simple linked lists fixes the insertion/deletion issue, but searching for the item makes them really slow (i.e. linear).</a:t>
            </a:r>
          </a:p>
        </p:txBody>
      </p:sp>
    </p:spTree>
    <p:extLst>
      <p:ext uri="{BB962C8B-B14F-4D97-AF65-F5344CB8AC3E}">
        <p14:creationId xmlns:p14="http://schemas.microsoft.com/office/powerpoint/2010/main" val="189995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D560E-0CF2-5DEB-E100-8672C159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2B3C4-311D-1098-2FCB-89A05353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40485-0E9B-6E27-59F7-1ED6A8E4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DBB52-D8BE-AC76-4DE2-FEAFCDE6C188}"/>
              </a:ext>
            </a:extLst>
          </p:cNvPr>
          <p:cNvSpPr txBox="1"/>
          <p:nvPr/>
        </p:nvSpPr>
        <p:spPr>
          <a:xfrm>
            <a:off x="335600" y="1020651"/>
            <a:ext cx="10818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Dijkstra's algorithm is an algorithm for finding the shortest paths between nodes in a weighted graph.</a:t>
            </a:r>
          </a:p>
          <a:p>
            <a:endParaRPr lang="en-US"/>
          </a:p>
          <a:p>
            <a:r>
              <a:rPr lang="en-US"/>
              <a:t>The algorithm uses a min-priority queue data structure for selecting the shortest paths known so far.</a:t>
            </a:r>
          </a:p>
          <a:p>
            <a:endParaRPr lang="en-US"/>
          </a:p>
          <a:p>
            <a:r>
              <a:rPr lang="en-US"/>
              <a:t>Possible applications:</a:t>
            </a:r>
          </a:p>
          <a:p>
            <a:pPr marL="285750" indent="-285750">
              <a:buFontTx/>
              <a:buChar char="-"/>
            </a:pPr>
            <a:r>
              <a:rPr lang="en-US"/>
              <a:t>navigation</a:t>
            </a:r>
          </a:p>
          <a:p>
            <a:pPr marL="285750" indent="-285750">
              <a:buFontTx/>
              <a:buChar char="-"/>
            </a:pPr>
            <a:r>
              <a:rPr lang="en-US"/>
              <a:t>network routing protocols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F9A3C-6093-F64E-F2D1-726948C73B15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9873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343E-8054-F5FC-3CE6-38F62F3A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3F467-ACF4-0B16-9673-F29AF796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C1F1-E8D6-2794-8197-4E48D09D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4D474E-F081-9437-1487-948A37C5CACF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65FD0A6-EFE7-DFEF-A32D-704E0417EEF0}"/>
              </a:ext>
            </a:extLst>
          </p:cNvPr>
          <p:cNvGrpSpPr/>
          <p:nvPr/>
        </p:nvGrpSpPr>
        <p:grpSpPr>
          <a:xfrm>
            <a:off x="6324132" y="2138615"/>
            <a:ext cx="3658536" cy="1865926"/>
            <a:chOff x="5875794" y="1030252"/>
            <a:chExt cx="3658536" cy="186592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CB25217-B3C3-FC68-42DE-EB5C141711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69ACDE6-E91F-B4C5-F42C-E64B8C1708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E443B39-FBED-B927-2F56-A59FB21007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2A8B5A-1EE6-8F1C-A692-5E5CE7DAFB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57B99A-7299-03F8-9F14-5853693D40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DC9868-F6E6-31BA-4396-15F123A64A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EB13BA-F794-E834-E8EB-1E65B4B0E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BD3351B-824E-8E0E-75DD-554D3680E020}"/>
                </a:ext>
              </a:extLst>
            </p:cNvPr>
            <p:cNvCxnSpPr>
              <a:cxnSpLocks/>
              <a:stCxn id="2" idx="0"/>
              <a:endCxn id="4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7CDD13-F831-9E5B-B1F3-0D78C8E10656}"/>
                </a:ext>
              </a:extLst>
            </p:cNvPr>
            <p:cNvCxnSpPr>
              <a:cxnSpLocks/>
              <a:stCxn id="4" idx="5"/>
              <a:endCxn id="5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7C7B0D6-A995-131D-BBDA-B9C4BDF4C93F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59961E-7D89-5B34-637F-13B749CA54A5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594748-062C-EB38-40FF-E1A1B1557B86}"/>
                </a:ext>
              </a:extLst>
            </p:cNvPr>
            <p:cNvCxnSpPr>
              <a:cxnSpLocks/>
              <a:stCxn id="5" idx="7"/>
              <a:endCxn id="8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22E504-41EA-4558-C496-CA402DAD461C}"/>
                </a:ext>
              </a:extLst>
            </p:cNvPr>
            <p:cNvCxnSpPr>
              <a:stCxn id="8" idx="5"/>
              <a:endCxn id="11" idx="0"/>
            </p:cNvCxnSpPr>
            <p:nvPr/>
          </p:nvCxnSpPr>
          <p:spPr>
            <a:xfrm>
              <a:off x="8069888" y="1615618"/>
              <a:ext cx="685018" cy="937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5A65A4C-6C9B-F6E5-E013-8F0F8B1E0B05}"/>
                </a:ext>
              </a:extLst>
            </p:cNvPr>
            <p:cNvCxnSpPr>
              <a:stCxn id="5" idx="6"/>
              <a:endCxn id="11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9217C61-A6BE-8B45-126D-DF1E9F9A8B11}"/>
                </a:ext>
              </a:extLst>
            </p:cNvPr>
            <p:cNvCxnSpPr>
              <a:cxnSpLocks/>
              <a:stCxn id="8" idx="6"/>
              <a:endCxn id="9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6307699-0F47-8348-D684-748539905F89}"/>
                </a:ext>
              </a:extLst>
            </p:cNvPr>
            <p:cNvCxnSpPr>
              <a:stCxn id="9" idx="7"/>
              <a:endCxn id="10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A2BFEEB-C7FE-06CC-EE74-D858DCEED657}"/>
                </a:ext>
              </a:extLst>
            </p:cNvPr>
            <p:cNvCxnSpPr>
              <a:stCxn id="8" idx="7"/>
              <a:endCxn id="10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532AA99-95BE-AD1A-2E26-9AE2015D094E}"/>
                </a:ext>
              </a:extLst>
            </p:cNvPr>
            <p:cNvCxnSpPr>
              <a:stCxn id="11" idx="7"/>
              <a:endCxn id="10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4FC4C4D-1107-33C9-7BFF-89F15DB1BAE2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38543EB-374F-F17A-EF63-6247876B28ED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46E2BF5-F704-441A-024D-09655F3F94CB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1EF1A0B-5F0F-8C42-EFBA-4849A17F1288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80B6BA-C4F8-392E-1FF2-2FFDCA17AA26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DFE535A-67A5-541D-9E1A-E9B8A24B896F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E90D85-087A-3C34-CEFE-DFF2A96194CB}"/>
                </a:ext>
              </a:extLst>
            </p:cNvPr>
            <p:cNvSpPr txBox="1"/>
            <p:nvPr/>
          </p:nvSpPr>
          <p:spPr>
            <a:xfrm>
              <a:off x="8213840" y="201693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6E5FC0-DEFB-029B-88F8-7A69933354D1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D78CD8D-4690-8DED-F035-46F1728DA2CE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92978C3-8C8F-C965-14C3-476C7550E7BF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87C7E13-C4B8-369C-4491-7F508FCB8707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6567A99-5C6B-DA5A-6E33-A116653EC42A}"/>
              </a:ext>
            </a:extLst>
          </p:cNvPr>
          <p:cNvSpPr txBox="1"/>
          <p:nvPr/>
        </p:nvSpPr>
        <p:spPr>
          <a:xfrm>
            <a:off x="546628" y="1196130"/>
            <a:ext cx="4368504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Dijkstra(Graph, source):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create vertex priority queue Q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[source] ← 0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Q.add_with_priority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(source, 0)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each vertex v in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Graph.Vertices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v ≠ source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[v] ← UNDEFINED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[v] ← INFINITY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Q.add_with_priority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(v, INFINITY)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Q is not empty: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 ←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Q.extract_min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each neighbor v of u: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alt ←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[u]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Graph.Edges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(u, v)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alt 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[v]: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[v] ← u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[v] ← alt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Q.decrease_priority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(v, alt)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70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A570-6A17-49A8-B20C-4BC3B21E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5BAA7-8B1B-3A6E-873C-FEEA61EE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8B80E-F753-5863-30C2-ED410843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10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4221D-6B27-29B1-59AE-F43640A4EA78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6A5C4F-EDE5-89D3-55C9-0D6905248E7F}"/>
              </a:ext>
            </a:extLst>
          </p:cNvPr>
          <p:cNvGrpSpPr/>
          <p:nvPr/>
        </p:nvGrpSpPr>
        <p:grpSpPr>
          <a:xfrm>
            <a:off x="833114" y="2721032"/>
            <a:ext cx="3658536" cy="1865926"/>
            <a:chOff x="5875794" y="1030252"/>
            <a:chExt cx="3658536" cy="186592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8C26208-613B-CE3D-E016-524CD46944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6C626EA-D2DD-42D7-4DB5-67B407C57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36AA332-69B4-BEDA-7EE8-F103098700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57C05B-35F5-03A1-3902-F41B524391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4F94C5-BE29-79F9-9A6E-62B50504B3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8DFA8EB-E9DB-17F5-CDB7-87FEE2C0A9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448D18D-4E7D-AEA5-B711-D144BB371E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EF90BDB-BE73-6B7D-1A84-9EF90019A1D9}"/>
                </a:ext>
              </a:extLst>
            </p:cNvPr>
            <p:cNvCxnSpPr>
              <a:cxnSpLocks/>
              <a:stCxn id="2" idx="0"/>
              <a:endCxn id="4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019159-F7A4-E2D1-3128-CAEBABF442DD}"/>
                </a:ext>
              </a:extLst>
            </p:cNvPr>
            <p:cNvCxnSpPr>
              <a:cxnSpLocks/>
              <a:stCxn id="4" idx="5"/>
              <a:endCxn id="5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5B35C0-BDF5-A01F-141B-B55F1FBED363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843B2E1-2937-ABCD-D883-D101F191CCB5}"/>
                </a:ext>
              </a:extLst>
            </p:cNvPr>
            <p:cNvCxnSpPr>
              <a:stCxn id="4" idx="6"/>
              <a:endCxn id="8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661773-8628-F1F0-8881-A6D6B9278584}"/>
                </a:ext>
              </a:extLst>
            </p:cNvPr>
            <p:cNvCxnSpPr>
              <a:cxnSpLocks/>
              <a:stCxn id="5" idx="7"/>
              <a:endCxn id="8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2B947A-B32D-19F0-486B-5EFABF6DE9AE}"/>
                </a:ext>
              </a:extLst>
            </p:cNvPr>
            <p:cNvCxnSpPr>
              <a:cxnSpLocks/>
              <a:stCxn id="8" idx="5"/>
              <a:endCxn id="11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8A5D30-1C96-3F37-6B2A-D06D031D5C4F}"/>
                </a:ext>
              </a:extLst>
            </p:cNvPr>
            <p:cNvCxnSpPr>
              <a:stCxn id="5" idx="6"/>
              <a:endCxn id="11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9A5EB4-CD42-2408-463F-1E627122E70E}"/>
                </a:ext>
              </a:extLst>
            </p:cNvPr>
            <p:cNvCxnSpPr>
              <a:cxnSpLocks/>
              <a:stCxn id="8" idx="6"/>
              <a:endCxn id="9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3106C47-F9E6-AB58-3BD4-5EBC797AE946}"/>
                </a:ext>
              </a:extLst>
            </p:cNvPr>
            <p:cNvCxnSpPr>
              <a:stCxn id="9" idx="7"/>
              <a:endCxn id="10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A04540-DB9C-2ED3-9228-0110348085A4}"/>
                </a:ext>
              </a:extLst>
            </p:cNvPr>
            <p:cNvCxnSpPr>
              <a:stCxn id="8" idx="7"/>
              <a:endCxn id="10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D42D564-1DE6-DF6C-E054-DFC57F902E5C}"/>
                </a:ext>
              </a:extLst>
            </p:cNvPr>
            <p:cNvCxnSpPr>
              <a:stCxn id="11" idx="7"/>
              <a:endCxn id="10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1346D8D-4462-F0FF-6072-88625E971187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ED0849-8690-5692-DF02-7AB67C88EDC7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F750512-EDD2-4E10-7D11-E246D64CDFD3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563CC96-8C92-5B65-F11E-B199F631E1C4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5157892-717E-98E4-43EE-3889206244A1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9CF0F7-DE9C-551C-8C22-EF9F2F9188D8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07401CF-F685-F114-853B-2A8C7AE2DD42}"/>
                </a:ext>
              </a:extLst>
            </p:cNvPr>
            <p:cNvSpPr txBox="1"/>
            <p:nvPr/>
          </p:nvSpPr>
          <p:spPr>
            <a:xfrm>
              <a:off x="8179390" y="209553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D09588-46E0-2A77-42AF-11F4C0D43EAD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1AC25B5-0286-5B17-5EBB-F5D8B1B61EA9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99C67C8-6FD7-7B84-FC0A-2A09829F9683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0267501-591C-7A20-1319-D2D1FA9FFE08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AF39C6B-9A94-46E5-4134-6520297C9D21}"/>
              </a:ext>
            </a:extLst>
          </p:cNvPr>
          <p:cNvSpPr txBox="1"/>
          <p:nvPr/>
        </p:nvSpPr>
        <p:spPr>
          <a:xfrm>
            <a:off x="335600" y="845511"/>
            <a:ext cx="59690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We initialize a priority Q with the distance from the start node, let’s select D, that is zero,</a:t>
            </a:r>
            <a:br>
              <a:rPr lang="en-US" sz="1200" dirty="0"/>
            </a:br>
            <a:r>
              <a:rPr lang="en-US" sz="1200" dirty="0"/>
              <a:t>and all other with infinity.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D: 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A: inf, B: inf, C: inf, E: inf, F: inf, G: inf]</a:t>
            </a:r>
          </a:p>
          <a:p>
            <a:endParaRPr lang="en-US" sz="1200" dirty="0"/>
          </a:p>
          <a:p>
            <a:r>
              <a:rPr lang="en-US" sz="1200" dirty="0"/>
              <a:t>and a vector of distances, where D is the only zero value, and all others are +inf,</a:t>
            </a:r>
          </a:p>
          <a:p>
            <a:r>
              <a:rPr lang="en-US" sz="1200" dirty="0"/>
              <a:t>and a vector of predecessors, all undefined.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[inf, inf, inf,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  inf, inf, inf]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[nil, nil, nil,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nil, nil]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BEB6B-61B5-2C50-0F5B-106615B950CB}"/>
              </a:ext>
            </a:extLst>
          </p:cNvPr>
          <p:cNvSpPr txBox="1"/>
          <p:nvPr/>
        </p:nvSpPr>
        <p:spPr>
          <a:xfrm>
            <a:off x="6069542" y="2313960"/>
            <a:ext cx="5970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We extract the first node from the queue and check the distance with all its neighbors.</a:t>
            </a:r>
          </a:p>
          <a:p>
            <a:r>
              <a:rPr lang="en-US" sz="1200" dirty="0"/>
              <a:t>If the distance is less than what we’ve in our vector, update data in the distance vectors,</a:t>
            </a:r>
          </a:p>
          <a:p>
            <a:r>
              <a:rPr lang="en-US" sz="1200" dirty="0"/>
              <a:t>the predecessors and the priority queue: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E: 2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4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B: inf, C: inf, F: inf, G: inf]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inf, inf, 0,  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inf, inf]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nil, nil,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nil]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FD08BD-C1B2-4371-30B7-8FB470FE20F4}"/>
              </a:ext>
            </a:extLst>
          </p:cNvPr>
          <p:cNvGrpSpPr/>
          <p:nvPr/>
        </p:nvGrpSpPr>
        <p:grpSpPr>
          <a:xfrm>
            <a:off x="7153211" y="3973565"/>
            <a:ext cx="3658536" cy="1865926"/>
            <a:chOff x="5875794" y="1030252"/>
            <a:chExt cx="3658536" cy="186592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B3D7EC-3D6A-5585-81D4-E2019E57E3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C54E38-486C-FA7D-264E-67947402D7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C14E7F-3185-4FFB-0168-79505FE00F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DB9D33-1F5E-45AB-F17D-A38719BB91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44B917A-2537-1B93-7C3A-80187AE329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FCC9E56-2EDD-4E1D-9C8A-F0C52CACBA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83A0CE1-2C67-7E50-4D85-A763DBC6B1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D0A1B2-5761-09A9-44D3-F9AE26A6A193}"/>
                </a:ext>
              </a:extLst>
            </p:cNvPr>
            <p:cNvCxnSpPr>
              <a:cxnSpLocks/>
              <a:stCxn id="14" idx="0"/>
              <a:endCxn id="16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8DB4B9-A802-B11F-8808-1E5999A08326}"/>
                </a:ext>
              </a:extLst>
            </p:cNvPr>
            <p:cNvCxnSpPr>
              <a:cxnSpLocks/>
              <a:stCxn id="16" idx="5"/>
              <a:endCxn id="19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F5B5A5F-F218-1AFF-CF52-83BFFD421D07}"/>
                </a:ext>
              </a:extLst>
            </p:cNvPr>
            <p:cNvCxnSpPr>
              <a:stCxn id="14" idx="6"/>
              <a:endCxn id="19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57B958-39CA-899C-02FF-8F8C51493F9C}"/>
                </a:ext>
              </a:extLst>
            </p:cNvPr>
            <p:cNvCxnSpPr>
              <a:stCxn id="16" idx="6"/>
              <a:endCxn id="21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B2DB577-7944-3B64-42F2-E9753C51B6DB}"/>
                </a:ext>
              </a:extLst>
            </p:cNvPr>
            <p:cNvCxnSpPr>
              <a:cxnSpLocks/>
              <a:stCxn id="19" idx="7"/>
              <a:endCxn id="21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B27B234-C0EF-9667-4472-AB98B50383FB}"/>
                </a:ext>
              </a:extLst>
            </p:cNvPr>
            <p:cNvCxnSpPr>
              <a:cxnSpLocks/>
              <a:stCxn id="21" idx="5"/>
              <a:endCxn id="25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ACD499-A3D3-7737-E8CA-024F2C2591EB}"/>
                </a:ext>
              </a:extLst>
            </p:cNvPr>
            <p:cNvCxnSpPr>
              <a:stCxn id="19" idx="6"/>
              <a:endCxn id="25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5CD1F7F-D629-AE38-C85D-57E8FC616E3B}"/>
                </a:ext>
              </a:extLst>
            </p:cNvPr>
            <p:cNvCxnSpPr>
              <a:cxnSpLocks/>
              <a:stCxn id="21" idx="6"/>
              <a:endCxn id="22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DAB476-FBAC-E5FF-BB4E-9F166FC1A653}"/>
                </a:ext>
              </a:extLst>
            </p:cNvPr>
            <p:cNvCxnSpPr>
              <a:stCxn id="22" idx="7"/>
              <a:endCxn id="24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F911175-EC40-7BC8-4D9E-3E67DECF89DB}"/>
                </a:ext>
              </a:extLst>
            </p:cNvPr>
            <p:cNvCxnSpPr>
              <a:stCxn id="21" idx="7"/>
              <a:endCxn id="24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F30F05-5EE0-3BB6-5954-29CBE27DF306}"/>
                </a:ext>
              </a:extLst>
            </p:cNvPr>
            <p:cNvCxnSpPr>
              <a:stCxn id="25" idx="7"/>
              <a:endCxn id="24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A54D14-1BE4-EC04-C167-B68E5B8C930C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9D45996-2666-A649-6BBE-38D3E610D07B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E9B72AE-AEBB-0FB8-5910-A2558B4D433D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0A7BCC-D06F-1D09-9654-4B109D523FAF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849D809-41AF-D36A-113D-F899A6F6E355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F350E52-CEF7-1B29-E79A-475D53EAED17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26ACD1-96AE-1C51-5E46-95E2A8CC0D09}"/>
                </a:ext>
              </a:extLst>
            </p:cNvPr>
            <p:cNvSpPr txBox="1"/>
            <p:nvPr/>
          </p:nvSpPr>
          <p:spPr>
            <a:xfrm>
              <a:off x="8191665" y="209607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76A36E3-C475-A939-B65F-803B518500C0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0AB1C5-9270-9A46-5105-38C34E84CE01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068183A-4AAA-2A25-6238-6B581662F4D0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B1FB1B-E479-0F3B-BC13-28423C6DEC67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67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687C-6883-AA25-B7BB-8B665A88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8EDE0-16BA-7251-80F2-E1569A2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C45AD-42E9-F0D0-ED98-DC3C1993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11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C006F7-930A-92B0-6115-41A9B51C7342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31503C-01B0-F13B-7275-DF2D2A7FB026}"/>
              </a:ext>
            </a:extLst>
          </p:cNvPr>
          <p:cNvSpPr txBox="1"/>
          <p:nvPr/>
        </p:nvSpPr>
        <p:spPr>
          <a:xfrm>
            <a:off x="593112" y="1024578"/>
            <a:ext cx="38106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Let’s repeat the loop, visiting E.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4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 6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G: 7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B: inf, F: inf]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inf,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0,   2, inf,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D, nil,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034B71-9F7E-DB92-EA1B-C0654B933FEA}"/>
              </a:ext>
            </a:extLst>
          </p:cNvPr>
          <p:cNvGrpSpPr/>
          <p:nvPr/>
        </p:nvGrpSpPr>
        <p:grpSpPr>
          <a:xfrm>
            <a:off x="662440" y="2583814"/>
            <a:ext cx="3658536" cy="1865926"/>
            <a:chOff x="5875794" y="1030252"/>
            <a:chExt cx="3658536" cy="186592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D636D8B-FB21-EF13-7F57-F3B914A7C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66063C-AEE1-A739-1E86-C36F9DBEE3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AD4F6A1-082A-CEAD-0F95-3BED8A9F1E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F20313E-2B65-DE3B-0395-EBD671CE76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34885A1-438E-7589-B235-8F5BA24811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2BABD3-B3CA-A111-EE77-14456DD32D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0CEA4FB-7BB3-1C84-DA9D-1C1E5E387D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F72C208-323F-A339-BB6D-B20B0D599123}"/>
                </a:ext>
              </a:extLst>
            </p:cNvPr>
            <p:cNvCxnSpPr>
              <a:cxnSpLocks/>
              <a:stCxn id="61" idx="0"/>
              <a:endCxn id="62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0D7E934-4506-BC45-4135-AB4C3BEF1023}"/>
                </a:ext>
              </a:extLst>
            </p:cNvPr>
            <p:cNvCxnSpPr>
              <a:cxnSpLocks/>
              <a:stCxn id="62" idx="5"/>
              <a:endCxn id="63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F716C5C-933B-7A60-3582-CEE5D2C52A8F}"/>
                </a:ext>
              </a:extLst>
            </p:cNvPr>
            <p:cNvCxnSpPr>
              <a:stCxn id="61" idx="6"/>
              <a:endCxn id="63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91A3F70-0B5F-86B1-57AE-E94B7947C35E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FE6D045-BB0F-0A8B-A73E-34A82F43F151}"/>
                </a:ext>
              </a:extLst>
            </p:cNvPr>
            <p:cNvCxnSpPr>
              <a:cxnSpLocks/>
              <a:stCxn id="63" idx="7"/>
              <a:endCxn id="65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04FB3F3-5028-BE00-4F98-E2E6D6B56592}"/>
                </a:ext>
              </a:extLst>
            </p:cNvPr>
            <p:cNvCxnSpPr>
              <a:cxnSpLocks/>
              <a:stCxn id="65" idx="5"/>
              <a:endCxn id="72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5271181-DFB5-5B6E-89F3-8DA7C16E0A32}"/>
                </a:ext>
              </a:extLst>
            </p:cNvPr>
            <p:cNvCxnSpPr>
              <a:stCxn id="63" idx="6"/>
              <a:endCxn id="72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45F8D5B-1262-CF8B-7814-992412F199A9}"/>
                </a:ext>
              </a:extLst>
            </p:cNvPr>
            <p:cNvCxnSpPr>
              <a:cxnSpLocks/>
              <a:stCxn id="65" idx="6"/>
              <a:endCxn id="68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371B2F0-3144-BD5E-8DE3-3CC7661CD491}"/>
                </a:ext>
              </a:extLst>
            </p:cNvPr>
            <p:cNvCxnSpPr>
              <a:stCxn id="68" idx="7"/>
              <a:endCxn id="70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383ADE1-72B5-FB61-939E-80770323783B}"/>
                </a:ext>
              </a:extLst>
            </p:cNvPr>
            <p:cNvCxnSpPr>
              <a:stCxn id="65" idx="7"/>
              <a:endCxn id="70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04D6A4E-2740-26C7-5833-981678A5D13D}"/>
                </a:ext>
              </a:extLst>
            </p:cNvPr>
            <p:cNvCxnSpPr>
              <a:stCxn id="72" idx="7"/>
              <a:endCxn id="70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8688D7E-3B71-5AB4-4DF6-AEF0A679FD12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DA4CDB1-F533-3CFF-D48E-45BC4FCDA150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EEF649C-250D-048E-5D81-01DF297B342B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0E82D08-6049-46C3-38CE-4EB9FE3A1F8F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F61C4F6-039E-F39C-49D3-08696F96A77C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183E03D-8FEA-C845-7648-9C2D1E10CB70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29435E-68DF-AFEF-DEED-EC970A54B54B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8B5DD1-D8C8-9E59-6FAD-8D8FF453FEED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2295282-5988-062C-279A-775B2DC5C285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4B12996-98A0-5D30-0982-267C0EC615B1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B858B97-3BBF-3C25-ABBB-F49AA4FE997D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4BF42168-7286-55F5-C673-5C2FE602B854}"/>
              </a:ext>
            </a:extLst>
          </p:cNvPr>
          <p:cNvSpPr txBox="1"/>
          <p:nvPr/>
        </p:nvSpPr>
        <p:spPr>
          <a:xfrm>
            <a:off x="7194273" y="1885029"/>
            <a:ext cx="33457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Let’s repeat the loop, visiting A.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 6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G: 7, B: inf, F: inf]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inf,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0,   2, inf, 7]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nil,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nil, D, nil, E]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42FC71A-5D1C-AE8E-3716-E84E8F6BF58B}"/>
              </a:ext>
            </a:extLst>
          </p:cNvPr>
          <p:cNvGrpSpPr/>
          <p:nvPr/>
        </p:nvGrpSpPr>
        <p:grpSpPr>
          <a:xfrm>
            <a:off x="7139641" y="3413390"/>
            <a:ext cx="3658536" cy="1865926"/>
            <a:chOff x="5875794" y="1030252"/>
            <a:chExt cx="3658536" cy="186592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0E8BF1A-A262-8E1E-9952-F7D00AEE7E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3CFEA28-6EAF-515B-D4BC-76EAB9763F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1619AB5-2F29-DAE4-A98D-000707F25D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2FE590C-B272-782E-4E1A-0BC9EF94A4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A3B9491-648D-2D3A-4E37-E18A9571C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028FFAD-02B2-0473-EBEB-EF60B39FE6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2088FCD-8CDA-B079-3630-B26BB5E2CE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6F4E2B-632C-B398-3BAA-EE3A21D05127}"/>
                </a:ext>
              </a:extLst>
            </p:cNvPr>
            <p:cNvCxnSpPr>
              <a:cxnSpLocks/>
              <a:stCxn id="102" idx="0"/>
              <a:endCxn id="103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3DD9DAD-15A4-FB32-E2E7-8BC8BDC0B29E}"/>
                </a:ext>
              </a:extLst>
            </p:cNvPr>
            <p:cNvCxnSpPr>
              <a:cxnSpLocks/>
              <a:stCxn id="103" idx="5"/>
              <a:endCxn id="104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8BB9F16-F1EB-DEE0-A07D-70C2E4BCF5B7}"/>
                </a:ext>
              </a:extLst>
            </p:cNvPr>
            <p:cNvCxnSpPr>
              <a:stCxn id="102" idx="6"/>
              <a:endCxn id="104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2F6B7B2-2577-7743-ADFB-5CBC57A619F1}"/>
                </a:ext>
              </a:extLst>
            </p:cNvPr>
            <p:cNvCxnSpPr>
              <a:stCxn id="103" idx="6"/>
              <a:endCxn id="105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5BC08C0-628D-6524-00CF-8E2A54B70628}"/>
                </a:ext>
              </a:extLst>
            </p:cNvPr>
            <p:cNvCxnSpPr>
              <a:cxnSpLocks/>
              <a:stCxn id="104" idx="7"/>
              <a:endCxn id="105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3A72023-3798-939E-5EFB-20A2284CD622}"/>
                </a:ext>
              </a:extLst>
            </p:cNvPr>
            <p:cNvCxnSpPr>
              <a:cxnSpLocks/>
              <a:stCxn id="105" idx="5"/>
              <a:endCxn id="108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31227C3-B588-D320-4AF7-1839734E3CF9}"/>
                </a:ext>
              </a:extLst>
            </p:cNvPr>
            <p:cNvCxnSpPr>
              <a:stCxn id="104" idx="6"/>
              <a:endCxn id="108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6C0CC9C-68C2-44A3-AB28-396DAC3AE42D}"/>
                </a:ext>
              </a:extLst>
            </p:cNvPr>
            <p:cNvCxnSpPr>
              <a:cxnSpLocks/>
              <a:stCxn id="105" idx="6"/>
              <a:endCxn id="106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5578FEF-970C-8136-8BDC-3A1B9D3326B6}"/>
                </a:ext>
              </a:extLst>
            </p:cNvPr>
            <p:cNvCxnSpPr>
              <a:stCxn id="106" idx="7"/>
              <a:endCxn id="107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866843A-F7B5-B1AD-F3E2-230B37D68340}"/>
                </a:ext>
              </a:extLst>
            </p:cNvPr>
            <p:cNvCxnSpPr>
              <a:stCxn id="105" idx="7"/>
              <a:endCxn id="107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0CB2198-C7A1-DCA2-1FB7-763B7F6575A6}"/>
                </a:ext>
              </a:extLst>
            </p:cNvPr>
            <p:cNvCxnSpPr>
              <a:stCxn id="108" idx="7"/>
              <a:endCxn id="107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0576CA2-22A2-9F93-DFDE-8A4903091EAB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81A64EB-70A0-8A3C-7E84-CC077B44506F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4CE54D8-10DA-4C15-2858-EC7C3D32BAB2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E34CB7F-0886-461F-8240-88F78D70866B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67BE175-D5C5-9497-1232-925BC9799919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DE971BA-F50A-4080-57F1-71259C76E4C5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7073CE8-197C-76E4-B8DA-F2438351DAE7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6014AB5-EFDA-CF1D-1C04-3FF3E471B725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A6609CA-9CD8-2931-0272-BB1D085CAB8D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0EF597B-6E42-5127-1A7D-28767BE6CE81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363072F-71EB-4965-96DB-1D016BC8FC94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06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11C1-6DF1-DB97-51D4-ABFE2AAF1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5E9AE-D3A6-F9CD-5C2E-3802902F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1E50A-C7B1-0984-DD52-033C816A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68A615-2A97-DA19-BDF8-70A1352FA8C1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2390C6-1DCA-6B58-A9BB-998978EA0D54}"/>
              </a:ext>
            </a:extLst>
          </p:cNvPr>
          <p:cNvSpPr txBox="1"/>
          <p:nvPr/>
        </p:nvSpPr>
        <p:spPr>
          <a:xfrm>
            <a:off x="796375" y="1029210"/>
            <a:ext cx="3066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Let’s repeat the loop, visiting C.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G: 7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B: 8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F: 11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6, 0,   2,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E, nil, D,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E1934E-B15A-1688-5EBF-1152F6D85DC1}"/>
              </a:ext>
            </a:extLst>
          </p:cNvPr>
          <p:cNvGrpSpPr/>
          <p:nvPr/>
        </p:nvGrpSpPr>
        <p:grpSpPr>
          <a:xfrm>
            <a:off x="741743" y="2557571"/>
            <a:ext cx="3658536" cy="1865926"/>
            <a:chOff x="5875794" y="1030252"/>
            <a:chExt cx="3658536" cy="186592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86C2EB-B9C6-5375-2B6A-72B608D021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EF69C45-4830-8597-5290-4AB1360A1C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6C83EA6-49A6-99FA-F454-8EBE108C9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860B43C-548E-52BE-0015-C7AD5AD87E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1DFF1A-D8BF-EBB0-4CA3-9E39DEAA2C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2A41F3-E7B7-671C-3979-BA712D51B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B3D70F-0DF0-8529-63F8-2A04A34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FCD14C-0A7E-D117-68FC-2F21A2BD154A}"/>
                </a:ext>
              </a:extLst>
            </p:cNvPr>
            <p:cNvCxnSpPr>
              <a:cxnSpLocks/>
              <a:stCxn id="5" idx="0"/>
              <a:endCxn id="7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19C1BE-D7D6-0AFC-5BFA-2BAA49022E8C}"/>
                </a:ext>
              </a:extLst>
            </p:cNvPr>
            <p:cNvCxnSpPr>
              <a:cxnSpLocks/>
              <a:stCxn id="7" idx="5"/>
              <a:endCxn id="8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63C7B14-35B3-5364-DF2A-24F8B66B8997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5B4AAF9-9CEF-5A06-94AA-562797956BF7}"/>
                </a:ext>
              </a:extLst>
            </p:cNvPr>
            <p:cNvCxnSpPr>
              <a:stCxn id="7" idx="6"/>
              <a:endCxn id="9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F3673E-AD2D-6DDA-E782-1498FE547E38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C73E51-C1C1-FEC6-0DBF-6BA64FD259F0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CD38FC-8823-383F-F560-8ED3A1C37ABC}"/>
                </a:ext>
              </a:extLst>
            </p:cNvPr>
            <p:cNvCxnSpPr>
              <a:stCxn id="8" idx="6"/>
              <a:endCxn id="12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CB52C8B-F073-D990-A18A-0D218B6CE71C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50DC3F-F9AD-E7A3-F86A-BEF026F4530D}"/>
                </a:ext>
              </a:extLst>
            </p:cNvPr>
            <p:cNvCxnSpPr>
              <a:stCxn id="10" idx="7"/>
              <a:endCxn id="11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A60937-C5A2-7BB0-D3F3-F5746AAA477E}"/>
                </a:ext>
              </a:extLst>
            </p:cNvPr>
            <p:cNvCxnSpPr>
              <a:stCxn id="9" idx="7"/>
              <a:endCxn id="11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9222042-3C52-203B-F540-3F46279E198F}"/>
                </a:ext>
              </a:extLst>
            </p:cNvPr>
            <p:cNvCxnSpPr>
              <a:stCxn id="12" idx="7"/>
              <a:endCxn id="11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026286-8D78-BCF7-475C-F49BB98A91CE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FDCD0F-224B-2B96-FD9C-8B6AFA6A995D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71729A-491A-B257-1A73-C7BC24EE5772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C3E4AF-5AE8-CD7C-6448-75CA21624CC1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E817FD-B2A5-F927-228F-31C9E8ACEE5B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424B2A-952C-A2AB-F9A8-DB41095ED0F0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CD64EA2-09AF-74AB-318E-BD7BE19D2FBC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62DF0F0-6070-3A31-FDA5-E274C353EC82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F89B0E-1CFC-3191-F784-921799AF0BFB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8EB5FB3-831C-1984-721B-5DB69AA65D30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AD7E42-EA33-D4E6-D3B5-363AEAC4CF39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914550F-4E1F-054C-C464-3DB92306169B}"/>
              </a:ext>
            </a:extLst>
          </p:cNvPr>
          <p:cNvSpPr txBox="1"/>
          <p:nvPr/>
        </p:nvSpPr>
        <p:spPr>
          <a:xfrm>
            <a:off x="7077167" y="1821375"/>
            <a:ext cx="3066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Let’s repeat the loop, visiting G.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[B: 8,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F: 11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8, 6, 0,   2,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7]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C, E, nil, D,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 E]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50A964E-85EB-9E99-4179-EDE9EEEA27FB}"/>
              </a:ext>
            </a:extLst>
          </p:cNvPr>
          <p:cNvGrpSpPr/>
          <p:nvPr/>
        </p:nvGrpSpPr>
        <p:grpSpPr>
          <a:xfrm>
            <a:off x="7022535" y="3349736"/>
            <a:ext cx="3658536" cy="1865926"/>
            <a:chOff x="5875794" y="1030252"/>
            <a:chExt cx="3658536" cy="186592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68D38E8-7809-8799-3F1C-92647DFC6C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C12C3DA-47CB-2F8B-650E-62DADFF409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4CBE1A2-3709-71E8-D807-29A97AA19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EEC574D-9A50-B366-6323-88D019EAE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5354A84-6887-3414-2996-84B082460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59CD77A-CE9C-131A-F20D-C13ACF4564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2BAB6C8-BC39-324C-AD0D-8CA9CB5F0A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38705DC-F0CA-D8E4-C1A8-3CE4C83A0CD2}"/>
                </a:ext>
              </a:extLst>
            </p:cNvPr>
            <p:cNvCxnSpPr>
              <a:cxnSpLocks/>
              <a:stCxn id="38" idx="0"/>
              <a:endCxn id="39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C105B87-0C29-FC8E-4E13-8BF0F256ABBC}"/>
                </a:ext>
              </a:extLst>
            </p:cNvPr>
            <p:cNvCxnSpPr>
              <a:cxnSpLocks/>
              <a:stCxn id="39" idx="5"/>
              <a:endCxn id="40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A0B98FE-55C2-4CA8-22EA-49B36469E245}"/>
                </a:ext>
              </a:extLst>
            </p:cNvPr>
            <p:cNvCxnSpPr>
              <a:stCxn id="38" idx="6"/>
              <a:endCxn id="40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8C9B2BF-2E44-21B9-AC7E-A60FA4EF5115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C784AF5-513A-7BAD-FA2F-775AD7EA0B80}"/>
                </a:ext>
              </a:extLst>
            </p:cNvPr>
            <p:cNvCxnSpPr>
              <a:cxnSpLocks/>
              <a:stCxn id="40" idx="7"/>
              <a:endCxn id="41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2726B9-F71F-E4DB-6F44-9B1E09FB5D05}"/>
                </a:ext>
              </a:extLst>
            </p:cNvPr>
            <p:cNvCxnSpPr>
              <a:cxnSpLocks/>
              <a:stCxn id="41" idx="5"/>
              <a:endCxn id="44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8EA9E44-28DC-F76E-FAF3-6743ADDCE06F}"/>
                </a:ext>
              </a:extLst>
            </p:cNvPr>
            <p:cNvCxnSpPr>
              <a:stCxn id="40" idx="6"/>
              <a:endCxn id="44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6A6C8A2-CDDA-EC89-7536-56128F330628}"/>
                </a:ext>
              </a:extLst>
            </p:cNvPr>
            <p:cNvCxnSpPr>
              <a:cxnSpLocks/>
              <a:stCxn id="41" idx="6"/>
              <a:endCxn id="42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25E244-9DF7-F62C-AD17-91825D4871C1}"/>
                </a:ext>
              </a:extLst>
            </p:cNvPr>
            <p:cNvCxnSpPr>
              <a:stCxn id="42" idx="7"/>
              <a:endCxn id="43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2295BBB-8C86-CDD8-834D-E58D8A78482F}"/>
                </a:ext>
              </a:extLst>
            </p:cNvPr>
            <p:cNvCxnSpPr>
              <a:stCxn id="41" idx="7"/>
              <a:endCxn id="43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48E1C21-5952-A4B3-DFCF-7306D2C3A725}"/>
                </a:ext>
              </a:extLst>
            </p:cNvPr>
            <p:cNvCxnSpPr>
              <a:stCxn id="44" idx="7"/>
              <a:endCxn id="43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8E706FD-6755-6C26-9703-A24D4F04B000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40894D-AAF3-A7AA-C93F-63F797A94B34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1C9F310-F967-ACE4-9CDF-C5D4D89531CC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9B8E56C-B16D-7598-CC16-E8C3DF793B6F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572DBF-4B91-5B9F-762B-EA58E4942036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E01E767-1C9A-0124-01AD-2D4E9EBB3D6B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552F78C-DE7B-530E-9BD1-359FCFA25063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E1BCDC7-DF25-CDAE-6969-6371306BE16F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138D5C2-C714-9A2D-037D-7BFDC4C388CC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AF40970-9571-D8CE-14CD-BF404B93B0A7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2BC55C2-E466-BE00-8025-82F72644ACFA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03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420A-05C8-A43A-1C96-C9D41610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04622-5878-FDB5-F140-98ED5380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3285-EAEB-3F9D-06C5-33674CDB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C7E7D9-E14E-DB5A-35AE-FC8D2B69EB7C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B65EB4-8FDE-EEAE-39EB-518EF0D75FA4}"/>
              </a:ext>
            </a:extLst>
          </p:cNvPr>
          <p:cNvSpPr txBox="1"/>
          <p:nvPr/>
        </p:nvSpPr>
        <p:spPr>
          <a:xfrm>
            <a:off x="713312" y="999339"/>
            <a:ext cx="3066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Let’s repeat the loop, visiting B.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F: 10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8, 6, 0,   2,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7]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C, E, nil, D,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 E]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05EC4C-9453-3A7C-F317-F6D392A2C956}"/>
              </a:ext>
            </a:extLst>
          </p:cNvPr>
          <p:cNvGrpSpPr/>
          <p:nvPr/>
        </p:nvGrpSpPr>
        <p:grpSpPr>
          <a:xfrm>
            <a:off x="658680" y="2527700"/>
            <a:ext cx="3658536" cy="1865926"/>
            <a:chOff x="5875794" y="1030252"/>
            <a:chExt cx="3658536" cy="186592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BCD98B-52AF-58F7-D7C3-FD344E0592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B3C4E98-8A01-F88A-D6DD-FA341B4CC7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A186865-4433-AF76-D7F5-E592C800E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E2D9976-70B9-C0C0-DDFD-9FDE6E5F42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CBEA737-4AC2-8EC7-7C89-8F02A7353F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08AEDF3-8D95-2F23-5C11-8DD4606F4F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7AD8269-920D-6236-362D-90C6F53CB4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7EDDF9A-6B6E-DD68-5AF5-A9C7BE80B9B9}"/>
                </a:ext>
              </a:extLst>
            </p:cNvPr>
            <p:cNvCxnSpPr>
              <a:cxnSpLocks/>
              <a:stCxn id="38" idx="0"/>
              <a:endCxn id="39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9DCA063-3CC6-8F40-E3A0-30AE13C9A521}"/>
                </a:ext>
              </a:extLst>
            </p:cNvPr>
            <p:cNvCxnSpPr>
              <a:cxnSpLocks/>
              <a:stCxn id="39" idx="5"/>
              <a:endCxn id="40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A17656-9515-9133-429B-B47C4AE0089F}"/>
                </a:ext>
              </a:extLst>
            </p:cNvPr>
            <p:cNvCxnSpPr>
              <a:stCxn id="38" idx="6"/>
              <a:endCxn id="40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2BBE32E-5EDF-BEC0-73FB-96CE92B74706}"/>
                </a:ext>
              </a:extLst>
            </p:cNvPr>
            <p:cNvCxnSpPr>
              <a:stCxn id="39" idx="6"/>
              <a:endCxn id="41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6B71C9-03D9-3A6C-E3CC-6F44350D1B77}"/>
                </a:ext>
              </a:extLst>
            </p:cNvPr>
            <p:cNvCxnSpPr>
              <a:cxnSpLocks/>
              <a:stCxn id="40" idx="7"/>
              <a:endCxn id="41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E7DD118-A04F-B599-E339-FD64139D70E6}"/>
                </a:ext>
              </a:extLst>
            </p:cNvPr>
            <p:cNvCxnSpPr>
              <a:cxnSpLocks/>
              <a:stCxn id="41" idx="5"/>
              <a:endCxn id="44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CADF4F5-FA35-45B2-FAAC-FEDDD86B414A}"/>
                </a:ext>
              </a:extLst>
            </p:cNvPr>
            <p:cNvCxnSpPr>
              <a:stCxn id="40" idx="6"/>
              <a:endCxn id="44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4473DCD-FD43-F895-2C55-4DB4FB22A832}"/>
                </a:ext>
              </a:extLst>
            </p:cNvPr>
            <p:cNvCxnSpPr>
              <a:cxnSpLocks/>
              <a:stCxn id="41" idx="6"/>
              <a:endCxn id="42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652F886-15E5-0DC6-0A78-9C007303D4E1}"/>
                </a:ext>
              </a:extLst>
            </p:cNvPr>
            <p:cNvCxnSpPr>
              <a:stCxn id="42" idx="7"/>
              <a:endCxn id="43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5CE902D-4410-362D-0265-71854E8CD8DF}"/>
                </a:ext>
              </a:extLst>
            </p:cNvPr>
            <p:cNvCxnSpPr>
              <a:stCxn id="41" idx="7"/>
              <a:endCxn id="43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00CE46F-1452-633F-A8F5-565B184E4025}"/>
                </a:ext>
              </a:extLst>
            </p:cNvPr>
            <p:cNvCxnSpPr>
              <a:stCxn id="44" idx="7"/>
              <a:endCxn id="43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571709B-C0F6-4323-9EDD-3BE8834C6D67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D3949A5-98DF-283A-7E29-9487158A121B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444263-5C2D-D7EA-EC17-98041AA0CD2A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7A3F36A-572D-1607-6764-B2BF23A817C4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27C02B9-06BB-046C-6BEF-1D7375C54266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F5FEEB6-7ED8-91E5-0437-3C96E3D8E45B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05ADF41-2D3D-0201-30C6-BBEC69228AD2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A535120-C644-DE47-7FCC-018B98195F15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F96A2C-0BAA-505E-5480-CFB0DD53FEA5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E60038F-8614-3E03-C7A4-7DF160EECA94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6E24B51-C904-D5D7-B4B2-FCE3ECFEF449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FF07D5C-526D-9B17-1BB5-80A939DB037B}"/>
              </a:ext>
            </a:extLst>
          </p:cNvPr>
          <p:cNvSpPr txBox="1"/>
          <p:nvPr/>
        </p:nvSpPr>
        <p:spPr>
          <a:xfrm>
            <a:off x="7077167" y="1681041"/>
            <a:ext cx="37215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 is the last one, there’s nothing to check anymore, so</a:t>
            </a:r>
          </a:p>
          <a:p>
            <a:r>
              <a:rPr lang="en-US" sz="1200" dirty="0"/>
              <a:t>the whole graph visit is over.</a:t>
            </a:r>
          </a:p>
          <a:p>
            <a:endParaRPr lang="en-US" sz="1200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[]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8, 6, 0,   2, 10, 7]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C, E, nil, D, B,  E]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A54503B-C785-B9BA-8792-70D917F01CDE}"/>
              </a:ext>
            </a:extLst>
          </p:cNvPr>
          <p:cNvGrpSpPr/>
          <p:nvPr/>
        </p:nvGrpSpPr>
        <p:grpSpPr>
          <a:xfrm>
            <a:off x="7022535" y="3209402"/>
            <a:ext cx="3658536" cy="1865926"/>
            <a:chOff x="5875794" y="1030252"/>
            <a:chExt cx="3658536" cy="186592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D850513-0BE0-1FE8-BFAA-C0C5B5C779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8066D71-FAFA-75F7-00B2-20B36D3150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8056F8D-4F18-A992-E618-5753CA9E4B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81E16D0-DD96-E1A6-4BAD-2A98862FF4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816F491-46AC-FC14-E0AF-15FA1196CF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DCA0363-FF65-21F3-6BA9-D647FE96CB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382990A-9D0C-9E4A-DB51-19F710345A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54F96F9-7D2E-76DF-84FD-D8E57CB5F2BD}"/>
                </a:ext>
              </a:extLst>
            </p:cNvPr>
            <p:cNvCxnSpPr>
              <a:cxnSpLocks/>
              <a:stCxn id="61" idx="0"/>
              <a:endCxn id="62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0952FB3-2423-0392-ADC2-7911ED56820E}"/>
                </a:ext>
              </a:extLst>
            </p:cNvPr>
            <p:cNvCxnSpPr>
              <a:cxnSpLocks/>
              <a:stCxn id="62" idx="5"/>
              <a:endCxn id="63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67CE484-E550-3684-8C13-F45A2177EE98}"/>
                </a:ext>
              </a:extLst>
            </p:cNvPr>
            <p:cNvCxnSpPr>
              <a:stCxn id="61" idx="6"/>
              <a:endCxn id="63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406194E-3669-B8C6-A98A-1E61CD495B78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9292B97-4643-EAAA-221F-D0D9591FB4CE}"/>
                </a:ext>
              </a:extLst>
            </p:cNvPr>
            <p:cNvCxnSpPr>
              <a:cxnSpLocks/>
              <a:stCxn id="63" idx="7"/>
              <a:endCxn id="65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2F5FA56-8F42-2A0A-B707-B3509AC5AD72}"/>
                </a:ext>
              </a:extLst>
            </p:cNvPr>
            <p:cNvCxnSpPr>
              <a:cxnSpLocks/>
              <a:stCxn id="65" idx="5"/>
              <a:endCxn id="72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03AFFFF-967A-5037-04D4-AEEE41771C3F}"/>
                </a:ext>
              </a:extLst>
            </p:cNvPr>
            <p:cNvCxnSpPr>
              <a:stCxn id="63" idx="6"/>
              <a:endCxn id="72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B138241-F626-C0C6-D7A0-A3A02F67E308}"/>
                </a:ext>
              </a:extLst>
            </p:cNvPr>
            <p:cNvCxnSpPr>
              <a:cxnSpLocks/>
              <a:stCxn id="65" idx="6"/>
              <a:endCxn id="68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139CA3E-7CDA-A1C5-75EC-DBB3FB740E8C}"/>
                </a:ext>
              </a:extLst>
            </p:cNvPr>
            <p:cNvCxnSpPr>
              <a:stCxn id="68" idx="7"/>
              <a:endCxn id="70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AB5B9D8-B9E3-3637-996D-B060D34D1D06}"/>
                </a:ext>
              </a:extLst>
            </p:cNvPr>
            <p:cNvCxnSpPr>
              <a:stCxn id="65" idx="7"/>
              <a:endCxn id="70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EE85CA2-A835-404D-ED3B-A83A45EEE513}"/>
                </a:ext>
              </a:extLst>
            </p:cNvPr>
            <p:cNvCxnSpPr>
              <a:stCxn id="72" idx="7"/>
              <a:endCxn id="70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5CFC4F-520F-3E16-7A09-2678C038C18C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9585459-29EB-6CD4-2997-AE089D05D4D1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F3A4F2E-21C2-2791-8E7E-636B182216E2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099C8F9-EA29-4BF9-644B-951FB64A0B81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AD5206-1FF7-2299-C425-F009FFAF85D3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6BDC8B6-9321-ECA5-778E-792052EA38F6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D742ED4-D53A-7CA1-90F2-834AAE82829D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201F9AD-4F24-F009-DC17-7F0334D21E52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3D68AFF-4B68-92E3-0C0D-011D64A30017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DD58E09-63A0-EECF-47A3-46BFF35906B9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AE9130B-2918-BA66-294C-CB802EE38A10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358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56A5-C140-4342-5B41-BF6BF791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461717-A6FD-92CC-E298-273011C9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Graphs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E1A18-D282-189A-9210-8E316385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7AA49-F817-2F95-595C-751B4327FC15}"/>
              </a:ext>
            </a:extLst>
          </p:cNvPr>
          <p:cNvSpPr txBox="1"/>
          <p:nvPr/>
        </p:nvSpPr>
        <p:spPr>
          <a:xfrm>
            <a:off x="335600" y="276447"/>
            <a:ext cx="2748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Dijkstra’s Algorithm</a:t>
            </a:r>
            <a:endParaRPr lang="en-US" sz="2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E093BE-1395-6524-77BA-41F547EF5682}"/>
              </a:ext>
            </a:extLst>
          </p:cNvPr>
          <p:cNvSpPr txBox="1"/>
          <p:nvPr/>
        </p:nvSpPr>
        <p:spPr>
          <a:xfrm>
            <a:off x="1019726" y="1196297"/>
            <a:ext cx="6952160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To find the shortest path, we walk the predecessors vector backwards.</a:t>
            </a:r>
          </a:p>
          <a:p>
            <a:endParaRPr lang="en-US" sz="1600" dirty="0"/>
          </a:p>
          <a:p>
            <a:r>
              <a:rPr lang="en-US" sz="1600" dirty="0"/>
              <a:t>For example, given F as a target, we know that the shortest path has length 10</a:t>
            </a:r>
          </a:p>
          <a:p>
            <a:endParaRPr lang="en-US" sz="1200" dirty="0"/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[4, 8, 6, 0,   2,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7]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[D, C, E, nil, D, B,  E]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cs typeface="Courier New" panose="02070309020205020404" pitchFamily="49" charset="0"/>
              </a:rPr>
              <a:t>and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[F] =&gt; B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[B] =&gt; C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[C] =&gt; 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[E] =&gt; D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24FA665-0A79-F52C-665F-7A3F99862BF7}"/>
              </a:ext>
            </a:extLst>
          </p:cNvPr>
          <p:cNvGrpSpPr/>
          <p:nvPr/>
        </p:nvGrpSpPr>
        <p:grpSpPr>
          <a:xfrm>
            <a:off x="5357563" y="3065978"/>
            <a:ext cx="3658536" cy="1865926"/>
            <a:chOff x="5875794" y="1030252"/>
            <a:chExt cx="3658536" cy="186592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7187B35-8779-77D2-9AFA-0CF59A5B41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5794" y="2553278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B24D020-3A5F-2CFD-D667-5D7C784A25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8994" y="1383922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EE6F431-CC46-1FA3-A916-897BEDA360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4775" y="2553278"/>
              <a:ext cx="342900" cy="3429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B919192-7D09-7A56-1A2F-216C944BBE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7205" y="1322935"/>
              <a:ext cx="342900" cy="3429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9D4AF81-BD12-5B92-6394-0C164C9A9F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2966" y="1600592"/>
              <a:ext cx="342900" cy="3429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ABD2C81-B2B4-A4CA-EA3D-F8E05A9C56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1430" y="1030252"/>
              <a:ext cx="342900" cy="3429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6CF7555D-708C-2E3B-F90F-1302677006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3456" y="2553278"/>
              <a:ext cx="342900" cy="3429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0C2906E-9CDA-35B2-215E-8424DB1A8FF0}"/>
                </a:ext>
              </a:extLst>
            </p:cNvPr>
            <p:cNvCxnSpPr>
              <a:cxnSpLocks/>
              <a:stCxn id="61" idx="0"/>
              <a:endCxn id="62" idx="3"/>
            </p:cNvCxnSpPr>
            <p:nvPr/>
          </p:nvCxnSpPr>
          <p:spPr>
            <a:xfrm flipV="1">
              <a:off x="6047244" y="1676605"/>
              <a:ext cx="441967" cy="8766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BB3746A-ED0D-EB4D-5F58-AA3CBB220BE1}"/>
                </a:ext>
              </a:extLst>
            </p:cNvPr>
            <p:cNvCxnSpPr>
              <a:cxnSpLocks/>
              <a:stCxn id="62" idx="5"/>
              <a:endCxn id="63" idx="1"/>
            </p:cNvCxnSpPr>
            <p:nvPr/>
          </p:nvCxnSpPr>
          <p:spPr>
            <a:xfrm>
              <a:off x="6731677" y="1676605"/>
              <a:ext cx="413315" cy="9268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9DD8387-6534-4560-6CF0-195365CDF439}"/>
                </a:ext>
              </a:extLst>
            </p:cNvPr>
            <p:cNvCxnSpPr>
              <a:stCxn id="61" idx="6"/>
              <a:endCxn id="63" idx="2"/>
            </p:cNvCxnSpPr>
            <p:nvPr/>
          </p:nvCxnSpPr>
          <p:spPr>
            <a:xfrm>
              <a:off x="6218694" y="2724728"/>
              <a:ext cx="876081" cy="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4A73FA0-9F8A-0663-09F9-0D2BABC98C22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 flipV="1">
              <a:off x="6781894" y="1494385"/>
              <a:ext cx="995311" cy="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30ED6EC-3EFA-509B-BDFB-F6BD9726D53F}"/>
                </a:ext>
              </a:extLst>
            </p:cNvPr>
            <p:cNvCxnSpPr>
              <a:cxnSpLocks/>
              <a:stCxn id="63" idx="7"/>
              <a:endCxn id="65" idx="3"/>
            </p:cNvCxnSpPr>
            <p:nvPr/>
          </p:nvCxnSpPr>
          <p:spPr>
            <a:xfrm flipV="1">
              <a:off x="7387458" y="1615618"/>
              <a:ext cx="439964" cy="987877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F8137E-AB89-E027-B501-53FAEC61D0FF}"/>
                </a:ext>
              </a:extLst>
            </p:cNvPr>
            <p:cNvCxnSpPr>
              <a:cxnSpLocks/>
              <a:stCxn id="65" idx="5"/>
              <a:endCxn id="72" idx="1"/>
            </p:cNvCxnSpPr>
            <p:nvPr/>
          </p:nvCxnSpPr>
          <p:spPr>
            <a:xfrm>
              <a:off x="8069888" y="1615618"/>
              <a:ext cx="563785" cy="9878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530C90A-95BA-9DC0-9680-DB984E901DE5}"/>
                </a:ext>
              </a:extLst>
            </p:cNvPr>
            <p:cNvCxnSpPr>
              <a:stCxn id="63" idx="6"/>
              <a:endCxn id="72" idx="2"/>
            </p:cNvCxnSpPr>
            <p:nvPr/>
          </p:nvCxnSpPr>
          <p:spPr>
            <a:xfrm>
              <a:off x="7437675" y="2724728"/>
              <a:ext cx="11457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E3ABA02-7C0B-AB5A-7422-5B9D6E562AFA}"/>
                </a:ext>
              </a:extLst>
            </p:cNvPr>
            <p:cNvCxnSpPr>
              <a:cxnSpLocks/>
              <a:stCxn id="65" idx="6"/>
              <a:endCxn id="68" idx="1"/>
            </p:cNvCxnSpPr>
            <p:nvPr/>
          </p:nvCxnSpPr>
          <p:spPr>
            <a:xfrm>
              <a:off x="8120105" y="1494385"/>
              <a:ext cx="483078" cy="156424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CEDE031-F695-8A20-8D48-578FB54C712E}"/>
                </a:ext>
              </a:extLst>
            </p:cNvPr>
            <p:cNvCxnSpPr>
              <a:stCxn id="68" idx="7"/>
              <a:endCxn id="70" idx="3"/>
            </p:cNvCxnSpPr>
            <p:nvPr/>
          </p:nvCxnSpPr>
          <p:spPr>
            <a:xfrm flipV="1">
              <a:off x="8845649" y="1322935"/>
              <a:ext cx="395998" cy="327874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2D723E-7ADE-09A5-BB7B-038D7A2AF17F}"/>
                </a:ext>
              </a:extLst>
            </p:cNvPr>
            <p:cNvCxnSpPr>
              <a:stCxn id="65" idx="7"/>
              <a:endCxn id="70" idx="2"/>
            </p:cNvCxnSpPr>
            <p:nvPr/>
          </p:nvCxnSpPr>
          <p:spPr>
            <a:xfrm flipV="1">
              <a:off x="8069888" y="1201702"/>
              <a:ext cx="1121542" cy="17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5386BFB-A62B-8A85-16D0-906D89BC406F}"/>
                </a:ext>
              </a:extLst>
            </p:cNvPr>
            <p:cNvCxnSpPr>
              <a:stCxn id="72" idx="7"/>
              <a:endCxn id="70" idx="4"/>
            </p:cNvCxnSpPr>
            <p:nvPr/>
          </p:nvCxnSpPr>
          <p:spPr>
            <a:xfrm flipV="1">
              <a:off x="8876139" y="1373152"/>
              <a:ext cx="486741" cy="12303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09A87E5-5DAE-9B7A-C7EB-5F47B99200EC}"/>
                </a:ext>
              </a:extLst>
            </p:cNvPr>
            <p:cNvSpPr txBox="1"/>
            <p:nvPr/>
          </p:nvSpPr>
          <p:spPr>
            <a:xfrm>
              <a:off x="6011067" y="186700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F5ED615-1D81-9397-A923-43AE620958FE}"/>
                </a:ext>
              </a:extLst>
            </p:cNvPr>
            <p:cNvSpPr txBox="1"/>
            <p:nvPr/>
          </p:nvSpPr>
          <p:spPr>
            <a:xfrm>
              <a:off x="6892323" y="186333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A52B619-B38C-8AF3-D482-D2258134DA2B}"/>
                </a:ext>
              </a:extLst>
            </p:cNvPr>
            <p:cNvSpPr txBox="1"/>
            <p:nvPr/>
          </p:nvSpPr>
          <p:spPr>
            <a:xfrm>
              <a:off x="6491903" y="249078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F1696B1-61D3-8773-E141-D7295003A477}"/>
                </a:ext>
              </a:extLst>
            </p:cNvPr>
            <p:cNvSpPr txBox="1"/>
            <p:nvPr/>
          </p:nvSpPr>
          <p:spPr>
            <a:xfrm>
              <a:off x="7396211" y="187883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4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6C23D1E-8BCB-06D2-14D5-194B4346B13F}"/>
                </a:ext>
              </a:extLst>
            </p:cNvPr>
            <p:cNvSpPr txBox="1"/>
            <p:nvPr/>
          </p:nvSpPr>
          <p:spPr>
            <a:xfrm>
              <a:off x="7089636" y="12608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56AF903-2B3F-E8F9-ACB2-DB4BCDC4A825}"/>
                </a:ext>
              </a:extLst>
            </p:cNvPr>
            <p:cNvSpPr txBox="1"/>
            <p:nvPr/>
          </p:nvSpPr>
          <p:spPr>
            <a:xfrm>
              <a:off x="7898438" y="249134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FA9FB8E-C270-73CB-2C9E-A754979F0A59}"/>
                </a:ext>
              </a:extLst>
            </p:cNvPr>
            <p:cNvSpPr txBox="1"/>
            <p:nvPr/>
          </p:nvSpPr>
          <p:spPr>
            <a:xfrm>
              <a:off x="8158801" y="2040359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28A5E6E-778A-297C-0B4E-5487CCB50BF2}"/>
                </a:ext>
              </a:extLst>
            </p:cNvPr>
            <p:cNvSpPr txBox="1"/>
            <p:nvPr/>
          </p:nvSpPr>
          <p:spPr>
            <a:xfrm>
              <a:off x="8299370" y="1374940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D9B9AEA-67F8-492F-7D05-9C13D3549807}"/>
                </a:ext>
              </a:extLst>
            </p:cNvPr>
            <p:cNvSpPr txBox="1"/>
            <p:nvPr/>
          </p:nvSpPr>
          <p:spPr>
            <a:xfrm>
              <a:off x="8845649" y="1325128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2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CD5DB67-C020-25D5-53E1-A1E9A37F547E}"/>
                </a:ext>
              </a:extLst>
            </p:cNvPr>
            <p:cNvSpPr txBox="1"/>
            <p:nvPr/>
          </p:nvSpPr>
          <p:spPr>
            <a:xfrm>
              <a:off x="8467436" y="10429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D832CA7-7F2C-3A8A-9FB6-7BACCB7C7533}"/>
                </a:ext>
              </a:extLst>
            </p:cNvPr>
            <p:cNvSpPr txBox="1"/>
            <p:nvPr/>
          </p:nvSpPr>
          <p:spPr>
            <a:xfrm>
              <a:off x="9087201" y="194349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470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5038</TotalTime>
  <Words>1994</Words>
  <Application>Microsoft Office PowerPoint</Application>
  <PresentationFormat>Widescreen</PresentationFormat>
  <Paragraphs>547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91</cp:revision>
  <dcterms:created xsi:type="dcterms:W3CDTF">2025-02-19T20:33:39Z</dcterms:created>
  <dcterms:modified xsi:type="dcterms:W3CDTF">2026-07-07T21:08:39Z</dcterms:modified>
</cp:coreProperties>
</file>