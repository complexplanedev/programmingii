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67"/>
  </p:normalViewPr>
  <p:slideViewPr>
    <p:cSldViewPr snapToGrid="0">
      <p:cViewPr varScale="1">
        <p:scale>
          <a:sx n="78" d="100"/>
          <a:sy n="78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09-Jun-26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A78B-A2CB-184D-B366-420BC61DBDDC}" type="datetime1"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F916-F900-D04B-947C-E18B4BFD8A28}" type="datetime1"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F6A6-6151-644D-AD2E-3AA510E6D7D3}" type="datetime1"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E460-0DBE-EF47-8444-BD614FB0D386}" type="datetime1">
              <a:t>09-Jun-26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7690-FF83-BF49-A78A-5A1D002BE1AD}" type="datetime1">
              <a:t>09-Jun-26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E074D-6D5E-CA42-9B36-30DA6BDC80AF}" type="datetime1">
              <a:t>09-Jun-26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1581-7992-2C45-B2AB-CE099A53F757}" type="datetime1">
              <a:t>09-Jun-26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64FB-20F8-6843-A767-D6F30DD98CBE}" type="datetime1">
              <a:t>09-Jun-26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49A9-30D1-E04F-A92C-1DF16AE6D76F}" type="datetime1">
              <a:t>09-Jun-26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B3AF-1D31-7043-A15B-47D9B55F6006}" type="datetime1"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B8DE5-CC6E-CD4A-9CAB-878F901F277C}" type="datetime1"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FD6E6-2018-2142-90E7-989A6167D011}" type="datetime1">
              <a:t>09-Jun-26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008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Trees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8CB148-B9DA-5D8C-1A1B-814B601FAA86}"/>
              </a:ext>
            </a:extLst>
          </p:cNvPr>
          <p:cNvSpPr txBox="1"/>
          <p:nvPr/>
        </p:nvSpPr>
        <p:spPr>
          <a:xfrm>
            <a:off x="542260" y="1222744"/>
            <a:ext cx="109737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tree is a hierarchical data structure consisting of nodes connected by edges, forming an "upside-down tree” structure with one node at the top (the root) and branches that split into subtrees below.</a:t>
            </a:r>
          </a:p>
          <a:p>
            <a:endParaRPr lang="en-US" dirty="0"/>
          </a:p>
          <a:p>
            <a:r>
              <a:rPr lang="en-US" dirty="0"/>
              <a:t>Key characteristics: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special node called the root (no parent)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other node has exactly one 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Nodes can have zero or more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No cycles</a:t>
            </a:r>
            <a:r>
              <a:rPr lang="en-US" dirty="0"/>
              <a:t>: you cannot follow edges and return</a:t>
            </a:r>
            <a:br>
              <a:rPr lang="en-US" dirty="0"/>
            </a:br>
            <a:r>
              <a:rPr lang="en-US" dirty="0"/>
              <a:t>to the same node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19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a tree is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1F94259-24C1-5ED9-5FFF-55099BDE3358}"/>
              </a:ext>
            </a:extLst>
          </p:cNvPr>
          <p:cNvGrpSpPr/>
          <p:nvPr/>
        </p:nvGrpSpPr>
        <p:grpSpPr>
          <a:xfrm>
            <a:off x="6468453" y="2087588"/>
            <a:ext cx="4855848" cy="3672358"/>
            <a:chOff x="6468453" y="2087588"/>
            <a:chExt cx="4855848" cy="367235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C55B3E7-0C44-61C2-95A7-2DFCE25865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72130" y="2589832"/>
              <a:ext cx="584791" cy="5847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</a:rPr>
                <a:t>NODE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AE3B8FD-C567-49CD-A62D-E181C71907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28367" y="3882494"/>
              <a:ext cx="584791" cy="5847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23DE89D-FD36-E9B1-97AA-CEBDCC926E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4119" y="3915986"/>
              <a:ext cx="584791" cy="5847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</a:rPr>
                <a:t>NODE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3E0DB7C-69A3-A81A-1AFB-1BAD448F56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73070" y="3896663"/>
              <a:ext cx="584791" cy="5847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C5E58DB-0991-C897-45FB-3954AF64A8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3576" y="5124892"/>
              <a:ext cx="584791" cy="5847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E724939-EA8E-9338-C4C3-CEE58F5118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898" y="5175155"/>
              <a:ext cx="584791" cy="5847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</a:rPr>
                <a:t>NODE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92C7DFA-A30A-7BBE-6269-1B61849973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4373" y="5175155"/>
              <a:ext cx="584791" cy="5847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93E7991-8E94-CFC2-C1E9-59B6E708AA2F}"/>
                </a:ext>
              </a:extLst>
            </p:cNvPr>
            <p:cNvCxnSpPr>
              <a:cxnSpLocks/>
              <a:stCxn id="4" idx="3"/>
              <a:endCxn id="5" idx="0"/>
            </p:cNvCxnSpPr>
            <p:nvPr/>
          </p:nvCxnSpPr>
          <p:spPr>
            <a:xfrm flipH="1">
              <a:off x="7520763" y="3088982"/>
              <a:ext cx="837008" cy="7935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B40685F-EB49-E831-5CA4-035FA89D7DB5}"/>
                </a:ext>
              </a:extLst>
            </p:cNvPr>
            <p:cNvCxnSpPr>
              <a:cxnSpLocks/>
              <a:stCxn id="4" idx="4"/>
              <a:endCxn id="7" idx="0"/>
            </p:cNvCxnSpPr>
            <p:nvPr/>
          </p:nvCxnSpPr>
          <p:spPr>
            <a:xfrm>
              <a:off x="8564526" y="3174623"/>
              <a:ext cx="431989" cy="7413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C592165-0151-20FF-EEDA-2D79DBC4A10A}"/>
                </a:ext>
              </a:extLst>
            </p:cNvPr>
            <p:cNvCxnSpPr>
              <a:cxnSpLocks/>
              <a:stCxn id="4" idx="5"/>
              <a:endCxn id="8" idx="0"/>
            </p:cNvCxnSpPr>
            <p:nvPr/>
          </p:nvCxnSpPr>
          <p:spPr>
            <a:xfrm>
              <a:off x="8771280" y="3088982"/>
              <a:ext cx="1994186" cy="8076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32EFDC3-2DBA-A779-6A84-4470677C0F30}"/>
                </a:ext>
              </a:extLst>
            </p:cNvPr>
            <p:cNvCxnSpPr>
              <a:cxnSpLocks/>
              <a:stCxn id="5" idx="3"/>
              <a:endCxn id="9" idx="0"/>
            </p:cNvCxnSpPr>
            <p:nvPr/>
          </p:nvCxnSpPr>
          <p:spPr>
            <a:xfrm flipH="1">
              <a:off x="6935972" y="4381644"/>
              <a:ext cx="378036" cy="7432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12D87FF-1774-7758-6657-767179C27361}"/>
                </a:ext>
              </a:extLst>
            </p:cNvPr>
            <p:cNvCxnSpPr>
              <a:cxnSpLocks/>
              <a:stCxn id="7" idx="3"/>
              <a:endCxn id="10" idx="0"/>
            </p:cNvCxnSpPr>
            <p:nvPr/>
          </p:nvCxnSpPr>
          <p:spPr>
            <a:xfrm flipH="1">
              <a:off x="8542294" y="4415136"/>
              <a:ext cx="247466" cy="7600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79A6C5B-4D88-7C2A-6E91-B508BF956C50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9203269" y="4415136"/>
              <a:ext cx="423500" cy="7600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46B3E49-A723-8BCD-BE69-ED943142E52C}"/>
                </a:ext>
              </a:extLst>
            </p:cNvPr>
            <p:cNvCxnSpPr/>
            <p:nvPr/>
          </p:nvCxnSpPr>
          <p:spPr>
            <a:xfrm flipH="1">
              <a:off x="8856921" y="2285999"/>
              <a:ext cx="544934" cy="3785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56B889-1972-6DD2-D821-825305CE2B8E}"/>
                </a:ext>
              </a:extLst>
            </p:cNvPr>
            <p:cNvSpPr txBox="1"/>
            <p:nvPr/>
          </p:nvSpPr>
          <p:spPr>
            <a:xfrm>
              <a:off x="9401855" y="2087588"/>
              <a:ext cx="6487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FF0000"/>
                  </a:solidFill>
                </a:rPr>
                <a:t>ROOT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3EF6237-E921-ADF2-FE35-4D93691408F8}"/>
                </a:ext>
              </a:extLst>
            </p:cNvPr>
            <p:cNvCxnSpPr/>
            <p:nvPr/>
          </p:nvCxnSpPr>
          <p:spPr>
            <a:xfrm>
              <a:off x="7124990" y="3088982"/>
              <a:ext cx="688168" cy="35065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AD043DA-9BBF-D11E-6781-A1865668850B}"/>
                </a:ext>
              </a:extLst>
            </p:cNvPr>
            <p:cNvCxnSpPr/>
            <p:nvPr/>
          </p:nvCxnSpPr>
          <p:spPr>
            <a:xfrm>
              <a:off x="6730410" y="3359888"/>
              <a:ext cx="318976" cy="1244009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596DFDF-459D-314E-0732-B4CE4AFECC11}"/>
                </a:ext>
              </a:extLst>
            </p:cNvPr>
            <p:cNvSpPr txBox="1"/>
            <p:nvPr/>
          </p:nvSpPr>
          <p:spPr>
            <a:xfrm>
              <a:off x="6468453" y="2988301"/>
              <a:ext cx="6447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00B050"/>
                  </a:solidFill>
                </a:rPr>
                <a:t>EDGE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59AF29C-4C73-64C7-9B0A-C8D867E1F3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38884" y="4603897"/>
              <a:ext cx="106325" cy="520995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992F929-3E17-7E38-1C7C-DAEF7F3E3881}"/>
                </a:ext>
              </a:extLst>
            </p:cNvPr>
            <p:cNvCxnSpPr/>
            <p:nvPr/>
          </p:nvCxnSpPr>
          <p:spPr>
            <a:xfrm flipH="1">
              <a:off x="10050622" y="5417287"/>
              <a:ext cx="688262" cy="143541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6C6CBB7-37B7-35DD-C2C7-312792F00DE5}"/>
                </a:ext>
              </a:extLst>
            </p:cNvPr>
            <p:cNvSpPr txBox="1"/>
            <p:nvPr/>
          </p:nvSpPr>
          <p:spPr>
            <a:xfrm>
              <a:off x="10738884" y="5228885"/>
              <a:ext cx="5854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0070C0"/>
                  </a:solidFill>
                </a:rPr>
                <a:t>LEAF</a:t>
              </a:r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3244C6A2-2713-B607-E12A-90E73ABD10EE}"/>
                </a:ext>
              </a:extLst>
            </p:cNvPr>
            <p:cNvSpPr/>
            <p:nvPr/>
          </p:nvSpPr>
          <p:spPr>
            <a:xfrm rot="12671501">
              <a:off x="8303338" y="3849375"/>
              <a:ext cx="729135" cy="1807786"/>
            </a:xfrm>
            <a:prstGeom prst="arc">
              <a:avLst>
                <a:gd name="adj1" fmla="val 16956343"/>
                <a:gd name="adj2" fmla="val 2885912"/>
              </a:avLst>
            </a:prstGeom>
            <a:ln>
              <a:solidFill>
                <a:srgbClr val="FFC000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DAE5B23-4989-3085-E5B3-8F70DCA5823E}"/>
                </a:ext>
              </a:extLst>
            </p:cNvPr>
            <p:cNvSpPr txBox="1"/>
            <p:nvPr/>
          </p:nvSpPr>
          <p:spPr>
            <a:xfrm>
              <a:off x="8101120" y="4040741"/>
              <a:ext cx="6543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rgbClr val="FFC000"/>
                  </a:solidFill>
                </a:rPr>
                <a:t>PARENT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F7ABFB2-D3C0-129B-E2D4-E0914E366779}"/>
                </a:ext>
              </a:extLst>
            </p:cNvPr>
            <p:cNvSpPr txBox="1"/>
            <p:nvPr/>
          </p:nvSpPr>
          <p:spPr>
            <a:xfrm>
              <a:off x="7657520" y="5406355"/>
              <a:ext cx="5645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rgbClr val="FFC000"/>
                  </a:solidFill>
                </a:rPr>
                <a:t>CHILD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C9EA127-F4C8-1228-0E98-E275C75C1491}"/>
                </a:ext>
              </a:extLst>
            </p:cNvPr>
            <p:cNvCxnSpPr/>
            <p:nvPr/>
          </p:nvCxnSpPr>
          <p:spPr>
            <a:xfrm>
              <a:off x="9447900" y="4163851"/>
              <a:ext cx="823151" cy="0"/>
            </a:xfrm>
            <a:prstGeom prst="line">
              <a:avLst/>
            </a:prstGeom>
            <a:ln>
              <a:solidFill>
                <a:srgbClr val="7030A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261917B-559A-D566-95E2-948D57CB88DA}"/>
                </a:ext>
              </a:extLst>
            </p:cNvPr>
            <p:cNvSpPr txBox="1"/>
            <p:nvPr/>
          </p:nvSpPr>
          <p:spPr>
            <a:xfrm>
              <a:off x="9367046" y="3858960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7030A0"/>
                  </a:solidFill>
                </a:rPr>
                <a:t>SIBLINGS</a:t>
              </a: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A873E7A-97DF-FC68-4B59-0A4366D7A2BA}"/>
                </a:ext>
              </a:extLst>
            </p:cNvPr>
            <p:cNvSpPr/>
            <p:nvPr/>
          </p:nvSpPr>
          <p:spPr>
            <a:xfrm>
              <a:off x="8677469" y="3060441"/>
              <a:ext cx="569168" cy="2239347"/>
            </a:xfrm>
            <a:custGeom>
              <a:avLst/>
              <a:gdLst>
                <a:gd name="csX0" fmla="*/ 0 w 569168"/>
                <a:gd name="csY0" fmla="*/ 0 h 2239347"/>
                <a:gd name="csX1" fmla="*/ 27992 w 569168"/>
                <a:gd name="csY1" fmla="*/ 65314 h 2239347"/>
                <a:gd name="csX2" fmla="*/ 37323 w 569168"/>
                <a:gd name="csY2" fmla="*/ 93306 h 2239347"/>
                <a:gd name="csX3" fmla="*/ 74645 w 569168"/>
                <a:gd name="csY3" fmla="*/ 149290 h 2239347"/>
                <a:gd name="csX4" fmla="*/ 93307 w 569168"/>
                <a:gd name="csY4" fmla="*/ 167951 h 2239347"/>
                <a:gd name="csX5" fmla="*/ 130629 w 569168"/>
                <a:gd name="csY5" fmla="*/ 223935 h 2239347"/>
                <a:gd name="csX6" fmla="*/ 149290 w 569168"/>
                <a:gd name="csY6" fmla="*/ 251926 h 2239347"/>
                <a:gd name="csX7" fmla="*/ 167951 w 569168"/>
                <a:gd name="csY7" fmla="*/ 279918 h 2239347"/>
                <a:gd name="csX8" fmla="*/ 186613 w 569168"/>
                <a:gd name="csY8" fmla="*/ 298579 h 2239347"/>
                <a:gd name="csX9" fmla="*/ 223935 w 569168"/>
                <a:gd name="csY9" fmla="*/ 354563 h 2239347"/>
                <a:gd name="csX10" fmla="*/ 261258 w 569168"/>
                <a:gd name="csY10" fmla="*/ 401216 h 2239347"/>
                <a:gd name="csX11" fmla="*/ 307911 w 569168"/>
                <a:gd name="csY11" fmla="*/ 485192 h 2239347"/>
                <a:gd name="csX12" fmla="*/ 326572 w 569168"/>
                <a:gd name="csY12" fmla="*/ 513183 h 2239347"/>
                <a:gd name="csX13" fmla="*/ 345233 w 569168"/>
                <a:gd name="csY13" fmla="*/ 531845 h 2239347"/>
                <a:gd name="csX14" fmla="*/ 401217 w 569168"/>
                <a:gd name="csY14" fmla="*/ 606490 h 2239347"/>
                <a:gd name="csX15" fmla="*/ 429209 w 569168"/>
                <a:gd name="csY15" fmla="*/ 653143 h 2239347"/>
                <a:gd name="csX16" fmla="*/ 466531 w 569168"/>
                <a:gd name="csY16" fmla="*/ 709126 h 2239347"/>
                <a:gd name="csX17" fmla="*/ 503853 w 569168"/>
                <a:gd name="csY17" fmla="*/ 755779 h 2239347"/>
                <a:gd name="csX18" fmla="*/ 522515 w 569168"/>
                <a:gd name="csY18" fmla="*/ 774441 h 2239347"/>
                <a:gd name="csX19" fmla="*/ 541176 w 569168"/>
                <a:gd name="csY19" fmla="*/ 830424 h 2239347"/>
                <a:gd name="csX20" fmla="*/ 550507 w 569168"/>
                <a:gd name="csY20" fmla="*/ 858416 h 2239347"/>
                <a:gd name="csX21" fmla="*/ 569168 w 569168"/>
                <a:gd name="csY21" fmla="*/ 961053 h 2239347"/>
                <a:gd name="csX22" fmla="*/ 559837 w 569168"/>
                <a:gd name="csY22" fmla="*/ 1194318 h 2239347"/>
                <a:gd name="csX23" fmla="*/ 541176 w 569168"/>
                <a:gd name="csY23" fmla="*/ 1287624 h 2239347"/>
                <a:gd name="csX24" fmla="*/ 531845 w 569168"/>
                <a:gd name="csY24" fmla="*/ 1324947 h 2239347"/>
                <a:gd name="csX25" fmla="*/ 513184 w 569168"/>
                <a:gd name="csY25" fmla="*/ 1380930 h 2239347"/>
                <a:gd name="csX26" fmla="*/ 494523 w 569168"/>
                <a:gd name="csY26" fmla="*/ 1436914 h 2239347"/>
                <a:gd name="csX27" fmla="*/ 475862 w 569168"/>
                <a:gd name="csY27" fmla="*/ 1492898 h 2239347"/>
                <a:gd name="csX28" fmla="*/ 466531 w 569168"/>
                <a:gd name="csY28" fmla="*/ 1520890 h 2239347"/>
                <a:gd name="csX29" fmla="*/ 447870 w 569168"/>
                <a:gd name="csY29" fmla="*/ 1548881 h 2239347"/>
                <a:gd name="csX30" fmla="*/ 410547 w 569168"/>
                <a:gd name="csY30" fmla="*/ 1632857 h 2239347"/>
                <a:gd name="csX31" fmla="*/ 382555 w 569168"/>
                <a:gd name="csY31" fmla="*/ 1698171 h 2239347"/>
                <a:gd name="csX32" fmla="*/ 373225 w 569168"/>
                <a:gd name="csY32" fmla="*/ 1726163 h 2239347"/>
                <a:gd name="csX33" fmla="*/ 354564 w 569168"/>
                <a:gd name="csY33" fmla="*/ 1754155 h 2239347"/>
                <a:gd name="csX34" fmla="*/ 317241 w 569168"/>
                <a:gd name="csY34" fmla="*/ 1838130 h 2239347"/>
                <a:gd name="csX35" fmla="*/ 298580 w 569168"/>
                <a:gd name="csY35" fmla="*/ 1856792 h 2239347"/>
                <a:gd name="csX36" fmla="*/ 270588 w 569168"/>
                <a:gd name="csY36" fmla="*/ 1903445 h 2239347"/>
                <a:gd name="csX37" fmla="*/ 242596 w 569168"/>
                <a:gd name="csY37" fmla="*/ 1950098 h 2239347"/>
                <a:gd name="csX38" fmla="*/ 214604 w 569168"/>
                <a:gd name="csY38" fmla="*/ 1996751 h 2239347"/>
                <a:gd name="csX39" fmla="*/ 205274 w 569168"/>
                <a:gd name="csY39" fmla="*/ 2024743 h 2239347"/>
                <a:gd name="csX40" fmla="*/ 167951 w 569168"/>
                <a:gd name="csY40" fmla="*/ 2071396 h 2239347"/>
                <a:gd name="csX41" fmla="*/ 158621 w 569168"/>
                <a:gd name="csY41" fmla="*/ 2099388 h 2239347"/>
                <a:gd name="csX42" fmla="*/ 121298 w 569168"/>
                <a:gd name="csY42" fmla="*/ 2146041 h 2239347"/>
                <a:gd name="csX43" fmla="*/ 111968 w 569168"/>
                <a:gd name="csY43" fmla="*/ 2174032 h 2239347"/>
                <a:gd name="csX44" fmla="*/ 93307 w 569168"/>
                <a:gd name="csY44" fmla="*/ 2202024 h 2239347"/>
                <a:gd name="csX45" fmla="*/ 83976 w 569168"/>
                <a:gd name="csY45" fmla="*/ 2239347 h 2239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</a:cxnLst>
              <a:rect l="l" t="t" r="r" b="b"/>
              <a:pathLst>
                <a:path w="569168" h="2239347">
                  <a:moveTo>
                    <a:pt x="0" y="0"/>
                  </a:moveTo>
                  <a:cubicBezTo>
                    <a:pt x="9331" y="21771"/>
                    <a:pt x="19195" y="43322"/>
                    <a:pt x="27992" y="65314"/>
                  </a:cubicBezTo>
                  <a:cubicBezTo>
                    <a:pt x="31645" y="74446"/>
                    <a:pt x="32547" y="84708"/>
                    <a:pt x="37323" y="93306"/>
                  </a:cubicBezTo>
                  <a:cubicBezTo>
                    <a:pt x="48215" y="112912"/>
                    <a:pt x="58786" y="133431"/>
                    <a:pt x="74645" y="149290"/>
                  </a:cubicBezTo>
                  <a:cubicBezTo>
                    <a:pt x="80866" y="155510"/>
                    <a:pt x="88029" y="160913"/>
                    <a:pt x="93307" y="167951"/>
                  </a:cubicBezTo>
                  <a:cubicBezTo>
                    <a:pt x="106764" y="185893"/>
                    <a:pt x="118188" y="205274"/>
                    <a:pt x="130629" y="223935"/>
                  </a:cubicBezTo>
                  <a:lnTo>
                    <a:pt x="149290" y="251926"/>
                  </a:lnTo>
                  <a:cubicBezTo>
                    <a:pt x="155510" y="261257"/>
                    <a:pt x="160021" y="271989"/>
                    <a:pt x="167951" y="279918"/>
                  </a:cubicBezTo>
                  <a:lnTo>
                    <a:pt x="186613" y="298579"/>
                  </a:lnTo>
                  <a:cubicBezTo>
                    <a:pt x="203009" y="347772"/>
                    <a:pt x="185106" y="307968"/>
                    <a:pt x="223935" y="354563"/>
                  </a:cubicBezTo>
                  <a:cubicBezTo>
                    <a:pt x="282778" y="425175"/>
                    <a:pt x="206973" y="346933"/>
                    <a:pt x="261258" y="401216"/>
                  </a:cubicBezTo>
                  <a:cubicBezTo>
                    <a:pt x="277680" y="450485"/>
                    <a:pt x="265132" y="421025"/>
                    <a:pt x="307911" y="485192"/>
                  </a:cubicBezTo>
                  <a:cubicBezTo>
                    <a:pt x="314131" y="494522"/>
                    <a:pt x="318643" y="505253"/>
                    <a:pt x="326572" y="513183"/>
                  </a:cubicBezTo>
                  <a:cubicBezTo>
                    <a:pt x="332792" y="519404"/>
                    <a:pt x="339955" y="524807"/>
                    <a:pt x="345233" y="531845"/>
                  </a:cubicBezTo>
                  <a:cubicBezTo>
                    <a:pt x="408532" y="616245"/>
                    <a:pt x="358421" y="563694"/>
                    <a:pt x="401217" y="606490"/>
                  </a:cubicBezTo>
                  <a:cubicBezTo>
                    <a:pt x="419056" y="660009"/>
                    <a:pt x="398470" y="612158"/>
                    <a:pt x="429209" y="653143"/>
                  </a:cubicBezTo>
                  <a:cubicBezTo>
                    <a:pt x="442666" y="671085"/>
                    <a:pt x="450673" y="693267"/>
                    <a:pt x="466531" y="709126"/>
                  </a:cubicBezTo>
                  <a:cubicBezTo>
                    <a:pt x="511594" y="754191"/>
                    <a:pt x="456765" y="696920"/>
                    <a:pt x="503853" y="755779"/>
                  </a:cubicBezTo>
                  <a:cubicBezTo>
                    <a:pt x="509349" y="762649"/>
                    <a:pt x="516294" y="768220"/>
                    <a:pt x="522515" y="774441"/>
                  </a:cubicBezTo>
                  <a:lnTo>
                    <a:pt x="541176" y="830424"/>
                  </a:lnTo>
                  <a:cubicBezTo>
                    <a:pt x="544286" y="839755"/>
                    <a:pt x="548578" y="848772"/>
                    <a:pt x="550507" y="858416"/>
                  </a:cubicBezTo>
                  <a:cubicBezTo>
                    <a:pt x="563547" y="923620"/>
                    <a:pt x="557230" y="889426"/>
                    <a:pt x="569168" y="961053"/>
                  </a:cubicBezTo>
                  <a:cubicBezTo>
                    <a:pt x="566058" y="1038808"/>
                    <a:pt x="566483" y="1116785"/>
                    <a:pt x="559837" y="1194318"/>
                  </a:cubicBezTo>
                  <a:cubicBezTo>
                    <a:pt x="557128" y="1225920"/>
                    <a:pt x="548869" y="1256853"/>
                    <a:pt x="541176" y="1287624"/>
                  </a:cubicBezTo>
                  <a:cubicBezTo>
                    <a:pt x="538066" y="1300065"/>
                    <a:pt x="535530" y="1312664"/>
                    <a:pt x="531845" y="1324947"/>
                  </a:cubicBezTo>
                  <a:cubicBezTo>
                    <a:pt x="526193" y="1343788"/>
                    <a:pt x="519404" y="1362269"/>
                    <a:pt x="513184" y="1380930"/>
                  </a:cubicBezTo>
                  <a:lnTo>
                    <a:pt x="494523" y="1436914"/>
                  </a:lnTo>
                  <a:lnTo>
                    <a:pt x="475862" y="1492898"/>
                  </a:lnTo>
                  <a:cubicBezTo>
                    <a:pt x="472752" y="1502229"/>
                    <a:pt x="471987" y="1512706"/>
                    <a:pt x="466531" y="1520890"/>
                  </a:cubicBezTo>
                  <a:cubicBezTo>
                    <a:pt x="460311" y="1530220"/>
                    <a:pt x="452424" y="1538634"/>
                    <a:pt x="447870" y="1548881"/>
                  </a:cubicBezTo>
                  <a:cubicBezTo>
                    <a:pt x="403456" y="1648812"/>
                    <a:pt x="452780" y="1569509"/>
                    <a:pt x="410547" y="1632857"/>
                  </a:cubicBezTo>
                  <a:cubicBezTo>
                    <a:pt x="391129" y="1710534"/>
                    <a:pt x="414774" y="1633733"/>
                    <a:pt x="382555" y="1698171"/>
                  </a:cubicBezTo>
                  <a:cubicBezTo>
                    <a:pt x="378157" y="1706968"/>
                    <a:pt x="377623" y="1717366"/>
                    <a:pt x="373225" y="1726163"/>
                  </a:cubicBezTo>
                  <a:cubicBezTo>
                    <a:pt x="368210" y="1736193"/>
                    <a:pt x="359118" y="1743908"/>
                    <a:pt x="354564" y="1754155"/>
                  </a:cubicBezTo>
                  <a:cubicBezTo>
                    <a:pt x="328668" y="1812420"/>
                    <a:pt x="348916" y="1798536"/>
                    <a:pt x="317241" y="1838130"/>
                  </a:cubicBezTo>
                  <a:cubicBezTo>
                    <a:pt x="311746" y="1844999"/>
                    <a:pt x="304800" y="1850571"/>
                    <a:pt x="298580" y="1856792"/>
                  </a:cubicBezTo>
                  <a:cubicBezTo>
                    <a:pt x="272144" y="1936094"/>
                    <a:pt x="309014" y="1839398"/>
                    <a:pt x="270588" y="1903445"/>
                  </a:cubicBezTo>
                  <a:cubicBezTo>
                    <a:pt x="234255" y="1964002"/>
                    <a:pt x="289877" y="1902820"/>
                    <a:pt x="242596" y="1950098"/>
                  </a:cubicBezTo>
                  <a:cubicBezTo>
                    <a:pt x="216166" y="2029394"/>
                    <a:pt x="253028" y="1932712"/>
                    <a:pt x="214604" y="1996751"/>
                  </a:cubicBezTo>
                  <a:cubicBezTo>
                    <a:pt x="209544" y="2005185"/>
                    <a:pt x="209672" y="2015946"/>
                    <a:pt x="205274" y="2024743"/>
                  </a:cubicBezTo>
                  <a:cubicBezTo>
                    <a:pt x="193503" y="2048285"/>
                    <a:pt x="185309" y="2054038"/>
                    <a:pt x="167951" y="2071396"/>
                  </a:cubicBezTo>
                  <a:cubicBezTo>
                    <a:pt x="164841" y="2080727"/>
                    <a:pt x="163019" y="2090591"/>
                    <a:pt x="158621" y="2099388"/>
                  </a:cubicBezTo>
                  <a:cubicBezTo>
                    <a:pt x="146852" y="2122927"/>
                    <a:pt x="138654" y="2128685"/>
                    <a:pt x="121298" y="2146041"/>
                  </a:cubicBezTo>
                  <a:cubicBezTo>
                    <a:pt x="118188" y="2155371"/>
                    <a:pt x="116366" y="2165235"/>
                    <a:pt x="111968" y="2174032"/>
                  </a:cubicBezTo>
                  <a:cubicBezTo>
                    <a:pt x="106953" y="2184062"/>
                    <a:pt x="98322" y="2191994"/>
                    <a:pt x="93307" y="2202024"/>
                  </a:cubicBezTo>
                  <a:cubicBezTo>
                    <a:pt x="82992" y="2222653"/>
                    <a:pt x="83976" y="2223442"/>
                    <a:pt x="83976" y="2239347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oval"/>
              <a:tailEnd type="oval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t" anchorCtr="0"/>
            <a:lstStyle/>
            <a:p>
              <a:pPr algn="ctr"/>
              <a:endParaRPr lang="en-US" sz="1200">
                <a:solidFill>
                  <a:srgbClr val="C00000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C78281B-E0CC-EF3A-149C-F2FC7B4DED5D}"/>
                </a:ext>
              </a:extLst>
            </p:cNvPr>
            <p:cNvSpPr txBox="1"/>
            <p:nvPr/>
          </p:nvSpPr>
          <p:spPr>
            <a:xfrm>
              <a:off x="9009989" y="3443249"/>
              <a:ext cx="6095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C00000"/>
                  </a:solidFill>
                </a:rPr>
                <a:t>PATH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689802B-1C0E-E9A7-956B-F4CC7A06DFEB}"/>
              </a:ext>
            </a:extLst>
          </p:cNvPr>
          <p:cNvSpPr txBox="1"/>
          <p:nvPr/>
        </p:nvSpPr>
        <p:spPr>
          <a:xfrm>
            <a:off x="542260" y="4527135"/>
            <a:ext cx="52903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Depth</a:t>
            </a:r>
            <a:r>
              <a:rPr lang="en-US" dirty="0"/>
              <a:t>: the number of edges from the root to</a:t>
            </a:r>
            <a:br>
              <a:rPr lang="en-US" dirty="0"/>
            </a:br>
            <a:r>
              <a:rPr lang="en-US" dirty="0"/>
              <a:t>that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Height</a:t>
            </a:r>
            <a:r>
              <a:rPr lang="en-US" dirty="0"/>
              <a:t>: the number of edges </a:t>
            </a:r>
            <a:r>
              <a:rPr lang="en-US" b="1" dirty="0">
                <a:solidFill>
                  <a:srgbClr val="FF0000"/>
                </a:solidFill>
              </a:rPr>
              <a:t>in the longest path</a:t>
            </a:r>
            <a:br>
              <a:rPr lang="en-US" dirty="0"/>
            </a:br>
            <a:r>
              <a:rPr lang="en-US" dirty="0"/>
              <a:t>from that node down to a leaf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9FC98FC-BF57-DABB-F34E-E011D40F05B7}"/>
              </a:ext>
            </a:extLst>
          </p:cNvPr>
          <p:cNvSpPr/>
          <p:nvPr/>
        </p:nvSpPr>
        <p:spPr>
          <a:xfrm>
            <a:off x="7933568" y="3791230"/>
            <a:ext cx="2199478" cy="2321395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sz="1200">
                <a:solidFill>
                  <a:schemeClr val="tx1"/>
                </a:solidFill>
              </a:rPr>
              <a:t>SUBTREE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1" grpId="0" uiExpand="1" build="p"/>
      <p:bldP spid="7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C011-6D7E-E653-D685-3A239229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4AF37D-F8E3-F2DA-AB43-865F00764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0A1F1-E687-70F3-275B-C11E6F329474}"/>
              </a:ext>
            </a:extLst>
          </p:cNvPr>
          <p:cNvSpPr txBox="1"/>
          <p:nvPr/>
        </p:nvSpPr>
        <p:spPr>
          <a:xfrm>
            <a:off x="430306" y="398033"/>
            <a:ext cx="2449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trees matter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3B9E4-0041-8563-E7BD-69962DA394F7}"/>
              </a:ext>
            </a:extLst>
          </p:cNvPr>
          <p:cNvSpPr txBox="1"/>
          <p:nvPr/>
        </p:nvSpPr>
        <p:spPr>
          <a:xfrm>
            <a:off x="430306" y="1203649"/>
            <a:ext cx="1085053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Linear structures are excellent for many tasks, but they fail when we want to achieve efficient search AND</a:t>
            </a:r>
            <a:br>
              <a:rPr lang="en-US"/>
            </a:br>
            <a:r>
              <a:rPr lang="en-US"/>
              <a:t>efficient insert/delete.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Many real-world structures are naturally hierarchical, not linear: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File systems: directories contain subdirectories and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Organization charts: CEO → departments → teams → employees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HTML/XML documents: nested tags form a tree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Expression evaluation: mathematical expressions parse into expression trees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If we balance the tree properly, we can achieve log(n) complexity for searches and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309395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120B-9E04-ABF7-7225-463EAD67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BFB045-B115-718E-8F9B-15C0D595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96F88-6077-97DA-8941-E7009FD14CD5}"/>
              </a:ext>
            </a:extLst>
          </p:cNvPr>
          <p:cNvSpPr txBox="1"/>
          <p:nvPr/>
        </p:nvSpPr>
        <p:spPr>
          <a:xfrm>
            <a:off x="430306" y="398033"/>
            <a:ext cx="16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Binary tree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D1FAE-1053-68ED-FE9C-7FFA90D0CE05}"/>
              </a:ext>
            </a:extLst>
          </p:cNvPr>
          <p:cNvSpPr txBox="1"/>
          <p:nvPr/>
        </p:nvSpPr>
        <p:spPr>
          <a:xfrm>
            <a:off x="430306" y="1203649"/>
            <a:ext cx="1102564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binary tree is a tree structure where each node has at most two children, named </a:t>
            </a:r>
            <a:r>
              <a:rPr lang="en-US" b="1" dirty="0"/>
              <a:t>left</a:t>
            </a:r>
            <a:r>
              <a:rPr lang="en-US" dirty="0"/>
              <a:t> and </a:t>
            </a:r>
            <a:r>
              <a:rPr lang="en-US" b="1" dirty="0"/>
              <a:t>right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In a binary tree the position of the children matters, and it’s dictated by the order criteria we define for the tree.</a:t>
            </a:r>
          </a:p>
          <a:p>
            <a:endParaRPr lang="en-US" dirty="0"/>
          </a:p>
          <a:p>
            <a:r>
              <a:rPr lang="en-US" dirty="0"/>
              <a:t>Binary trees strike a good balance: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structure (only two possible children)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Powerful enough for efficient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Foundation for more advanced structures (BST, AVL, Red-Black trees, heaps)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 representation for binary decisions (yes/no, less/greater)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5E34C-4411-BFA9-51A0-CEFA680AF99C}"/>
              </a:ext>
            </a:extLst>
          </p:cNvPr>
          <p:cNvSpPr txBox="1"/>
          <p:nvPr/>
        </p:nvSpPr>
        <p:spPr>
          <a:xfrm>
            <a:off x="9349274" y="3050308"/>
            <a:ext cx="179568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Node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Node left;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Node right;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864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C0C6-DC25-B40D-AA18-0CDBE97E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72DE2-1471-6623-EC31-0CE1840E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29326-0BB4-89F6-94AE-782772145196}"/>
              </a:ext>
            </a:extLst>
          </p:cNvPr>
          <p:cNvSpPr txBox="1"/>
          <p:nvPr/>
        </p:nvSpPr>
        <p:spPr>
          <a:xfrm>
            <a:off x="386159" y="333659"/>
            <a:ext cx="202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Balanced tree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B13129-7239-7127-7D12-9AB0648EFACC}"/>
              </a:ext>
            </a:extLst>
          </p:cNvPr>
          <p:cNvSpPr txBox="1"/>
          <p:nvPr/>
        </p:nvSpPr>
        <p:spPr>
          <a:xfrm>
            <a:off x="646545" y="886691"/>
            <a:ext cx="8920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balanced tree is a tree where the difference of height at any node differs by at most one.</a:t>
            </a:r>
          </a:p>
        </p:txBody>
      </p: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A0F99EFC-A76D-4DA4-ECA6-6FEA2ACD7CE1}"/>
              </a:ext>
            </a:extLst>
          </p:cNvPr>
          <p:cNvGrpSpPr/>
          <p:nvPr/>
        </p:nvGrpSpPr>
        <p:grpSpPr>
          <a:xfrm>
            <a:off x="6483853" y="1422573"/>
            <a:ext cx="4522059" cy="3714423"/>
            <a:chOff x="6496606" y="1770323"/>
            <a:chExt cx="4522059" cy="3714423"/>
          </a:xfrm>
        </p:grpSpPr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5FD8B862-330F-835C-29C2-5BA62BCEBBB2}"/>
                </a:ext>
              </a:extLst>
            </p:cNvPr>
            <p:cNvSpPr/>
            <p:nvPr/>
          </p:nvSpPr>
          <p:spPr>
            <a:xfrm rot="18103998">
              <a:off x="5071491" y="3195438"/>
              <a:ext cx="3714423" cy="864194"/>
            </a:xfrm>
            <a:prstGeom prst="arc">
              <a:avLst>
                <a:gd name="adj1" fmla="val 16295681"/>
                <a:gd name="adj2" fmla="val 21585096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BE594BF9-5E14-5985-C030-C2605E2A801E}"/>
                </a:ext>
              </a:extLst>
            </p:cNvPr>
            <p:cNvSpPr/>
            <p:nvPr/>
          </p:nvSpPr>
          <p:spPr>
            <a:xfrm rot="1853073">
              <a:off x="7000688" y="2335477"/>
              <a:ext cx="4017977" cy="1683875"/>
            </a:xfrm>
            <a:prstGeom prst="arc">
              <a:avLst>
                <a:gd name="adj1" fmla="val 13511546"/>
                <a:gd name="adj2" fmla="val 1510719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65F45BB-B1BE-358C-EE96-A69F1C32F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3400" y="1968321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8D090B9-A2C5-A8D5-7850-B3123351F3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24782" y="3449782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B9A825-E76D-BC57-B6C8-D214E2D70E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1982" y="272021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1BB7566-4250-87B4-5D3C-F773598197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39182" y="3416527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1DE7FD-CF3A-89F6-488F-1B3E4C7049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2473" y="272021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E314C1-2A03-617F-3B3E-1166A106A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5273" y="3416527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0CBAEE8-19C2-2F0A-AF43-FF5586C3EF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364" y="3415306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8C27E5-C615-5EEE-8472-2CAA1844DC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0164" y="4110398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233EE7E-280A-9395-8122-F29EB489C8A0}"/>
                </a:ext>
              </a:extLst>
            </p:cNvPr>
            <p:cNvCxnSpPr>
              <a:stCxn id="10" idx="3"/>
              <a:endCxn id="14" idx="7"/>
            </p:cNvCxnSpPr>
            <p:nvPr/>
          </p:nvCxnSpPr>
          <p:spPr>
            <a:xfrm flipH="1">
              <a:off x="7472227" y="2358566"/>
              <a:ext cx="748128" cy="4286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8FD7802-1F06-28F4-2EA6-B056FDA0EEFF}"/>
                </a:ext>
              </a:extLst>
            </p:cNvPr>
            <p:cNvCxnSpPr>
              <a:cxnSpLocks/>
              <a:stCxn id="14" idx="3"/>
              <a:endCxn id="13" idx="0"/>
            </p:cNvCxnSpPr>
            <p:nvPr/>
          </p:nvCxnSpPr>
          <p:spPr>
            <a:xfrm flipH="1">
              <a:off x="6853382" y="3110459"/>
              <a:ext cx="295555" cy="33932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4C1812B-C7B1-3E2E-15C6-0AF82ED0BA1F}"/>
                </a:ext>
              </a:extLst>
            </p:cNvPr>
            <p:cNvCxnSpPr>
              <a:stCxn id="14" idx="5"/>
              <a:endCxn id="15" idx="0"/>
            </p:cNvCxnSpPr>
            <p:nvPr/>
          </p:nvCxnSpPr>
          <p:spPr>
            <a:xfrm>
              <a:off x="7472227" y="3110459"/>
              <a:ext cx="295555" cy="30606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1B73527-A134-E242-F11E-EAA6866AC1C7}"/>
                </a:ext>
              </a:extLst>
            </p:cNvPr>
            <p:cNvCxnSpPr>
              <a:stCxn id="10" idx="5"/>
              <a:endCxn id="16" idx="1"/>
            </p:cNvCxnSpPr>
            <p:nvPr/>
          </p:nvCxnSpPr>
          <p:spPr>
            <a:xfrm>
              <a:off x="8543645" y="2358566"/>
              <a:ext cx="685783" cy="4286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E934C17-5495-8A28-3004-BBAE2553D102}"/>
                </a:ext>
              </a:extLst>
            </p:cNvPr>
            <p:cNvCxnSpPr>
              <a:stCxn id="16" idx="3"/>
              <a:endCxn id="17" idx="0"/>
            </p:cNvCxnSpPr>
            <p:nvPr/>
          </p:nvCxnSpPr>
          <p:spPr>
            <a:xfrm flipH="1">
              <a:off x="8933873" y="3110459"/>
              <a:ext cx="295555" cy="3060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CE5A436-B748-D7E5-24E2-22E41CE676E1}"/>
                </a:ext>
              </a:extLst>
            </p:cNvPr>
            <p:cNvCxnSpPr>
              <a:stCxn id="16" idx="5"/>
              <a:endCxn id="18" idx="0"/>
            </p:cNvCxnSpPr>
            <p:nvPr/>
          </p:nvCxnSpPr>
          <p:spPr>
            <a:xfrm>
              <a:off x="9552718" y="3110459"/>
              <a:ext cx="293246" cy="3048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81D6C0C-7A17-E59F-8415-743FA223F630}"/>
                </a:ext>
              </a:extLst>
            </p:cNvPr>
            <p:cNvCxnSpPr>
              <a:stCxn id="18" idx="3"/>
              <a:endCxn id="19" idx="0"/>
            </p:cNvCxnSpPr>
            <p:nvPr/>
          </p:nvCxnSpPr>
          <p:spPr>
            <a:xfrm flipH="1">
              <a:off x="9388764" y="3805551"/>
              <a:ext cx="295555" cy="30484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2EC2A86-E0B3-F845-1AAB-3229EA987CBB}"/>
                </a:ext>
              </a:extLst>
            </p:cNvPr>
            <p:cNvSpPr txBox="1"/>
            <p:nvPr/>
          </p:nvSpPr>
          <p:spPr>
            <a:xfrm>
              <a:off x="6752533" y="2273620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h = 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5FE5B78-A0A4-1E6D-3FFD-9E950F202A17}"/>
                </a:ext>
              </a:extLst>
            </p:cNvPr>
            <p:cNvSpPr txBox="1"/>
            <p:nvPr/>
          </p:nvSpPr>
          <p:spPr>
            <a:xfrm>
              <a:off x="9861951" y="2518066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h = 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54C17D1-B5E9-1176-934F-3E75E287A3B3}"/>
                </a:ext>
              </a:extLst>
            </p:cNvPr>
            <p:cNvSpPr txBox="1"/>
            <p:nvPr/>
          </p:nvSpPr>
          <p:spPr>
            <a:xfrm>
              <a:off x="7055382" y="3227481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00B050"/>
                  </a:solidFill>
                </a:rPr>
                <a:t>h = 1</a:t>
              </a:r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4AE94E06-EC01-CFBF-5861-D996767F6F81}"/>
                </a:ext>
              </a:extLst>
            </p:cNvPr>
            <p:cNvSpPr/>
            <p:nvPr/>
          </p:nvSpPr>
          <p:spPr>
            <a:xfrm rot="15490289">
              <a:off x="8716840" y="2861003"/>
              <a:ext cx="857571" cy="946046"/>
            </a:xfrm>
            <a:prstGeom prst="arc">
              <a:avLst>
                <a:gd name="adj1" fmla="val 16200000"/>
                <a:gd name="adj2" fmla="val 21019505"/>
              </a:avLst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5B04B3BD-B61E-7BC1-5428-0210A6250B7A}"/>
                </a:ext>
              </a:extLst>
            </p:cNvPr>
            <p:cNvSpPr/>
            <p:nvPr/>
          </p:nvSpPr>
          <p:spPr>
            <a:xfrm>
              <a:off x="9160164" y="2884338"/>
              <a:ext cx="1101745" cy="1428208"/>
            </a:xfrm>
            <a:prstGeom prst="arc">
              <a:avLst>
                <a:gd name="adj1" fmla="val 16200000"/>
                <a:gd name="adj2" fmla="val 5204884"/>
              </a:avLst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15FAE53-E638-B0B4-3857-CDC63C5C0F4B}"/>
                </a:ext>
              </a:extLst>
            </p:cNvPr>
            <p:cNvSpPr txBox="1"/>
            <p:nvPr/>
          </p:nvSpPr>
          <p:spPr>
            <a:xfrm>
              <a:off x="8307113" y="2916732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C000"/>
                  </a:solidFill>
                </a:rPr>
                <a:t>h = 1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CECF98F-D9AA-6496-4969-5BFDCFC8964A}"/>
                </a:ext>
              </a:extLst>
            </p:cNvPr>
            <p:cNvSpPr txBox="1"/>
            <p:nvPr/>
          </p:nvSpPr>
          <p:spPr>
            <a:xfrm>
              <a:off x="10175412" y="3788393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C000"/>
                  </a:solidFill>
                </a:rPr>
                <a:t>h = 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8A0B81-1DFB-321B-BA12-C358C91FED74}"/>
                </a:ext>
              </a:extLst>
            </p:cNvPr>
            <p:cNvSpPr txBox="1"/>
            <p:nvPr/>
          </p:nvSpPr>
          <p:spPr>
            <a:xfrm>
              <a:off x="9133370" y="3752861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7030A0"/>
                  </a:solidFill>
                </a:rPr>
                <a:t>h = 1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B13DCF10-6465-3284-EDA2-ACBEFAE82BC4}"/>
                </a:ext>
              </a:extLst>
            </p:cNvPr>
            <p:cNvSpPr txBox="1"/>
            <p:nvPr/>
          </p:nvSpPr>
          <p:spPr>
            <a:xfrm>
              <a:off x="6906694" y="4351565"/>
              <a:ext cx="1827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overall balanced</a:t>
              </a: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C0FE3DAA-7C35-9D98-6A02-A2BB42904199}"/>
              </a:ext>
            </a:extLst>
          </p:cNvPr>
          <p:cNvGrpSpPr/>
          <p:nvPr/>
        </p:nvGrpSpPr>
        <p:grpSpPr>
          <a:xfrm>
            <a:off x="1186088" y="1592097"/>
            <a:ext cx="3718421" cy="4031731"/>
            <a:chOff x="1186088" y="1592097"/>
            <a:chExt cx="3718421" cy="4031731"/>
          </a:xfrm>
        </p:grpSpPr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C4541ADE-404A-3BCD-29A2-224B9B485C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76834" y="1592097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7" name="Oval 1026">
              <a:extLst>
                <a:ext uri="{FF2B5EF4-FFF2-40B4-BE49-F238E27FC236}">
                  <a16:creationId xmlns:a16="http://schemas.microsoft.com/office/drawing/2014/main" id="{BBAD1FA9-CEB4-CE05-6444-3EB0B1CB69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34034" y="2232031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342AB858-A84B-A372-8518-7A9B7FA4A2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91234" y="2908780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D265BC61-1CCF-4C12-DCB8-0D2524814A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34034" y="3603888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59BF696A-B100-4880-2520-BC3ECC1ACA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0376" y="3643906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31" name="Oval 1030">
              <a:extLst>
                <a:ext uri="{FF2B5EF4-FFF2-40B4-BE49-F238E27FC236}">
                  <a16:creationId xmlns:a16="http://schemas.microsoft.com/office/drawing/2014/main" id="{3C123FAD-0F0F-CCEF-2DC0-FA69CB2482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91234" y="4435702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E4B90240-CB63-3AF8-F1EA-49A93BCD1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1319" y="4434106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6C82CD05-B90C-5DE3-D2D4-8EA37F5D16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8519" y="5166628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035" name="Straight Arrow Connector 1034">
              <a:extLst>
                <a:ext uri="{FF2B5EF4-FFF2-40B4-BE49-F238E27FC236}">
                  <a16:creationId xmlns:a16="http://schemas.microsoft.com/office/drawing/2014/main" id="{2C171198-B76E-0371-9C25-B4DA0ED6BBF2}"/>
                </a:ext>
              </a:extLst>
            </p:cNvPr>
            <p:cNvCxnSpPr>
              <a:stCxn id="1025" idx="5"/>
              <a:endCxn id="1027" idx="0"/>
            </p:cNvCxnSpPr>
            <p:nvPr/>
          </p:nvCxnSpPr>
          <p:spPr>
            <a:xfrm>
              <a:off x="2267079" y="1982342"/>
              <a:ext cx="295555" cy="249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F25FB3E5-DBC1-EF05-CF59-4499DF7CC2DC}"/>
                </a:ext>
              </a:extLst>
            </p:cNvPr>
            <p:cNvCxnSpPr>
              <a:cxnSpLocks/>
              <a:stCxn id="1027" idx="5"/>
              <a:endCxn id="1028" idx="0"/>
            </p:cNvCxnSpPr>
            <p:nvPr/>
          </p:nvCxnSpPr>
          <p:spPr>
            <a:xfrm>
              <a:off x="2724279" y="2622276"/>
              <a:ext cx="295555" cy="2865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Arrow Connector 1038">
              <a:extLst>
                <a:ext uri="{FF2B5EF4-FFF2-40B4-BE49-F238E27FC236}">
                  <a16:creationId xmlns:a16="http://schemas.microsoft.com/office/drawing/2014/main" id="{87C560B9-0D03-7188-66E4-98D0016868D7}"/>
                </a:ext>
              </a:extLst>
            </p:cNvPr>
            <p:cNvCxnSpPr>
              <a:cxnSpLocks/>
              <a:stCxn id="1028" idx="3"/>
              <a:endCxn id="1029" idx="0"/>
            </p:cNvCxnSpPr>
            <p:nvPr/>
          </p:nvCxnSpPr>
          <p:spPr>
            <a:xfrm flipH="1">
              <a:off x="2562634" y="3299025"/>
              <a:ext cx="295555" cy="3048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28048584-7C5D-B269-A8B0-BD5F29C9F2B0}"/>
                </a:ext>
              </a:extLst>
            </p:cNvPr>
            <p:cNvCxnSpPr>
              <a:cxnSpLocks/>
              <a:stCxn id="1028" idx="5"/>
              <a:endCxn id="1030" idx="0"/>
            </p:cNvCxnSpPr>
            <p:nvPr/>
          </p:nvCxnSpPr>
          <p:spPr>
            <a:xfrm>
              <a:off x="3181479" y="3299025"/>
              <a:ext cx="297497" cy="3448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Arrow Connector 1043">
              <a:extLst>
                <a:ext uri="{FF2B5EF4-FFF2-40B4-BE49-F238E27FC236}">
                  <a16:creationId xmlns:a16="http://schemas.microsoft.com/office/drawing/2014/main" id="{7F8D3F75-CD16-11BF-2A8A-8C4AF5C6C625}"/>
                </a:ext>
              </a:extLst>
            </p:cNvPr>
            <p:cNvCxnSpPr>
              <a:cxnSpLocks/>
              <a:stCxn id="1030" idx="3"/>
              <a:endCxn id="1031" idx="0"/>
            </p:cNvCxnSpPr>
            <p:nvPr/>
          </p:nvCxnSpPr>
          <p:spPr>
            <a:xfrm flipH="1">
              <a:off x="3019834" y="4034151"/>
              <a:ext cx="297497" cy="4015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Arrow Connector 1045">
              <a:extLst>
                <a:ext uri="{FF2B5EF4-FFF2-40B4-BE49-F238E27FC236}">
                  <a16:creationId xmlns:a16="http://schemas.microsoft.com/office/drawing/2014/main" id="{DDC97DAA-82BB-2A33-83E4-95DABD93575D}"/>
                </a:ext>
              </a:extLst>
            </p:cNvPr>
            <p:cNvCxnSpPr>
              <a:cxnSpLocks/>
              <a:stCxn id="1030" idx="5"/>
              <a:endCxn id="1032" idx="0"/>
            </p:cNvCxnSpPr>
            <p:nvPr/>
          </p:nvCxnSpPr>
          <p:spPr>
            <a:xfrm>
              <a:off x="3640621" y="4034151"/>
              <a:ext cx="289298" cy="3999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Arrow Connector 1047">
              <a:extLst>
                <a:ext uri="{FF2B5EF4-FFF2-40B4-BE49-F238E27FC236}">
                  <a16:creationId xmlns:a16="http://schemas.microsoft.com/office/drawing/2014/main" id="{FAF65142-22B3-2485-B327-60E9EF15872C}"/>
                </a:ext>
              </a:extLst>
            </p:cNvPr>
            <p:cNvCxnSpPr>
              <a:cxnSpLocks/>
              <a:stCxn id="1032" idx="5"/>
              <a:endCxn id="1033" idx="0"/>
            </p:cNvCxnSpPr>
            <p:nvPr/>
          </p:nvCxnSpPr>
          <p:spPr>
            <a:xfrm>
              <a:off x="4091564" y="4824351"/>
              <a:ext cx="295555" cy="3422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Arrow Connector 1058">
              <a:extLst>
                <a:ext uri="{FF2B5EF4-FFF2-40B4-BE49-F238E27FC236}">
                  <a16:creationId xmlns:a16="http://schemas.microsoft.com/office/drawing/2014/main" id="{C50CC03B-F759-ED91-B3C0-6C6289FDA8EE}"/>
                </a:ext>
              </a:extLst>
            </p:cNvPr>
            <p:cNvCxnSpPr/>
            <p:nvPr/>
          </p:nvCxnSpPr>
          <p:spPr>
            <a:xfrm>
              <a:off x="2414856" y="1592097"/>
              <a:ext cx="2489653" cy="357453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83536F44-3F69-DA29-0E98-AA706A12878A}"/>
                </a:ext>
              </a:extLst>
            </p:cNvPr>
            <p:cNvSpPr txBox="1"/>
            <p:nvPr/>
          </p:nvSpPr>
          <p:spPr>
            <a:xfrm>
              <a:off x="3766616" y="3053984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h = 6</a:t>
              </a:r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0F020F29-C437-1B37-92BF-CD58F8166FD3}"/>
                </a:ext>
              </a:extLst>
            </p:cNvPr>
            <p:cNvSpPr txBox="1"/>
            <p:nvPr/>
          </p:nvSpPr>
          <p:spPr>
            <a:xfrm>
              <a:off x="1305894" y="2111176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 = 0</a:t>
              </a: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A293BC7E-1EA0-9AA8-80B6-322EDD417E24}"/>
                </a:ext>
              </a:extLst>
            </p:cNvPr>
            <p:cNvSpPr txBox="1"/>
            <p:nvPr/>
          </p:nvSpPr>
          <p:spPr>
            <a:xfrm>
              <a:off x="1186088" y="4814111"/>
              <a:ext cx="13756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unbalanced</a:t>
              </a:r>
            </a:p>
          </p:txBody>
        </p:sp>
      </p:grpSp>
      <p:sp>
        <p:nvSpPr>
          <p:cNvPr id="1063" name="TextBox 1062">
            <a:extLst>
              <a:ext uri="{FF2B5EF4-FFF2-40B4-BE49-F238E27FC236}">
                <a16:creationId xmlns:a16="http://schemas.microsoft.com/office/drawing/2014/main" id="{60DE7853-2763-1738-CA8D-A18D3361206B}"/>
              </a:ext>
            </a:extLst>
          </p:cNvPr>
          <p:cNvSpPr txBox="1"/>
          <p:nvPr/>
        </p:nvSpPr>
        <p:spPr>
          <a:xfrm>
            <a:off x="5770445" y="4705113"/>
            <a:ext cx="53912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Balance Factor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BF(X) = height(rightSubTree(X)) – height(leftSubTree(X))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 0 =&gt; balanced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 1 =&gt; right heavy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 -1 =&gt; left heavy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&gt; 1 or &lt; -1 =&gt; unbalanced, requires a “rotation”</a:t>
            </a:r>
          </a:p>
        </p:txBody>
      </p:sp>
    </p:spTree>
    <p:extLst>
      <p:ext uri="{BB962C8B-B14F-4D97-AF65-F5344CB8AC3E}">
        <p14:creationId xmlns:p14="http://schemas.microsoft.com/office/powerpoint/2010/main" val="357918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E125B-BCD7-6934-9A8D-F67A5DCA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2368DF-5F11-5211-4722-E795B01C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36E43-1A6E-82BB-21B7-305CBB71D2E6}"/>
              </a:ext>
            </a:extLst>
          </p:cNvPr>
          <p:cNvSpPr txBox="1"/>
          <p:nvPr/>
        </p:nvSpPr>
        <p:spPr>
          <a:xfrm>
            <a:off x="1822362" y="3136612"/>
            <a:ext cx="8547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Exercise: define a tree and do element insertion</a:t>
            </a:r>
          </a:p>
        </p:txBody>
      </p:sp>
    </p:spTree>
    <p:extLst>
      <p:ext uri="{BB962C8B-B14F-4D97-AF65-F5344CB8AC3E}">
        <p14:creationId xmlns:p14="http://schemas.microsoft.com/office/powerpoint/2010/main" val="214474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A508-3311-C4EE-54D0-FACBC60AA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87D21E-6603-B04A-E446-91C3B666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C28C2-06A6-4CCE-B296-36E77477D1A0}"/>
              </a:ext>
            </a:extLst>
          </p:cNvPr>
          <p:cNvSpPr txBox="1"/>
          <p:nvPr/>
        </p:nvSpPr>
        <p:spPr>
          <a:xfrm>
            <a:off x="430306" y="398033"/>
            <a:ext cx="2817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Binary tree traversal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FF1F5D-0DC4-9970-6E4C-FB8711AA05AA}"/>
              </a:ext>
            </a:extLst>
          </p:cNvPr>
          <p:cNvSpPr txBox="1"/>
          <p:nvPr/>
        </p:nvSpPr>
        <p:spPr>
          <a:xfrm>
            <a:off x="430306" y="1203649"/>
            <a:ext cx="1153027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traversal means visiting every node in a tree exactly once in a defined order.</a:t>
            </a:r>
          </a:p>
          <a:p>
            <a:endParaRPr lang="en-US" dirty="0"/>
          </a:p>
          <a:p>
            <a:r>
              <a:rPr lang="en-US" dirty="0"/>
              <a:t>Unlike linear structures (arrays, lists) where traversal is obvious (start at beginning, go to end), trees are hierarchical</a:t>
            </a:r>
            <a:br>
              <a:rPr lang="en-US" dirty="0"/>
            </a:br>
            <a:r>
              <a:rPr lang="en-US" dirty="0"/>
              <a:t>and have multiple traversal strategies.</a:t>
            </a:r>
          </a:p>
          <a:p>
            <a:endParaRPr lang="en-US" dirty="0"/>
          </a:p>
          <a:p>
            <a:r>
              <a:rPr lang="en-US" dirty="0"/>
              <a:t>Why traversals matter: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Processing all data: Apply an operation to every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Printing/displaying: Show tree contents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Serialization: Save tree to file or transmit over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Copying/cloning: Create a duplicate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Searching: Visit nodes until target found</a:t>
            </a:r>
          </a:p>
        </p:txBody>
      </p:sp>
    </p:spTree>
    <p:extLst>
      <p:ext uri="{BB962C8B-B14F-4D97-AF65-F5344CB8AC3E}">
        <p14:creationId xmlns:p14="http://schemas.microsoft.com/office/powerpoint/2010/main" val="77442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A4CA-E8E5-EF58-703D-FD16E6F10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166688-5D5D-E861-F680-720DC175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6E340-854C-9662-A661-25B8AD7A6B87}"/>
              </a:ext>
            </a:extLst>
          </p:cNvPr>
          <p:cNvSpPr txBox="1"/>
          <p:nvPr/>
        </p:nvSpPr>
        <p:spPr>
          <a:xfrm>
            <a:off x="430306" y="398033"/>
            <a:ext cx="3040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Depth-First traversals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883B17-2A9A-4DEA-045F-4386DBF23FC1}"/>
              </a:ext>
            </a:extLst>
          </p:cNvPr>
          <p:cNvSpPr txBox="1"/>
          <p:nvPr/>
        </p:nvSpPr>
        <p:spPr>
          <a:xfrm>
            <a:off x="430306" y="1203649"/>
            <a:ext cx="951292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classic depth-first traversals: preorder, </a:t>
            </a:r>
            <a:r>
              <a:rPr lang="en-US" dirty="0" err="1"/>
              <a:t>inorder</a:t>
            </a:r>
            <a:r>
              <a:rPr lang="en-US" dirty="0"/>
              <a:t>, </a:t>
            </a:r>
            <a:r>
              <a:rPr lang="en-US" dirty="0" err="1"/>
              <a:t>postorder</a:t>
            </a:r>
            <a:r>
              <a:rPr lang="en-US" dirty="0"/>
              <a:t>. All use recursion naturally.</a:t>
            </a:r>
          </a:p>
          <a:p>
            <a:endParaRPr lang="en-US" dirty="0"/>
          </a:p>
          <a:p>
            <a:r>
              <a:rPr lang="en-US" dirty="0"/>
              <a:t>Preorder traversal: </a:t>
            </a:r>
            <a:r>
              <a:rPr lang="en-US" dirty="0">
                <a:solidFill>
                  <a:srgbClr val="FF0000"/>
                </a:solidFill>
              </a:rPr>
              <a:t>Root</a:t>
            </a:r>
            <a:r>
              <a:rPr lang="en-US" dirty="0"/>
              <a:t> → </a:t>
            </a:r>
            <a:r>
              <a:rPr lang="en-US" dirty="0">
                <a:solidFill>
                  <a:srgbClr val="00B050"/>
                </a:solidFill>
              </a:rPr>
              <a:t>Left</a:t>
            </a:r>
            <a:r>
              <a:rPr lang="en-US" dirty="0"/>
              <a:t> → </a:t>
            </a:r>
            <a:r>
              <a:rPr lang="en-US" dirty="0">
                <a:solidFill>
                  <a:srgbClr val="0070C0"/>
                </a:solidFill>
              </a:rPr>
              <a:t>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a copy of the tree (visit node first to create it, then recurse on children)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Serializing a tree (save root first, then structure)</a:t>
            </a:r>
          </a:p>
          <a:p>
            <a:endParaRPr lang="en-US" dirty="0"/>
          </a:p>
          <a:p>
            <a:r>
              <a:rPr lang="en-US" dirty="0" err="1"/>
              <a:t>Inorder</a:t>
            </a:r>
            <a:r>
              <a:rPr lang="en-US" dirty="0"/>
              <a:t> traversal: </a:t>
            </a:r>
            <a:r>
              <a:rPr lang="en-US" dirty="0">
                <a:solidFill>
                  <a:srgbClr val="00B050"/>
                </a:solidFill>
              </a:rPr>
              <a:t>Left</a:t>
            </a:r>
            <a:r>
              <a:rPr lang="en-US" dirty="0"/>
              <a:t> → </a:t>
            </a:r>
            <a:r>
              <a:rPr lang="en-US" dirty="0">
                <a:solidFill>
                  <a:srgbClr val="FF0000"/>
                </a:solidFill>
              </a:rPr>
              <a:t>Root</a:t>
            </a:r>
            <a:r>
              <a:rPr lang="en-US" dirty="0"/>
              <a:t> → </a:t>
            </a:r>
            <a:r>
              <a:rPr lang="en-US" dirty="0">
                <a:solidFill>
                  <a:srgbClr val="0070C0"/>
                </a:solidFill>
              </a:rPr>
              <a:t>Right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Printing BST elements in sorted order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Validating BST property (sequence should be ascending)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/>
              <a:t>Postorder</a:t>
            </a:r>
            <a:r>
              <a:rPr lang="en-US" dirty="0"/>
              <a:t> traversal: </a:t>
            </a:r>
            <a:r>
              <a:rPr lang="en-US" dirty="0">
                <a:solidFill>
                  <a:srgbClr val="00B050"/>
                </a:solidFill>
              </a:rPr>
              <a:t>Left</a:t>
            </a:r>
            <a:r>
              <a:rPr lang="en-US" dirty="0"/>
              <a:t> → </a:t>
            </a:r>
            <a:r>
              <a:rPr lang="en-US" dirty="0">
                <a:solidFill>
                  <a:srgbClr val="0070C0"/>
                </a:solidFill>
              </a:rPr>
              <a:t>Right</a:t>
            </a:r>
            <a:r>
              <a:rPr lang="en-US" dirty="0"/>
              <a:t> → </a:t>
            </a:r>
            <a:r>
              <a:rPr lang="en-US" dirty="0">
                <a:solidFill>
                  <a:srgbClr val="FF0000"/>
                </a:solidFill>
              </a:rPr>
              <a:t>Root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Deleting a tree (delete children before parent to avoid dangling references)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Evaluating expression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Computing properties that depend on descendants (e.g., subtree 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Note: there’s a BFS (Breadth-First Traversal) too, but it makes more sense with graphs.</a:t>
            </a:r>
          </a:p>
        </p:txBody>
      </p:sp>
    </p:spTree>
    <p:extLst>
      <p:ext uri="{BB962C8B-B14F-4D97-AF65-F5344CB8AC3E}">
        <p14:creationId xmlns:p14="http://schemas.microsoft.com/office/powerpoint/2010/main" val="30954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79CE-0A87-C92E-EBF3-0EF77431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497BF0-8DB7-7F57-5B4F-0511495C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CF884-EB2A-BC6A-28D1-A3C1B0A9F26D}"/>
              </a:ext>
            </a:extLst>
          </p:cNvPr>
          <p:cNvSpPr txBox="1"/>
          <p:nvPr/>
        </p:nvSpPr>
        <p:spPr>
          <a:xfrm>
            <a:off x="4298521" y="3136612"/>
            <a:ext cx="3594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Exercise: traversals</a:t>
            </a:r>
          </a:p>
        </p:txBody>
      </p:sp>
    </p:spTree>
    <p:extLst>
      <p:ext uri="{BB962C8B-B14F-4D97-AF65-F5344CB8AC3E}">
        <p14:creationId xmlns:p14="http://schemas.microsoft.com/office/powerpoint/2010/main" val="2782355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5A28C-FEA5-CC23-BF0C-A2208149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2E1613-83AB-C0EB-C9D8-38252DE7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CE813-B10D-36DB-39AD-FDDC0192DA00}"/>
              </a:ext>
            </a:extLst>
          </p:cNvPr>
          <p:cNvSpPr txBox="1"/>
          <p:nvPr/>
        </p:nvSpPr>
        <p:spPr>
          <a:xfrm>
            <a:off x="430306" y="398033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Deletion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DD2FAF-C6B5-AB69-9E65-B223545C0976}"/>
              </a:ext>
            </a:extLst>
          </p:cNvPr>
          <p:cNvSpPr txBox="1"/>
          <p:nvPr/>
        </p:nvSpPr>
        <p:spPr>
          <a:xfrm>
            <a:off x="430306" y="1203649"/>
            <a:ext cx="1140799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Deletion is the most complex operation because we must maintain the binary tree property after removing a node.</a:t>
            </a:r>
          </a:p>
          <a:p>
            <a:endParaRPr lang="en-US"/>
          </a:p>
          <a:p>
            <a:r>
              <a:rPr lang="en-US"/>
              <a:t>When deleting a node N, there are three scenarios based on N's children:</a:t>
            </a:r>
          </a:p>
          <a:p>
            <a:endParaRPr lang="en-US"/>
          </a:p>
          <a:p>
            <a:r>
              <a:rPr lang="en-US"/>
              <a:t>Case 1: Node has no children (leaf node)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Simply remove the node (set parent's reference to null)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restructuring needed</a:t>
            </a:r>
          </a:p>
          <a:p>
            <a:endParaRPr lang="en-US"/>
          </a:p>
          <a:p>
            <a:r>
              <a:rPr lang="en-US"/>
              <a:t>Case 2: Node has one child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Replace the node with its single child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"Bypass" the node by connecting parent directly to child</a:t>
            </a:r>
          </a:p>
          <a:p>
            <a:endParaRPr lang="en-US"/>
          </a:p>
          <a:p>
            <a:r>
              <a:rPr lang="en-US"/>
              <a:t>Case 3: Node has two children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Cannot simply remove it (both subtrees must remain connected)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Find the node's inorder successor (smallest value in right subtree) or inorder predecessor</a:t>
            </a:r>
            <a:br>
              <a:rPr lang="en-US"/>
            </a:br>
            <a:r>
              <a:rPr lang="en-US"/>
              <a:t>(largest value in left subtree)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Replace the node's value with the successor's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Recursively delete the successor (which will be Case 1 or Case 2)</a:t>
            </a:r>
          </a:p>
        </p:txBody>
      </p:sp>
    </p:spTree>
    <p:extLst>
      <p:ext uri="{BB962C8B-B14F-4D97-AF65-F5344CB8AC3E}">
        <p14:creationId xmlns:p14="http://schemas.microsoft.com/office/powerpoint/2010/main" val="394332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FB47-678A-5DC0-A825-6ED508C5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984181-61BD-7FD9-E441-DDA82B31E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1CC78-A01F-2982-A086-5998B94123A2}"/>
              </a:ext>
            </a:extLst>
          </p:cNvPr>
          <p:cNvSpPr txBox="1"/>
          <p:nvPr/>
        </p:nvSpPr>
        <p:spPr>
          <a:xfrm>
            <a:off x="4437244" y="3136612"/>
            <a:ext cx="33175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Exercise: deletion</a:t>
            </a:r>
          </a:p>
        </p:txBody>
      </p:sp>
    </p:spTree>
    <p:extLst>
      <p:ext uri="{BB962C8B-B14F-4D97-AF65-F5344CB8AC3E}">
        <p14:creationId xmlns:p14="http://schemas.microsoft.com/office/powerpoint/2010/main" val="390172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899</Words>
  <Application>Microsoft Office PowerPoint</Application>
  <PresentationFormat>Widescreen</PresentationFormat>
  <Paragraphs>158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51</cp:revision>
  <dcterms:created xsi:type="dcterms:W3CDTF">2025-02-17T20:26:07Z</dcterms:created>
  <dcterms:modified xsi:type="dcterms:W3CDTF">2026-06-09T20:54:52Z</dcterms:modified>
</cp:coreProperties>
</file>