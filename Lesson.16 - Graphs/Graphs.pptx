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handoutMasterIdLst>
    <p:handoutMasterId r:id="rId13"/>
  </p:handoutMasterIdLst>
  <p:sldIdLst>
    <p:sldId id="280" r:id="rId2"/>
    <p:sldId id="273" r:id="rId3"/>
    <p:sldId id="274" r:id="rId4"/>
    <p:sldId id="275" r:id="rId5"/>
    <p:sldId id="264" r:id="rId6"/>
    <p:sldId id="276" r:id="rId7"/>
    <p:sldId id="281" r:id="rId8"/>
    <p:sldId id="277" r:id="rId9"/>
    <p:sldId id="282" r:id="rId10"/>
    <p:sldId id="279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9B3E8C50-9F58-5237-7C41-C721E3BAA428}" name="Di Monaco, Antonio" initials="AD" userId="S::antonio.di.monaco@sap.com::719b72b0-0350-4d19-9a7f-748728a101c7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396"/>
    <p:restoredTop sz="94667"/>
  </p:normalViewPr>
  <p:slideViewPr>
    <p:cSldViewPr snapToGrid="0">
      <p:cViewPr varScale="1">
        <p:scale>
          <a:sx n="115" d="100"/>
          <a:sy n="115" d="100"/>
        </p:scale>
        <p:origin x="2784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38100" cy="381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18" Type="http://schemas.microsoft.com/office/2018/10/relationships/authors" Target="author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D85BD452-70C7-7D43-DE79-395EC2D5AAB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US"/>
              <a:t>Advanced Software Engineering - 1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477222D-C06B-5CD4-B200-730FB65A8EB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4042657-6240-B14B-9F48-F865CB79AC7C}" type="datetimeFigureOut">
              <a:rPr lang="en-US" smtClean="0"/>
              <a:t>28-Jun-26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CA16D15-E1AC-47B8-BF91-C30978D1B07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Design Patterns - Creational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C6759E4-6272-9520-00E8-FE3F63A8D3D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55DFA7A-FF33-C64E-B529-8BCC138EFE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3013491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US"/>
              <a:t>Advanced Software Engineering - 1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E6B121A-761B-2742-9D61-65348EACD743}" type="datetimeFigureOut">
              <a:rPr lang="en-US" smtClean="0"/>
              <a:t>28-Jun-26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Design Patterns - Creational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5659E5-EFBC-DB40-B048-B7FD703FB7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7164505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69C6D0-5512-F16D-A0CB-B72D25DE26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3212CC4-D335-C33A-9B0A-689A95B730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0D5E48-8338-AC1F-6E5F-D8999FEBFB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F83FD-0971-5642-8827-6FA6FC27FA4D}" type="datetime1">
              <a:t>28-Jun-26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BF1100-D604-5C2D-7C49-74A286EA26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Programming II - Graphs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1938D9-1B5A-E778-95C0-AF4682C3CC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81C8F-CB39-4E4D-98E4-8C3FEDF751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83527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5AA693-A74F-F8E3-AD6A-0332BA4B83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E7BD10-0BF7-1F3F-59C4-F701A75502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DC3507-7FCB-4052-7D4E-E0E661B884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A1871-F2A8-2C40-AF54-483F260FE288}" type="datetime1">
              <a:t>28-Jun-26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4CF9F4-E7EF-D596-F08B-70C65EFF8A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Programming II - Graphs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E1335D-13AC-DE52-4FB3-F21D0F4A36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81C8F-CB39-4E4D-98E4-8C3FEDF751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50251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1A6974-425E-2DAD-9A21-BA0796179F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801BC8-2575-E2E6-B061-F7EE5B50CD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E7BA54-9635-D484-B680-4616CD98E7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D5920-E5EA-AC41-935C-91E92444E6EC}" type="datetime1">
              <a:t>28-Jun-26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5CA804-2107-34D8-E78B-2A7FFFB91E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Programming II - Graphs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48FD9B-7CDC-60DE-0DC1-06904DCB43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81C8F-CB39-4E4D-98E4-8C3FEDF751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35908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C6372E-B1A4-D336-D790-D89C1E7913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A17E8D-C5B1-602E-EAC6-EB6FA3EE17C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8AB62D6-18E8-14F8-E378-8E10073C87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B366E2-2C5F-9236-3F60-A87A6B3495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722F3-D100-2C4A-8F0E-776483BDDB54}" type="datetime1">
              <a:t>28-Jun-26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A63519-F2FC-412C-3914-030E96B37E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Programming II - Graphs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3F7ABC-C7BA-0E16-8652-D4FB52E886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81C8F-CB39-4E4D-98E4-8C3FEDF751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52215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1A9EAA-6C94-CE7A-96FB-FF6B2F1807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842EFD-CF2B-1D2E-7819-E2EBC8E190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4380BC-743C-1D56-4519-FAAC1140ED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FE74647-A3CD-CD27-25B6-C1CB380354B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BBD464C-F134-5223-06A8-93C17D00FB5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FA3B48B-CF79-443F-E609-240A9AD958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DD7D9A-85F5-AF42-90E8-11FA2B83AF10}" type="datetime1">
              <a:t>28-Jun-26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1D2D30F-6B06-D928-93A9-7BFCC033B7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Programming II - Graphs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55A9A56-6E9F-7FCB-C081-AB1C0B13D6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81C8F-CB39-4E4D-98E4-8C3FEDF751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67183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2BFFED-3B7D-D363-F6D8-89AB1CD5D2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6B69165-4CDC-A611-C121-3CA7DEA955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C5ED6-978E-F540-AB65-B499FED3FB5E}" type="datetime1">
              <a:t>28-Jun-26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4A37B45-F436-35A0-1A11-3847788ADA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Programming II - Graphs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B1E249D-E148-E80F-8FD8-12216ADDDF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81C8F-CB39-4E4D-98E4-8C3FEDF751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76218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8329C19-6C7E-FBCF-C0D3-BC2825CF72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182C5E-6D89-F045-BB29-351F7E9C60C6}" type="datetime1">
              <a:t>28-Jun-26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EF8B7D5-B148-1242-4C00-81D88102D5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Programming II - Graphs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C565B3-A8E1-6528-1396-C3E42F7151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81C8F-CB39-4E4D-98E4-8C3FEDF751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78574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5B6B0A-0FFE-C59A-0FDB-B712E2B38C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2C6137-AB91-B024-3858-0625F2A854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B472223-1D56-3876-37AB-AB827894AB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85145A-5ACE-4F2E-8C10-D81F5A60BB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0C9E89-EE59-6C42-9C69-EEA3822EC549}" type="datetime1">
              <a:t>28-Jun-26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D1CE9C-37C5-A4EB-2D87-B45D168BB4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Programming II - Graphs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8DA687-831D-6087-7C77-C236A471CA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81C8F-CB39-4E4D-98E4-8C3FEDF751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48103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845D35-BDA7-8A9B-5FE8-19ED22B14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99E14BC-B1A6-7914-CA5E-3491D5093C1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269EAF5-4292-2E66-1BA9-931773EEC4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FD9A49-D6E3-429F-B82D-DD18B58F54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4A57E9-E505-9546-9395-31D5F19AD820}" type="datetime1">
              <a:t>28-Jun-26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A0FD04-DB58-C9EB-75F0-97413C2C59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Programming II - Graphs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B13049-D1B6-FDF7-C4FA-F1C43AC618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81C8F-CB39-4E4D-98E4-8C3FEDF751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11242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47E8EE-477E-ECFB-0E65-CD52E05BF6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E19C616-6082-E08E-4642-B87DE66B81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B289D1-5083-F77D-B918-E888FE2BD2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1E7D9-D656-3446-8EB7-8DAADE4258DA}" type="datetime1">
              <a:t>28-Jun-26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B9B412-8604-155E-9048-BCEAA5F805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Programming II - Graphs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DB81FC-B75F-EB66-0310-834FD5ED80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81C8F-CB39-4E4D-98E4-8C3FEDF751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6737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44BFC86-9762-DFC3-7CD6-D3F9D73D9F7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9A56E57-9E5C-69B9-F8AE-49A68E29D5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BED425-82B9-9E5C-85DE-50375387C2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80E390-8C95-964C-8E44-5923ACE1987B}" type="datetime1">
              <a:t>28-Jun-26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3633BA-4ED4-16BD-862C-CA2CC2E394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Programming II - Graphs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1C00BD-6373-F5B3-CF96-94569E933A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81C8F-CB39-4E4D-98E4-8C3FEDF751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87021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DB6CD59-EDAF-CA69-6ACB-CAD4CEB9C4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553310-4114-A479-F299-36FC9ECFE5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F66501-C88C-FFD9-4D05-DAEFB3B8117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F85C2DE-1B5D-C046-8C5A-39588DA61EA1}" type="datetime1">
              <a:t>28-Jun-26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41AE9D-4006-22D3-9F53-03EFBB7E47B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Programming II - Graphs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D99D29-9B98-65F3-7AC9-22F3C883F30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3D81C8F-CB39-4E4D-98E4-8C3FEDF751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82975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975EDB5-7C26-1246-E398-1FA21B5C1782}"/>
              </a:ext>
            </a:extLst>
          </p:cNvPr>
          <p:cNvSpPr txBox="1"/>
          <p:nvPr/>
        </p:nvSpPr>
        <p:spPr>
          <a:xfrm>
            <a:off x="570154" y="915313"/>
            <a:ext cx="94559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Programming II Course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686B9AB-A154-F77B-F9BB-7DC5E358FC71}"/>
              </a:ext>
            </a:extLst>
          </p:cNvPr>
          <p:cNvSpPr txBox="1"/>
          <p:nvPr/>
        </p:nvSpPr>
        <p:spPr>
          <a:xfrm>
            <a:off x="570155" y="5111690"/>
            <a:ext cx="386779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Antonio Di Monaco</a:t>
            </a:r>
          </a:p>
          <a:p>
            <a:r>
              <a:rPr lang="en-US" dirty="0"/>
              <a:t>Computer Science Bachelor Program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263B0E87-0692-1E7D-2BF8-8A674F0914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Programming II - Graphs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2508F35-8C13-E451-FF21-78133D15ADFC}"/>
              </a:ext>
            </a:extLst>
          </p:cNvPr>
          <p:cNvSpPr txBox="1"/>
          <p:nvPr/>
        </p:nvSpPr>
        <p:spPr>
          <a:xfrm>
            <a:off x="570154" y="3013501"/>
            <a:ext cx="131369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/>
              <a:t>Graphs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9109683-DA5F-71A9-B9A1-A2713AEAED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81C8F-CB39-4E4D-98E4-8C3FEDF75126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40351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D592D3-F30D-4DF3-492E-0C33E25178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406D104-9EDC-D46B-637B-706E48A810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Programming II - Graphs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C381AA-ACD9-DFF0-0194-EDFA4AA0FD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81C8F-CB39-4E4D-98E4-8C3FEDF75126}" type="slidenum">
              <a:rPr lang="en-US" smtClean="0"/>
              <a:t>2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4894FC4-9AAE-0409-A05F-029F6B74CB3C}"/>
              </a:ext>
            </a:extLst>
          </p:cNvPr>
          <p:cNvSpPr txBox="1"/>
          <p:nvPr/>
        </p:nvSpPr>
        <p:spPr>
          <a:xfrm>
            <a:off x="230910" y="122944"/>
            <a:ext cx="100264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Graph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B9E2262-B327-71D3-877B-63BA2114D7A4}"/>
              </a:ext>
            </a:extLst>
          </p:cNvPr>
          <p:cNvSpPr txBox="1"/>
          <p:nvPr/>
        </p:nvSpPr>
        <p:spPr>
          <a:xfrm>
            <a:off x="230910" y="680089"/>
            <a:ext cx="11669542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A graph is an abstract data type intended to implement undirected and directed graphs.</a:t>
            </a:r>
          </a:p>
          <a:p>
            <a:endParaRPr lang="en-US" sz="1600" dirty="0"/>
          </a:p>
          <a:p>
            <a:r>
              <a:rPr lang="en-US" sz="1600" dirty="0"/>
              <a:t>According to the mathematical definition of graph, a graph is a structure made of a set of object where we put some pairs in relation with each other.</a:t>
            </a:r>
          </a:p>
          <a:p>
            <a:endParaRPr lang="en-US" sz="1600" dirty="0"/>
          </a:p>
          <a:p>
            <a:r>
              <a:rPr lang="en-US" sz="1600" dirty="0"/>
              <a:t>Those objects are called </a:t>
            </a:r>
            <a:r>
              <a:rPr lang="en-US" sz="1600" i="1" dirty="0"/>
              <a:t>vertices</a:t>
            </a:r>
            <a:r>
              <a:rPr lang="en-US" sz="1600" dirty="0"/>
              <a:t> (or </a:t>
            </a:r>
            <a:r>
              <a:rPr lang="en-US" sz="1600" i="1" dirty="0"/>
              <a:t>nodes</a:t>
            </a:r>
            <a:r>
              <a:rPr lang="en-US" sz="1600" dirty="0"/>
              <a:t> or </a:t>
            </a:r>
            <a:r>
              <a:rPr lang="en-US" sz="1600" i="1" dirty="0"/>
              <a:t>points</a:t>
            </a:r>
            <a:r>
              <a:rPr lang="en-US" sz="1600" dirty="0"/>
              <a:t>), and each related pair of vertices is called </a:t>
            </a:r>
            <a:r>
              <a:rPr lang="en-US" sz="1600" i="1" dirty="0"/>
              <a:t>edge</a:t>
            </a:r>
            <a:r>
              <a:rPr lang="en-US" sz="1600" dirty="0"/>
              <a:t> (or </a:t>
            </a:r>
            <a:r>
              <a:rPr lang="en-US" sz="1600" i="1" dirty="0"/>
              <a:t>link</a:t>
            </a:r>
            <a:r>
              <a:rPr lang="en-US" sz="1600" dirty="0"/>
              <a:t> or </a:t>
            </a:r>
            <a:r>
              <a:rPr lang="en-US" sz="1600" i="1" dirty="0"/>
              <a:t>line</a:t>
            </a:r>
            <a:r>
              <a:rPr lang="en-US" sz="1600" dirty="0"/>
              <a:t>). When a vertex has no edges, it’s </a:t>
            </a:r>
            <a:r>
              <a:rPr lang="en-US" sz="1600" i="1" dirty="0"/>
              <a:t>isolated</a:t>
            </a:r>
            <a:r>
              <a:rPr lang="en-US" sz="1600" dirty="0"/>
              <a:t>. Otherwise, the edge is said to </a:t>
            </a:r>
            <a:r>
              <a:rPr lang="en-US" sz="1600" i="1" dirty="0"/>
              <a:t>join</a:t>
            </a:r>
            <a:r>
              <a:rPr lang="en-US" sz="1600" dirty="0"/>
              <a:t> the corresponding vertices, and those vertices are called </a:t>
            </a:r>
            <a:r>
              <a:rPr lang="en-US" sz="1600" i="1" dirty="0"/>
              <a:t>adjacent</a:t>
            </a:r>
            <a:r>
              <a:rPr lang="en-US" sz="1600" dirty="0"/>
              <a:t>.</a:t>
            </a:r>
          </a:p>
          <a:p>
            <a:endParaRPr lang="en-US" sz="1600" dirty="0"/>
          </a:p>
          <a:p>
            <a:r>
              <a:rPr lang="en-US" sz="1600" dirty="0"/>
              <a:t>The edges can be </a:t>
            </a:r>
            <a:r>
              <a:rPr lang="en-US" sz="1600" i="1" dirty="0"/>
              <a:t>directed</a:t>
            </a:r>
            <a:r>
              <a:rPr lang="en-US" sz="1600" dirty="0"/>
              <a:t> or </a:t>
            </a:r>
            <a:r>
              <a:rPr lang="en-US" sz="1600" i="1" dirty="0"/>
              <a:t>undirected</a:t>
            </a:r>
            <a:r>
              <a:rPr lang="en-US" sz="1600" dirty="0"/>
              <a:t>. The edges are called </a:t>
            </a:r>
            <a:r>
              <a:rPr lang="en-US" sz="1600" i="1" dirty="0"/>
              <a:t>directed</a:t>
            </a:r>
            <a:r>
              <a:rPr lang="en-US" sz="1600" dirty="0"/>
              <a:t> when they have an orientation. Edges can have data as well, that could represent, for example, the cost of that path (</a:t>
            </a:r>
            <a:r>
              <a:rPr lang="en-US" sz="1600" i="1" dirty="0"/>
              <a:t>weighted graph</a:t>
            </a:r>
            <a:r>
              <a:rPr lang="en-US" sz="1600" dirty="0"/>
              <a:t>).</a:t>
            </a:r>
          </a:p>
          <a:p>
            <a:endParaRPr lang="en-US" sz="1600" dirty="0"/>
          </a:p>
          <a:p>
            <a:r>
              <a:rPr lang="en-US" sz="1600" dirty="0"/>
              <a:t>Graphs can have </a:t>
            </a:r>
            <a:r>
              <a:rPr lang="en-US" sz="1600" i="1" dirty="0"/>
              <a:t>loops</a:t>
            </a:r>
            <a:r>
              <a:rPr lang="en-US" sz="1600" dirty="0"/>
              <a:t>, i.e. when an edge joins a vertex with itself.</a:t>
            </a:r>
          </a:p>
        </p:txBody>
      </p:sp>
      <p:grpSp>
        <p:nvGrpSpPr>
          <p:cNvPr id="52" name="Group 51">
            <a:extLst>
              <a:ext uri="{FF2B5EF4-FFF2-40B4-BE49-F238E27FC236}">
                <a16:creationId xmlns:a16="http://schemas.microsoft.com/office/drawing/2014/main" id="{8245A20A-0CA0-1968-8179-C8F552D0CC88}"/>
              </a:ext>
            </a:extLst>
          </p:cNvPr>
          <p:cNvGrpSpPr/>
          <p:nvPr/>
        </p:nvGrpSpPr>
        <p:grpSpPr>
          <a:xfrm>
            <a:off x="335600" y="4321662"/>
            <a:ext cx="3171840" cy="1988088"/>
            <a:chOff x="335600" y="4321662"/>
            <a:chExt cx="3171840" cy="1988088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BB18FCA2-D6A3-D151-446B-4D2EA5FE50D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111030" y="4480842"/>
              <a:ext cx="457200" cy="4572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1A1A9E1F-DFD9-C127-5557-CAA8B22D167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050240" y="4938042"/>
              <a:ext cx="457200" cy="4572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BCD315BF-745C-F16B-0188-4435BFF6B48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653830" y="5526377"/>
              <a:ext cx="457200" cy="4572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F9FD396A-0983-3ACC-C326-D9942B18B0F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821640" y="5737343"/>
              <a:ext cx="457200" cy="4572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>
                  <a:solidFill>
                    <a:schemeClr val="tx1"/>
                  </a:solidFill>
                </a:rPr>
                <a:t>11</a:t>
              </a:r>
            </a:p>
          </p:txBody>
        </p: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B0E51C68-B4E9-3BE8-D6D1-570050B7E5E0}"/>
                </a:ext>
              </a:extLst>
            </p:cNvPr>
            <p:cNvCxnSpPr>
              <a:stCxn id="4" idx="5"/>
              <a:endCxn id="5" idx="2"/>
            </p:cNvCxnSpPr>
            <p:nvPr/>
          </p:nvCxnSpPr>
          <p:spPr>
            <a:xfrm>
              <a:off x="2501275" y="4871087"/>
              <a:ext cx="548965" cy="295555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2E5A0E90-98A9-D756-EBB0-6808C13E4046}"/>
                </a:ext>
              </a:extLst>
            </p:cNvPr>
            <p:cNvCxnSpPr>
              <a:stCxn id="5" idx="3"/>
              <a:endCxn id="8" idx="7"/>
            </p:cNvCxnSpPr>
            <p:nvPr/>
          </p:nvCxnSpPr>
          <p:spPr>
            <a:xfrm flipH="1">
              <a:off x="2044075" y="5328287"/>
              <a:ext cx="1073120" cy="265045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4B1DF385-1A9E-BCB1-F6D4-C9BBDE305E92}"/>
                </a:ext>
              </a:extLst>
            </p:cNvPr>
            <p:cNvCxnSpPr>
              <a:cxnSpLocks/>
              <a:stCxn id="8" idx="6"/>
              <a:endCxn id="11" idx="2"/>
            </p:cNvCxnSpPr>
            <p:nvPr/>
          </p:nvCxnSpPr>
          <p:spPr>
            <a:xfrm>
              <a:off x="2111030" y="5754977"/>
              <a:ext cx="710610" cy="210966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BE0DBA61-3F77-9901-DAC4-4FA3A35A800D}"/>
                </a:ext>
              </a:extLst>
            </p:cNvPr>
            <p:cNvCxnSpPr>
              <a:cxnSpLocks/>
              <a:stCxn id="4" idx="4"/>
              <a:endCxn id="11" idx="1"/>
            </p:cNvCxnSpPr>
            <p:nvPr/>
          </p:nvCxnSpPr>
          <p:spPr>
            <a:xfrm>
              <a:off x="2339630" y="4938042"/>
              <a:ext cx="548965" cy="866256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37A8532A-F579-7E91-8A8D-E017FE2085C3}"/>
                </a:ext>
              </a:extLst>
            </p:cNvPr>
            <p:cNvCxnSpPr>
              <a:stCxn id="4" idx="3"/>
              <a:endCxn id="8" idx="0"/>
            </p:cNvCxnSpPr>
            <p:nvPr/>
          </p:nvCxnSpPr>
          <p:spPr>
            <a:xfrm flipH="1">
              <a:off x="1882430" y="4871087"/>
              <a:ext cx="295555" cy="65529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AC4FF082-6E57-C432-BA9F-6D572117960D}"/>
                </a:ext>
              </a:extLst>
            </p:cNvPr>
            <p:cNvSpPr txBox="1"/>
            <p:nvPr/>
          </p:nvSpPr>
          <p:spPr>
            <a:xfrm>
              <a:off x="711590" y="4321662"/>
              <a:ext cx="622286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>
                  <a:solidFill>
                    <a:schemeClr val="accent6"/>
                  </a:solidFill>
                </a:rPr>
                <a:t>vertices</a:t>
              </a:r>
            </a:p>
          </p:txBody>
        </p:sp>
        <p:cxnSp>
          <p:nvCxnSpPr>
            <p:cNvPr id="39" name="Straight Arrow Connector 38">
              <a:extLst>
                <a:ext uri="{FF2B5EF4-FFF2-40B4-BE49-F238E27FC236}">
                  <a16:creationId xmlns:a16="http://schemas.microsoft.com/office/drawing/2014/main" id="{F61FBDA4-6693-12A7-BAEA-2ED10FFE19B3}"/>
                </a:ext>
              </a:extLst>
            </p:cNvPr>
            <p:cNvCxnSpPr>
              <a:stCxn id="37" idx="3"/>
            </p:cNvCxnSpPr>
            <p:nvPr/>
          </p:nvCxnSpPr>
          <p:spPr>
            <a:xfrm>
              <a:off x="1333876" y="4444773"/>
              <a:ext cx="938269" cy="252512"/>
            </a:xfrm>
            <a:prstGeom prst="straightConnector1">
              <a:avLst/>
            </a:prstGeom>
            <a:ln>
              <a:solidFill>
                <a:schemeClr val="accent6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Arrow Connector 40">
              <a:extLst>
                <a:ext uri="{FF2B5EF4-FFF2-40B4-BE49-F238E27FC236}">
                  <a16:creationId xmlns:a16="http://schemas.microsoft.com/office/drawing/2014/main" id="{3292C492-FCD7-EA1A-D4E8-C5077E6384D6}"/>
                </a:ext>
              </a:extLst>
            </p:cNvPr>
            <p:cNvCxnSpPr>
              <a:stCxn id="37" idx="3"/>
            </p:cNvCxnSpPr>
            <p:nvPr/>
          </p:nvCxnSpPr>
          <p:spPr>
            <a:xfrm>
              <a:off x="1333876" y="4444773"/>
              <a:ext cx="469134" cy="1249387"/>
            </a:xfrm>
            <a:prstGeom prst="straightConnector1">
              <a:avLst/>
            </a:prstGeom>
            <a:ln>
              <a:solidFill>
                <a:schemeClr val="accent6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7F8A997E-1447-C38C-6D13-4AFBAF5D9A8B}"/>
                </a:ext>
              </a:extLst>
            </p:cNvPr>
            <p:cNvSpPr txBox="1"/>
            <p:nvPr/>
          </p:nvSpPr>
          <p:spPr>
            <a:xfrm>
              <a:off x="335600" y="6063529"/>
              <a:ext cx="516488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>
                  <a:solidFill>
                    <a:srgbClr val="FF0000"/>
                  </a:solidFill>
                </a:rPr>
                <a:t>edges</a:t>
              </a:r>
            </a:p>
          </p:txBody>
        </p:sp>
        <p:cxnSp>
          <p:nvCxnSpPr>
            <p:cNvPr id="44" name="Straight Arrow Connector 43">
              <a:extLst>
                <a:ext uri="{FF2B5EF4-FFF2-40B4-BE49-F238E27FC236}">
                  <a16:creationId xmlns:a16="http://schemas.microsoft.com/office/drawing/2014/main" id="{66C945EC-9618-59A7-80ED-45D3348FE889}"/>
                </a:ext>
              </a:extLst>
            </p:cNvPr>
            <p:cNvCxnSpPr>
              <a:cxnSpLocks/>
              <a:stCxn id="42" idx="0"/>
            </p:cNvCxnSpPr>
            <p:nvPr/>
          </p:nvCxnSpPr>
          <p:spPr>
            <a:xfrm flipV="1">
              <a:off x="593844" y="5143383"/>
              <a:ext cx="1436363" cy="920146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Arrow Connector 45">
              <a:extLst>
                <a:ext uri="{FF2B5EF4-FFF2-40B4-BE49-F238E27FC236}">
                  <a16:creationId xmlns:a16="http://schemas.microsoft.com/office/drawing/2014/main" id="{1B94EC1A-3F8D-584C-B0F4-ABD3C0405450}"/>
                </a:ext>
              </a:extLst>
            </p:cNvPr>
            <p:cNvCxnSpPr>
              <a:cxnSpLocks/>
              <a:stCxn id="42" idx="3"/>
            </p:cNvCxnSpPr>
            <p:nvPr/>
          </p:nvCxnSpPr>
          <p:spPr>
            <a:xfrm flipV="1">
              <a:off x="852088" y="5945937"/>
              <a:ext cx="1649187" cy="240703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09180824-2F4E-31B8-FD44-8B3E494FF6B4}"/>
              </a:ext>
            </a:extLst>
          </p:cNvPr>
          <p:cNvGrpSpPr/>
          <p:nvPr/>
        </p:nvGrpSpPr>
        <p:grpSpPr>
          <a:xfrm>
            <a:off x="4147537" y="4227415"/>
            <a:ext cx="3577132" cy="1967128"/>
            <a:chOff x="6113102" y="4117277"/>
            <a:chExt cx="3577132" cy="1967128"/>
          </a:xfrm>
        </p:grpSpPr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E1060DFB-5D9B-5653-69AD-986EA4863B7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143434" y="4117277"/>
              <a:ext cx="457200" cy="4572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9AECA24B-F9BC-E52C-05F6-824855605F5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233034" y="4753138"/>
              <a:ext cx="457200" cy="4572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E025BB99-2B3F-48D2-C8ED-07F9A47FE1B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300915" y="4820093"/>
              <a:ext cx="457200" cy="4572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692D1CB5-2ACB-45FF-74EE-A53A01FD8AB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247053" y="5627205"/>
              <a:ext cx="457200" cy="4572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>
                  <a:solidFill>
                    <a:schemeClr val="tx1"/>
                  </a:solidFill>
                </a:rPr>
                <a:t>11</a:t>
              </a:r>
            </a:p>
          </p:txBody>
        </p:sp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FD3E66FC-293B-F478-6E46-B95FC57A8C18}"/>
                </a:ext>
              </a:extLst>
            </p:cNvPr>
            <p:cNvCxnSpPr>
              <a:stCxn id="23" idx="3"/>
              <a:endCxn id="25" idx="7"/>
            </p:cNvCxnSpPr>
            <p:nvPr/>
          </p:nvCxnSpPr>
          <p:spPr>
            <a:xfrm flipH="1">
              <a:off x="7691160" y="4507522"/>
              <a:ext cx="519229" cy="379526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0C3A9D41-283F-F782-56E9-600E9DF992E3}"/>
                </a:ext>
              </a:extLst>
            </p:cNvPr>
            <p:cNvCxnSpPr>
              <a:stCxn id="25" idx="5"/>
              <a:endCxn id="26" idx="1"/>
            </p:cNvCxnSpPr>
            <p:nvPr/>
          </p:nvCxnSpPr>
          <p:spPr>
            <a:xfrm>
              <a:off x="7691160" y="5210338"/>
              <a:ext cx="622848" cy="483822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3418C796-3C66-83FD-FCA1-68FE00EF30E3}"/>
                </a:ext>
              </a:extLst>
            </p:cNvPr>
            <p:cNvCxnSpPr>
              <a:stCxn id="25" idx="6"/>
              <a:endCxn id="24" idx="2"/>
            </p:cNvCxnSpPr>
            <p:nvPr/>
          </p:nvCxnSpPr>
          <p:spPr>
            <a:xfrm flipV="1">
              <a:off x="7758115" y="4981738"/>
              <a:ext cx="1474919" cy="66955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6B57CC76-EAE0-59CF-77BE-D3AE44ABD998}"/>
                </a:ext>
              </a:extLst>
            </p:cNvPr>
            <p:cNvCxnSpPr>
              <a:stCxn id="26" idx="0"/>
              <a:endCxn id="23" idx="4"/>
            </p:cNvCxnSpPr>
            <p:nvPr/>
          </p:nvCxnSpPr>
          <p:spPr>
            <a:xfrm flipH="1" flipV="1">
              <a:off x="8372034" y="4574477"/>
              <a:ext cx="103619" cy="1052728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BF85F6BB-B9B8-660A-BA72-E93390C695B7}"/>
                </a:ext>
              </a:extLst>
            </p:cNvPr>
            <p:cNvCxnSpPr>
              <a:stCxn id="26" idx="7"/>
              <a:endCxn id="24" idx="3"/>
            </p:cNvCxnSpPr>
            <p:nvPr/>
          </p:nvCxnSpPr>
          <p:spPr>
            <a:xfrm flipV="1">
              <a:off x="8637298" y="5143383"/>
              <a:ext cx="662691" cy="550777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2245D081-B682-6D86-14D6-988CAFA39B9E}"/>
                </a:ext>
              </a:extLst>
            </p:cNvPr>
            <p:cNvSpPr txBox="1"/>
            <p:nvPr/>
          </p:nvSpPr>
          <p:spPr>
            <a:xfrm>
              <a:off x="7299005" y="4173386"/>
              <a:ext cx="880369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>
                  <a:solidFill>
                    <a:srgbClr val="FF0000"/>
                  </a:solidFill>
                </a:rPr>
                <a:t>predecessor</a:t>
              </a: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76906916-93D5-886D-F29C-08FD4E7F4360}"/>
                </a:ext>
              </a:extLst>
            </p:cNvPr>
            <p:cNvSpPr txBox="1"/>
            <p:nvPr/>
          </p:nvSpPr>
          <p:spPr>
            <a:xfrm>
              <a:off x="6113102" y="4876673"/>
              <a:ext cx="119936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000">
                  <a:solidFill>
                    <a:srgbClr val="FF0000"/>
                  </a:solidFill>
                </a:rPr>
                <a:t>Successor</a:t>
              </a:r>
              <a:br>
                <a:rPr lang="en-US" sz="1000">
                  <a:solidFill>
                    <a:srgbClr val="FF0000"/>
                  </a:solidFill>
                </a:rPr>
              </a:br>
              <a:r>
                <a:rPr lang="en-US" sz="1000">
                  <a:solidFill>
                    <a:srgbClr val="FF0000"/>
                  </a:solidFill>
                </a:rPr>
                <a:t>(reachable from 1)</a:t>
              </a:r>
            </a:p>
          </p:txBody>
        </p:sp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31A78FBF-9FA7-B3C2-5511-093B2F085D90}"/>
              </a:ext>
            </a:extLst>
          </p:cNvPr>
          <p:cNvGrpSpPr/>
          <p:nvPr/>
        </p:nvGrpSpPr>
        <p:grpSpPr>
          <a:xfrm>
            <a:off x="8698099" y="4283524"/>
            <a:ext cx="2828023" cy="1756190"/>
            <a:chOff x="8966814" y="3961087"/>
            <a:chExt cx="2828023" cy="1756190"/>
          </a:xfrm>
        </p:grpSpPr>
        <p:sp>
          <p:nvSpPr>
            <p:cNvPr id="2" name="Oval 1">
              <a:extLst>
                <a:ext uri="{FF2B5EF4-FFF2-40B4-BE49-F238E27FC236}">
                  <a16:creationId xmlns:a16="http://schemas.microsoft.com/office/drawing/2014/main" id="{B86457EB-F8E0-AF06-6270-61C5534A887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966814" y="4989703"/>
              <a:ext cx="457200" cy="4572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>
                  <a:solidFill>
                    <a:schemeClr val="tx1"/>
                  </a:solidFill>
                </a:rPr>
                <a:t>A</a:t>
              </a: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C29C36C5-9B9B-D29D-599B-B96FC7D30CF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525000" y="4155171"/>
              <a:ext cx="457200" cy="4572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>
                  <a:solidFill>
                    <a:schemeClr val="tx1"/>
                  </a:solidFill>
                </a:rPr>
                <a:t>B</a:t>
              </a:r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97F6DEB0-4EB9-6C96-8368-50EB8EBD50D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0538466" y="3961087"/>
              <a:ext cx="457200" cy="4572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>
                  <a:solidFill>
                    <a:schemeClr val="tx1"/>
                  </a:solidFill>
                </a:rPr>
                <a:t>C</a:t>
              </a:r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1152B70F-3117-C696-9C86-256DAC38B3C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337637" y="4456015"/>
              <a:ext cx="457200" cy="4572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>
                  <a:solidFill>
                    <a:schemeClr val="tx1"/>
                  </a:solidFill>
                </a:rPr>
                <a:t>D</a:t>
              </a:r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81B4F69D-0017-46D8-8518-E823F3EC797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0309866" y="5260077"/>
              <a:ext cx="457200" cy="4572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>
                  <a:solidFill>
                    <a:schemeClr val="tx1"/>
                  </a:solidFill>
                </a:rPr>
                <a:t>E</a:t>
              </a:r>
            </a:p>
          </p:txBody>
        </p: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A0EF9A25-A70D-7B41-7652-55F69E8BCF92}"/>
                </a:ext>
              </a:extLst>
            </p:cNvPr>
            <p:cNvCxnSpPr>
              <a:stCxn id="2" idx="0"/>
              <a:endCxn id="10" idx="3"/>
            </p:cNvCxnSpPr>
            <p:nvPr/>
          </p:nvCxnSpPr>
          <p:spPr>
            <a:xfrm flipV="1">
              <a:off x="9195414" y="4545416"/>
              <a:ext cx="396541" cy="444287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FA299F1E-0488-58F9-5186-6034416333A2}"/>
                </a:ext>
              </a:extLst>
            </p:cNvPr>
            <p:cNvCxnSpPr>
              <a:stCxn id="10" idx="6"/>
              <a:endCxn id="12" idx="2"/>
            </p:cNvCxnSpPr>
            <p:nvPr/>
          </p:nvCxnSpPr>
          <p:spPr>
            <a:xfrm flipV="1">
              <a:off x="9982200" y="4189687"/>
              <a:ext cx="556266" cy="194084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34AEB4D8-64FF-AC54-C017-B4FBCFEB7834}"/>
                </a:ext>
              </a:extLst>
            </p:cNvPr>
            <p:cNvCxnSpPr>
              <a:stCxn id="12" idx="6"/>
              <a:endCxn id="13" idx="1"/>
            </p:cNvCxnSpPr>
            <p:nvPr/>
          </p:nvCxnSpPr>
          <p:spPr>
            <a:xfrm>
              <a:off x="10995666" y="4189687"/>
              <a:ext cx="408926" cy="333283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Arrow Connector 37">
              <a:extLst>
                <a:ext uri="{FF2B5EF4-FFF2-40B4-BE49-F238E27FC236}">
                  <a16:creationId xmlns:a16="http://schemas.microsoft.com/office/drawing/2014/main" id="{F6F9CBE6-B6F8-E18F-67D0-8036A0B931B0}"/>
                </a:ext>
              </a:extLst>
            </p:cNvPr>
            <p:cNvCxnSpPr>
              <a:stCxn id="2" idx="6"/>
              <a:endCxn id="15" idx="2"/>
            </p:cNvCxnSpPr>
            <p:nvPr/>
          </p:nvCxnSpPr>
          <p:spPr>
            <a:xfrm>
              <a:off x="9424014" y="5218303"/>
              <a:ext cx="885852" cy="270374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Arrow Connector 42">
              <a:extLst>
                <a:ext uri="{FF2B5EF4-FFF2-40B4-BE49-F238E27FC236}">
                  <a16:creationId xmlns:a16="http://schemas.microsoft.com/office/drawing/2014/main" id="{1A12503B-948D-76AA-4271-95CAFB7ADED5}"/>
                </a:ext>
              </a:extLst>
            </p:cNvPr>
            <p:cNvCxnSpPr>
              <a:stCxn id="15" idx="6"/>
              <a:endCxn id="13" idx="3"/>
            </p:cNvCxnSpPr>
            <p:nvPr/>
          </p:nvCxnSpPr>
          <p:spPr>
            <a:xfrm flipV="1">
              <a:off x="10767066" y="4846260"/>
              <a:ext cx="637526" cy="642417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Arrow Connector 46">
              <a:extLst>
                <a:ext uri="{FF2B5EF4-FFF2-40B4-BE49-F238E27FC236}">
                  <a16:creationId xmlns:a16="http://schemas.microsoft.com/office/drawing/2014/main" id="{33363C19-530D-4286-3E44-80B5D6581A5D}"/>
                </a:ext>
              </a:extLst>
            </p:cNvPr>
            <p:cNvCxnSpPr>
              <a:stCxn id="15" idx="0"/>
              <a:endCxn id="12" idx="4"/>
            </p:cNvCxnSpPr>
            <p:nvPr/>
          </p:nvCxnSpPr>
          <p:spPr>
            <a:xfrm flipV="1">
              <a:off x="10538466" y="4418287"/>
              <a:ext cx="228600" cy="84179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84ED3EF0-C55A-D6F1-D9DC-F6C4087D2E0F}"/>
                </a:ext>
              </a:extLst>
            </p:cNvPr>
            <p:cNvSpPr txBox="1"/>
            <p:nvPr/>
          </p:nvSpPr>
          <p:spPr>
            <a:xfrm>
              <a:off x="9195414" y="4612371"/>
              <a:ext cx="245580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900"/>
                <a:t>3</a:t>
              </a: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0B1E706E-1A00-0A8C-D522-A0807B2D81FF}"/>
                </a:ext>
              </a:extLst>
            </p:cNvPr>
            <p:cNvSpPr txBox="1"/>
            <p:nvPr/>
          </p:nvSpPr>
          <p:spPr>
            <a:xfrm>
              <a:off x="9652614" y="5345393"/>
              <a:ext cx="245580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900"/>
                <a:t>5</a:t>
              </a: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C4A7827B-C8EC-AF6D-BDC9-D2321236778D}"/>
                </a:ext>
              </a:extLst>
            </p:cNvPr>
            <p:cNvSpPr txBox="1"/>
            <p:nvPr/>
          </p:nvSpPr>
          <p:spPr>
            <a:xfrm>
              <a:off x="10063873" y="4069500"/>
              <a:ext cx="245580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900"/>
                <a:t>2</a:t>
              </a: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7B67A5A9-5324-61A3-04DF-B38757C80294}"/>
                </a:ext>
              </a:extLst>
            </p:cNvPr>
            <p:cNvSpPr txBox="1"/>
            <p:nvPr/>
          </p:nvSpPr>
          <p:spPr>
            <a:xfrm>
              <a:off x="10387505" y="4812939"/>
              <a:ext cx="245580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900"/>
                <a:t>4</a:t>
              </a: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DF28E45A-D2C6-F9D2-0E80-09FAC7C03C59}"/>
                </a:ext>
              </a:extLst>
            </p:cNvPr>
            <p:cNvSpPr txBox="1"/>
            <p:nvPr/>
          </p:nvSpPr>
          <p:spPr>
            <a:xfrm>
              <a:off x="11101476" y="4121334"/>
              <a:ext cx="245580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900"/>
                <a:t>3</a:t>
              </a: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1BB6015B-2A4C-2110-9FDB-4264FAC11A7F}"/>
                </a:ext>
              </a:extLst>
            </p:cNvPr>
            <p:cNvSpPr txBox="1"/>
            <p:nvPr/>
          </p:nvSpPr>
          <p:spPr>
            <a:xfrm>
              <a:off x="11099999" y="5095563"/>
              <a:ext cx="245580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900"/>
                <a:t>2</a:t>
              </a:r>
            </a:p>
          </p:txBody>
        </p:sp>
        <p:cxnSp>
          <p:nvCxnSpPr>
            <p:cNvPr id="59" name="Straight Arrow Connector 58">
              <a:extLst>
                <a:ext uri="{FF2B5EF4-FFF2-40B4-BE49-F238E27FC236}">
                  <a16:creationId xmlns:a16="http://schemas.microsoft.com/office/drawing/2014/main" id="{01E69213-64C4-C5E2-7EA1-BF18B352DF9D}"/>
                </a:ext>
              </a:extLst>
            </p:cNvPr>
            <p:cNvCxnSpPr>
              <a:stCxn id="10" idx="5"/>
              <a:endCxn id="15" idx="1"/>
            </p:cNvCxnSpPr>
            <p:nvPr/>
          </p:nvCxnSpPr>
          <p:spPr>
            <a:xfrm>
              <a:off x="9915245" y="4545416"/>
              <a:ext cx="461576" cy="781616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7789F064-1C92-0A99-D151-5C60A1B20CC7}"/>
                </a:ext>
              </a:extLst>
            </p:cNvPr>
            <p:cNvSpPr txBox="1"/>
            <p:nvPr/>
          </p:nvSpPr>
          <p:spPr>
            <a:xfrm>
              <a:off x="9932225" y="4812939"/>
              <a:ext cx="245580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900"/>
                <a:t>8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7489224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42EFD6-8B2B-035D-7D71-A5BF92982E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29DD1A9-7F00-F3BE-635F-CBA020E3E4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Programming II - Graphs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AAFC89-255C-AB5B-B9A9-D97332DE4C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81C8F-CB39-4E4D-98E4-8C3FEDF75126}" type="slidenum">
              <a:rPr lang="en-US" smtClean="0"/>
              <a:t>3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A9469D5-10B4-C6C9-57F2-214EA8080DB2}"/>
              </a:ext>
            </a:extLst>
          </p:cNvPr>
          <p:cNvSpPr txBox="1"/>
          <p:nvPr/>
        </p:nvSpPr>
        <p:spPr>
          <a:xfrm>
            <a:off x="535709" y="206293"/>
            <a:ext cx="401347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Graph – how we implement it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4FAA473-BD6E-CAB6-4FD2-425ABA0FE2B3}"/>
              </a:ext>
            </a:extLst>
          </p:cNvPr>
          <p:cNvSpPr txBox="1"/>
          <p:nvPr/>
        </p:nvSpPr>
        <p:spPr>
          <a:xfrm>
            <a:off x="535709" y="932873"/>
            <a:ext cx="11291856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Three possible ways:</a:t>
            </a:r>
          </a:p>
          <a:p>
            <a:endParaRPr lang="en-US" dirty="0"/>
          </a:p>
          <a:p>
            <a:pPr marL="285750" indent="-285750">
              <a:buFontTx/>
              <a:buChar char="-"/>
            </a:pPr>
            <a:r>
              <a:rPr lang="en-US" dirty="0"/>
              <a:t>Adjacency list: each vertex is an object, and it stores a list of adjacent vertices and optional data.</a:t>
            </a:r>
          </a:p>
          <a:p>
            <a:pPr marL="742950" lvl="1" indent="-285750">
              <a:buFontTx/>
              <a:buChar char="-"/>
            </a:pPr>
            <a:r>
              <a:rPr lang="en-US" dirty="0"/>
              <a:t>variant: edges are also objects, so each vertex stores its incident edges, and each edge stores</a:t>
            </a:r>
            <a:br>
              <a:rPr lang="en-US" dirty="0"/>
            </a:br>
            <a:r>
              <a:rPr lang="en-US" dirty="0"/>
              <a:t>its incident vertices.</a:t>
            </a:r>
          </a:p>
          <a:p>
            <a:pPr marL="285750" indent="-285750">
              <a:buFontTx/>
              <a:buChar char="-"/>
            </a:pPr>
            <a:endParaRPr lang="en-US" dirty="0"/>
          </a:p>
          <a:p>
            <a:pPr marL="285750" indent="-285750">
              <a:buFontTx/>
              <a:buChar char="-"/>
            </a:pPr>
            <a:r>
              <a:rPr lang="en-US" dirty="0"/>
              <a:t>Adjacency matrix: a two-dimensional matrix, where the rows are the source vertices and the columns</a:t>
            </a:r>
            <a:br>
              <a:rPr lang="en-US" dirty="0"/>
            </a:br>
            <a:r>
              <a:rPr lang="en-US" dirty="0"/>
              <a:t>represent destination vertices.</a:t>
            </a:r>
          </a:p>
          <a:p>
            <a:pPr marL="285750" indent="-285750">
              <a:buFontTx/>
              <a:buChar char="-"/>
            </a:pPr>
            <a:endParaRPr lang="en-US" dirty="0"/>
          </a:p>
          <a:p>
            <a:pPr marL="285750" indent="-285750">
              <a:buFontTx/>
              <a:buChar char="-"/>
            </a:pPr>
            <a:r>
              <a:rPr lang="en-US" dirty="0"/>
              <a:t>Incidence matrix: a two-dimensional matrix, where the rows are the vertices and the columns</a:t>
            </a:r>
            <a:br>
              <a:rPr lang="en-US" dirty="0"/>
            </a:br>
            <a:r>
              <a:rPr lang="en-US" dirty="0"/>
              <a:t>represent the edges.</a:t>
            </a:r>
          </a:p>
          <a:p>
            <a:pPr marL="285750" indent="-285750">
              <a:buFontTx/>
              <a:buChar char="-"/>
            </a:pPr>
            <a:endParaRPr lang="en-US" dirty="0"/>
          </a:p>
          <a:p>
            <a:r>
              <a:rPr lang="en-US" dirty="0"/>
              <a:t>Which is best?</a:t>
            </a:r>
          </a:p>
          <a:p>
            <a:endParaRPr lang="en-US" dirty="0"/>
          </a:p>
          <a:p>
            <a:r>
              <a:rPr lang="en-US" dirty="0"/>
              <a:t>It depends on the operation and on the graph density. A graph is </a:t>
            </a:r>
            <a:r>
              <a:rPr lang="en-US" i="1" dirty="0"/>
              <a:t>dense</a:t>
            </a:r>
            <a:r>
              <a:rPr lang="en-US" dirty="0"/>
              <a:t> when the number of edges is closed to the maximal number of edges, i.e. each pair of nodes is connected by one edge.</a:t>
            </a:r>
          </a:p>
          <a:p>
            <a:endParaRPr lang="en-US" dirty="0"/>
          </a:p>
          <a:p>
            <a:r>
              <a:rPr lang="en-US" dirty="0"/>
              <a:t>Adjacency list is preferred for sparse (not dense) graphs, where matrices are more suitable for dense graphs.</a:t>
            </a:r>
          </a:p>
        </p:txBody>
      </p:sp>
    </p:spTree>
    <p:extLst>
      <p:ext uri="{BB962C8B-B14F-4D97-AF65-F5344CB8AC3E}">
        <p14:creationId xmlns:p14="http://schemas.microsoft.com/office/powerpoint/2010/main" val="7423914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5AC429-964B-8199-E897-9B05267BD3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E985D0B-6B30-D71B-024F-F9726E4622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Programming II - Graphs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43A937-9E67-1DD4-8D55-1B2EDBDCBC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81C8F-CB39-4E4D-98E4-8C3FEDF75126}" type="slidenum">
              <a:rPr lang="en-US" smtClean="0"/>
              <a:t>4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3AB2294-C6FA-DEE0-582C-E09F3116EC84}"/>
              </a:ext>
            </a:extLst>
          </p:cNvPr>
          <p:cNvSpPr txBox="1"/>
          <p:nvPr/>
        </p:nvSpPr>
        <p:spPr>
          <a:xfrm>
            <a:off x="535708" y="268696"/>
            <a:ext cx="459311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Undirected graph – Adjacency list</a:t>
            </a:r>
          </a:p>
        </p:txBody>
      </p:sp>
      <p:grpSp>
        <p:nvGrpSpPr>
          <p:cNvPr id="50" name="Group 49">
            <a:extLst>
              <a:ext uri="{FF2B5EF4-FFF2-40B4-BE49-F238E27FC236}">
                <a16:creationId xmlns:a16="http://schemas.microsoft.com/office/drawing/2014/main" id="{38946D50-CDE9-11E9-53E5-8ECFA3786C6D}"/>
              </a:ext>
            </a:extLst>
          </p:cNvPr>
          <p:cNvGrpSpPr/>
          <p:nvPr/>
        </p:nvGrpSpPr>
        <p:grpSpPr>
          <a:xfrm>
            <a:off x="1747982" y="2302841"/>
            <a:ext cx="1563985" cy="2080572"/>
            <a:chOff x="7275215" y="809812"/>
            <a:chExt cx="1563985" cy="2080572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57EA9EF5-7252-E628-0234-AD50DEC6FEC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275215" y="1569187"/>
              <a:ext cx="457200" cy="4572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E12A577A-6D40-3169-6A20-7B7B61EFD99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275215" y="2433184"/>
              <a:ext cx="457200" cy="4572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52EC01AA-D890-0481-0133-78D2685C375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382000" y="1584356"/>
              <a:ext cx="457200" cy="4572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F6520DDA-4A64-5349-AB3A-8D241151407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924800" y="809812"/>
              <a:ext cx="457200" cy="4572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>
                  <a:solidFill>
                    <a:schemeClr val="tx1"/>
                  </a:solidFill>
                </a:rPr>
                <a:t>3</a:t>
              </a:r>
            </a:p>
          </p:txBody>
        </p: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F42D68E5-AAB1-3009-6B98-60E7422C1473}"/>
                </a:ext>
              </a:extLst>
            </p:cNvPr>
            <p:cNvCxnSpPr>
              <a:stCxn id="5" idx="7"/>
              <a:endCxn id="10" idx="3"/>
            </p:cNvCxnSpPr>
            <p:nvPr/>
          </p:nvCxnSpPr>
          <p:spPr>
            <a:xfrm flipV="1">
              <a:off x="7665460" y="1200057"/>
              <a:ext cx="326295" cy="436085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1080027A-B11E-1641-FD4E-181A561A850F}"/>
                </a:ext>
              </a:extLst>
            </p:cNvPr>
            <p:cNvCxnSpPr>
              <a:stCxn id="5" idx="6"/>
              <a:endCxn id="9" idx="2"/>
            </p:cNvCxnSpPr>
            <p:nvPr/>
          </p:nvCxnSpPr>
          <p:spPr>
            <a:xfrm>
              <a:off x="7732415" y="1797787"/>
              <a:ext cx="649585" cy="15169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C5C88F2E-634B-CC02-C71D-6F50E6495669}"/>
                </a:ext>
              </a:extLst>
            </p:cNvPr>
            <p:cNvCxnSpPr>
              <a:stCxn id="5" idx="4"/>
              <a:endCxn id="8" idx="0"/>
            </p:cNvCxnSpPr>
            <p:nvPr/>
          </p:nvCxnSpPr>
          <p:spPr>
            <a:xfrm>
              <a:off x="7503815" y="2026387"/>
              <a:ext cx="0" cy="406797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C1A4C892-6D6D-9AE9-B7C5-3988F389A068}"/>
                </a:ext>
              </a:extLst>
            </p:cNvPr>
            <p:cNvCxnSpPr>
              <a:stCxn id="8" idx="7"/>
              <a:endCxn id="9" idx="3"/>
            </p:cNvCxnSpPr>
            <p:nvPr/>
          </p:nvCxnSpPr>
          <p:spPr>
            <a:xfrm flipV="1">
              <a:off x="7665460" y="1974601"/>
              <a:ext cx="783495" cy="52553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459347DD-BA0A-58E7-1673-0225B11002C5}"/>
              </a:ext>
            </a:extLst>
          </p:cNvPr>
          <p:cNvGrpSpPr/>
          <p:nvPr/>
        </p:nvGrpSpPr>
        <p:grpSpPr>
          <a:xfrm>
            <a:off x="7060421" y="2302841"/>
            <a:ext cx="3217413" cy="2653090"/>
            <a:chOff x="7005051" y="3423727"/>
            <a:chExt cx="3217413" cy="2653090"/>
          </a:xfrm>
        </p:grpSpPr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7122FFBB-0C94-B014-0725-EE599722A091}"/>
                </a:ext>
              </a:extLst>
            </p:cNvPr>
            <p:cNvSpPr/>
            <p:nvPr/>
          </p:nvSpPr>
          <p:spPr>
            <a:xfrm>
              <a:off x="7005051" y="3423727"/>
              <a:ext cx="457200" cy="2653090"/>
            </a:xfrm>
            <a:prstGeom prst="rect">
              <a:avLst/>
            </a:prstGeom>
            <a:solidFill>
              <a:srgbClr val="92D050">
                <a:alpha val="22262"/>
              </a:srgb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85864A0F-24ED-5823-738D-0DF0F2806F6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010400" y="3429000"/>
              <a:ext cx="457200" cy="45720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2B59784C-E1E7-A878-7D06-16BD3DE3F5E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010400" y="4155942"/>
              <a:ext cx="457200" cy="45720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877D99FE-ABA6-1F5D-1281-830836D3EED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005051" y="4882884"/>
              <a:ext cx="457200" cy="45720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C3F5376B-7C26-981D-C2A7-DE3620C9040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005051" y="5619617"/>
              <a:ext cx="457200" cy="45720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093DF166-19F0-2C48-F72D-C8690C7B000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928688" y="3423727"/>
              <a:ext cx="457200" cy="45720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27D0FF8B-845A-6993-FB23-1F585C33C5F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846976" y="3423727"/>
              <a:ext cx="457200" cy="45720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441B55B0-65C2-17C1-0274-20A1598E4AB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765264" y="3423727"/>
              <a:ext cx="457200" cy="45720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547B3181-4FC7-A647-C7A3-E29B70507EC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924800" y="4155942"/>
              <a:ext cx="457200" cy="45720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F6538F45-BEF1-0511-D3FF-22A9DC9F634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846976" y="4155520"/>
              <a:ext cx="457200" cy="45720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5CD91B87-52FA-9844-C1B0-1064CB1631B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924800" y="4882884"/>
              <a:ext cx="457200" cy="45720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CAE9948E-544C-CC69-E261-2CF6C49B6B4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846976" y="4890039"/>
              <a:ext cx="457200" cy="45720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ABEA9F9A-397A-E765-95DC-6405BB62523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924800" y="5619617"/>
              <a:ext cx="457200" cy="45720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chemeClr val="tx1"/>
                  </a:solidFill>
                </a:rPr>
                <a:t>0</a:t>
              </a:r>
            </a:p>
          </p:txBody>
        </p: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21508FA4-FA65-780A-7A02-598ABD97722A}"/>
                </a:ext>
              </a:extLst>
            </p:cNvPr>
            <p:cNvCxnSpPr>
              <a:stCxn id="20" idx="3"/>
              <a:endCxn id="24" idx="1"/>
            </p:cNvCxnSpPr>
            <p:nvPr/>
          </p:nvCxnSpPr>
          <p:spPr>
            <a:xfrm flipV="1">
              <a:off x="7467600" y="3652327"/>
              <a:ext cx="461088" cy="5273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A793F732-7CA7-CC20-B783-BC219CDF009A}"/>
                </a:ext>
              </a:extLst>
            </p:cNvPr>
            <p:cNvCxnSpPr>
              <a:stCxn id="24" idx="3"/>
              <a:endCxn id="25" idx="1"/>
            </p:cNvCxnSpPr>
            <p:nvPr/>
          </p:nvCxnSpPr>
          <p:spPr>
            <a:xfrm>
              <a:off x="8385888" y="3652327"/>
              <a:ext cx="461088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id="{D3A7F7D3-DD81-BF58-5895-D0A970DD000E}"/>
                </a:ext>
              </a:extLst>
            </p:cNvPr>
            <p:cNvCxnSpPr>
              <a:stCxn id="25" idx="3"/>
              <a:endCxn id="26" idx="1"/>
            </p:cNvCxnSpPr>
            <p:nvPr/>
          </p:nvCxnSpPr>
          <p:spPr>
            <a:xfrm>
              <a:off x="9304176" y="3652327"/>
              <a:ext cx="461088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Arrow Connector 38">
              <a:extLst>
                <a:ext uri="{FF2B5EF4-FFF2-40B4-BE49-F238E27FC236}">
                  <a16:creationId xmlns:a16="http://schemas.microsoft.com/office/drawing/2014/main" id="{E68A16D5-DD64-46B6-C6DA-583991BC88ED}"/>
                </a:ext>
              </a:extLst>
            </p:cNvPr>
            <p:cNvCxnSpPr>
              <a:stCxn id="21" idx="3"/>
              <a:endCxn id="27" idx="1"/>
            </p:cNvCxnSpPr>
            <p:nvPr/>
          </p:nvCxnSpPr>
          <p:spPr>
            <a:xfrm>
              <a:off x="7467600" y="4384542"/>
              <a:ext cx="45720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Arrow Connector 40">
              <a:extLst>
                <a:ext uri="{FF2B5EF4-FFF2-40B4-BE49-F238E27FC236}">
                  <a16:creationId xmlns:a16="http://schemas.microsoft.com/office/drawing/2014/main" id="{070A0DA4-C434-D55B-01DC-6F9A328482EB}"/>
                </a:ext>
              </a:extLst>
            </p:cNvPr>
            <p:cNvCxnSpPr>
              <a:stCxn id="27" idx="3"/>
              <a:endCxn id="28" idx="1"/>
            </p:cNvCxnSpPr>
            <p:nvPr/>
          </p:nvCxnSpPr>
          <p:spPr>
            <a:xfrm flipV="1">
              <a:off x="8382000" y="4384120"/>
              <a:ext cx="464976" cy="422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Arrow Connector 42">
              <a:extLst>
                <a:ext uri="{FF2B5EF4-FFF2-40B4-BE49-F238E27FC236}">
                  <a16:creationId xmlns:a16="http://schemas.microsoft.com/office/drawing/2014/main" id="{4AFA274B-60DC-1375-FB8F-EADAEDB4605F}"/>
                </a:ext>
              </a:extLst>
            </p:cNvPr>
            <p:cNvCxnSpPr>
              <a:stCxn id="22" idx="3"/>
              <a:endCxn id="29" idx="1"/>
            </p:cNvCxnSpPr>
            <p:nvPr/>
          </p:nvCxnSpPr>
          <p:spPr>
            <a:xfrm>
              <a:off x="7462251" y="5111484"/>
              <a:ext cx="462549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Arrow Connector 44">
              <a:extLst>
                <a:ext uri="{FF2B5EF4-FFF2-40B4-BE49-F238E27FC236}">
                  <a16:creationId xmlns:a16="http://schemas.microsoft.com/office/drawing/2014/main" id="{20C079F6-92EA-A512-77F8-FD88C94C1370}"/>
                </a:ext>
              </a:extLst>
            </p:cNvPr>
            <p:cNvCxnSpPr>
              <a:stCxn id="29" idx="3"/>
              <a:endCxn id="30" idx="1"/>
            </p:cNvCxnSpPr>
            <p:nvPr/>
          </p:nvCxnSpPr>
          <p:spPr>
            <a:xfrm>
              <a:off x="8382000" y="5111484"/>
              <a:ext cx="464976" cy="7155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Arrow Connector 46">
              <a:extLst>
                <a:ext uri="{FF2B5EF4-FFF2-40B4-BE49-F238E27FC236}">
                  <a16:creationId xmlns:a16="http://schemas.microsoft.com/office/drawing/2014/main" id="{9A45FE4C-1659-A0FF-8524-E5B5B806F49B}"/>
                </a:ext>
              </a:extLst>
            </p:cNvPr>
            <p:cNvCxnSpPr>
              <a:stCxn id="23" idx="3"/>
              <a:endCxn id="31" idx="1"/>
            </p:cNvCxnSpPr>
            <p:nvPr/>
          </p:nvCxnSpPr>
          <p:spPr>
            <a:xfrm>
              <a:off x="7462251" y="5848217"/>
              <a:ext cx="462549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6" name="TextBox 55">
            <a:extLst>
              <a:ext uri="{FF2B5EF4-FFF2-40B4-BE49-F238E27FC236}">
                <a16:creationId xmlns:a16="http://schemas.microsoft.com/office/drawing/2014/main" id="{13408666-546D-7D73-4C95-534EC6FFB43F}"/>
              </a:ext>
            </a:extLst>
          </p:cNvPr>
          <p:cNvSpPr txBox="1"/>
          <p:nvPr/>
        </p:nvSpPr>
        <p:spPr>
          <a:xfrm>
            <a:off x="9401637" y="4780351"/>
            <a:ext cx="1789016" cy="11695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We store only</a:t>
            </a:r>
          </a:p>
          <a:p>
            <a:r>
              <a:rPr lang="en-US" sz="1400" dirty="0"/>
              <a:t>the existing edges =&gt;</a:t>
            </a:r>
          </a:p>
          <a:p>
            <a:endParaRPr lang="en-US" sz="1400" dirty="0"/>
          </a:p>
          <a:p>
            <a:r>
              <a:rPr lang="en-US" sz="1400" dirty="0"/>
              <a:t>can save space with</a:t>
            </a:r>
            <a:br>
              <a:rPr lang="en-US" sz="1400" dirty="0"/>
            </a:br>
            <a:r>
              <a:rPr lang="en-US" sz="1400" dirty="0"/>
              <a:t>sparse graphs!!</a:t>
            </a:r>
          </a:p>
        </p:txBody>
      </p: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BC0BBD83-7AEA-F9A9-DE75-FAB1E494EB17}"/>
              </a:ext>
            </a:extLst>
          </p:cNvPr>
          <p:cNvCxnSpPr>
            <a:cxnSpLocks/>
          </p:cNvCxnSpPr>
          <p:nvPr/>
        </p:nvCxnSpPr>
        <p:spPr>
          <a:xfrm flipV="1">
            <a:off x="6269598" y="3815059"/>
            <a:ext cx="605767" cy="35107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F7AB4702-738B-2734-4D02-302A95196C3D}"/>
              </a:ext>
            </a:extLst>
          </p:cNvPr>
          <p:cNvSpPr txBox="1"/>
          <p:nvPr/>
        </p:nvSpPr>
        <p:spPr>
          <a:xfrm>
            <a:off x="5834249" y="4226353"/>
            <a:ext cx="1133644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we can easily</a:t>
            </a:r>
          </a:p>
          <a:p>
            <a:r>
              <a:rPr lang="en-US" sz="1000" dirty="0"/>
              <a:t>find all </a:t>
            </a:r>
            <a:r>
              <a:rPr lang="en-US" sz="1000" dirty="0" err="1"/>
              <a:t>adjacents</a:t>
            </a:r>
            <a:br>
              <a:rPr lang="en-US" sz="1000" dirty="0"/>
            </a:br>
            <a:r>
              <a:rPr lang="en-US" sz="1000" dirty="0"/>
              <a:t>of a node</a:t>
            </a:r>
          </a:p>
        </p:txBody>
      </p:sp>
      <p:sp>
        <p:nvSpPr>
          <p:cNvPr id="65" name="Down Arrow 64">
            <a:extLst>
              <a:ext uri="{FF2B5EF4-FFF2-40B4-BE49-F238E27FC236}">
                <a16:creationId xmlns:a16="http://schemas.microsoft.com/office/drawing/2014/main" id="{E2D6D19A-50D4-FBAF-F7C0-2A161267F24E}"/>
              </a:ext>
            </a:extLst>
          </p:cNvPr>
          <p:cNvSpPr/>
          <p:nvPr/>
        </p:nvSpPr>
        <p:spPr>
          <a:xfrm rot="16200000">
            <a:off x="5215144" y="2939364"/>
            <a:ext cx="275911" cy="718071"/>
          </a:xfrm>
          <a:prstGeom prst="downArrow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11541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" grpId="0"/>
      <p:bldP spid="59" grpId="0"/>
      <p:bldP spid="65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ECDA68-305F-A89C-76D4-C4E9EA042B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7249D89-01EF-CC0E-C53C-755527E47C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Programming II - Searching, sorting and merging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355188B-D3DB-0D78-41AF-9336886E71B1}"/>
              </a:ext>
            </a:extLst>
          </p:cNvPr>
          <p:cNvSpPr txBox="1"/>
          <p:nvPr/>
        </p:nvSpPr>
        <p:spPr>
          <a:xfrm>
            <a:off x="3799441" y="3013501"/>
            <a:ext cx="459311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/>
              <a:t>Undirected graph – Adjacency list</a:t>
            </a:r>
            <a:br>
              <a:rPr lang="en-US" sz="2400" dirty="0"/>
            </a:br>
            <a:r>
              <a:rPr lang="en-US" sz="2400" dirty="0"/>
              <a:t>Implementation</a:t>
            </a:r>
          </a:p>
        </p:txBody>
      </p:sp>
    </p:spTree>
    <p:extLst>
      <p:ext uri="{BB962C8B-B14F-4D97-AF65-F5344CB8AC3E}">
        <p14:creationId xmlns:p14="http://schemas.microsoft.com/office/powerpoint/2010/main" val="32912659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466E3E-5940-9369-C030-2123E3F0BE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475C6D9-12AE-26C5-1C43-D4B0DD6348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Programming II - Graphs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C82A23-97B1-E209-FB64-F0E0513ABE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81C8F-CB39-4E4D-98E4-8C3FEDF75126}" type="slidenum">
              <a:rPr lang="en-US" smtClean="0"/>
              <a:t>6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D42A95E-178A-93E6-8C9F-CB80A1E5137F}"/>
              </a:ext>
            </a:extLst>
          </p:cNvPr>
          <p:cNvSpPr txBox="1"/>
          <p:nvPr/>
        </p:nvSpPr>
        <p:spPr>
          <a:xfrm>
            <a:off x="535709" y="200483"/>
            <a:ext cx="38177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Undirected graph – Adjacency matrix</a:t>
            </a:r>
          </a:p>
        </p:txBody>
      </p:sp>
      <p:grpSp>
        <p:nvGrpSpPr>
          <p:cNvPr id="50" name="Group 49">
            <a:extLst>
              <a:ext uri="{FF2B5EF4-FFF2-40B4-BE49-F238E27FC236}">
                <a16:creationId xmlns:a16="http://schemas.microsoft.com/office/drawing/2014/main" id="{A99A70AF-361B-07CB-077A-B887C29151C9}"/>
              </a:ext>
            </a:extLst>
          </p:cNvPr>
          <p:cNvGrpSpPr/>
          <p:nvPr/>
        </p:nvGrpSpPr>
        <p:grpSpPr>
          <a:xfrm>
            <a:off x="1715501" y="2090841"/>
            <a:ext cx="1563985" cy="2080572"/>
            <a:chOff x="7275215" y="809812"/>
            <a:chExt cx="1563985" cy="2080572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ED270147-EB4D-94B5-0B12-210AAC08C03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275215" y="1569187"/>
              <a:ext cx="457200" cy="4572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E5CEE952-84B8-8870-8C49-2C0952E8CD7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275215" y="2433184"/>
              <a:ext cx="457200" cy="4572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51A1AEB8-737D-7056-F0F7-35DAF9E8A47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382000" y="1584356"/>
              <a:ext cx="457200" cy="4572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2BC99C90-B12F-FF95-221D-D19C2757910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924800" y="809812"/>
              <a:ext cx="457200" cy="4572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>
                  <a:solidFill>
                    <a:schemeClr val="tx1"/>
                  </a:solidFill>
                </a:rPr>
                <a:t>3</a:t>
              </a:r>
            </a:p>
          </p:txBody>
        </p: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E64DC6F6-B2CE-19EC-E97E-5FEBCDC24D50}"/>
                </a:ext>
              </a:extLst>
            </p:cNvPr>
            <p:cNvCxnSpPr>
              <a:stCxn id="5" idx="7"/>
              <a:endCxn id="10" idx="3"/>
            </p:cNvCxnSpPr>
            <p:nvPr/>
          </p:nvCxnSpPr>
          <p:spPr>
            <a:xfrm flipV="1">
              <a:off x="7665460" y="1200057"/>
              <a:ext cx="326295" cy="436085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8DFEABDA-864A-6E82-570F-BBD77AE803C2}"/>
                </a:ext>
              </a:extLst>
            </p:cNvPr>
            <p:cNvCxnSpPr>
              <a:stCxn id="5" idx="6"/>
              <a:endCxn id="9" idx="2"/>
            </p:cNvCxnSpPr>
            <p:nvPr/>
          </p:nvCxnSpPr>
          <p:spPr>
            <a:xfrm>
              <a:off x="7732415" y="1797787"/>
              <a:ext cx="649585" cy="15169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FA55BB27-6461-C8D1-C87F-E878E4B2EED9}"/>
                </a:ext>
              </a:extLst>
            </p:cNvPr>
            <p:cNvCxnSpPr>
              <a:stCxn id="5" idx="4"/>
              <a:endCxn id="8" idx="0"/>
            </p:cNvCxnSpPr>
            <p:nvPr/>
          </p:nvCxnSpPr>
          <p:spPr>
            <a:xfrm>
              <a:off x="7503815" y="2026387"/>
              <a:ext cx="0" cy="406797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3B5FC4AF-1685-B6EA-24A1-2A718E68023A}"/>
                </a:ext>
              </a:extLst>
            </p:cNvPr>
            <p:cNvCxnSpPr>
              <a:stCxn id="8" idx="7"/>
              <a:endCxn id="9" idx="3"/>
            </p:cNvCxnSpPr>
            <p:nvPr/>
          </p:nvCxnSpPr>
          <p:spPr>
            <a:xfrm flipV="1">
              <a:off x="7665460" y="1974601"/>
              <a:ext cx="783495" cy="52553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5" name="Down Arrow 64">
            <a:extLst>
              <a:ext uri="{FF2B5EF4-FFF2-40B4-BE49-F238E27FC236}">
                <a16:creationId xmlns:a16="http://schemas.microsoft.com/office/drawing/2014/main" id="{2C575B09-2131-8404-9C2D-FA23FDA0E21C}"/>
              </a:ext>
            </a:extLst>
          </p:cNvPr>
          <p:cNvSpPr/>
          <p:nvPr/>
        </p:nvSpPr>
        <p:spPr>
          <a:xfrm rot="16200000">
            <a:off x="5084256" y="2722857"/>
            <a:ext cx="322860" cy="742686"/>
          </a:xfrm>
          <a:prstGeom prst="downArrow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6" name="Table 45">
            <a:extLst>
              <a:ext uri="{FF2B5EF4-FFF2-40B4-BE49-F238E27FC236}">
                <a16:creationId xmlns:a16="http://schemas.microsoft.com/office/drawing/2014/main" id="{95F6F3EA-C307-79C5-E3E5-83958FB38E18}"/>
              </a:ext>
            </a:extLst>
          </p:cNvPr>
          <p:cNvGraphicFramePr>
            <a:graphicFrameLocks noGrp="1" noChangeAspect="1"/>
          </p:cNvGraphicFramePr>
          <p:nvPr>
            <p:extLst>
              <p:ext uri="{D42A27DB-BD31-4B8C-83A1-F6EECF244321}">
                <p14:modId xmlns:p14="http://schemas.microsoft.com/office/powerpoint/2010/main" val="3502689373"/>
              </p:ext>
            </p:extLst>
          </p:nvPr>
        </p:nvGraphicFramePr>
        <p:xfrm>
          <a:off x="6626514" y="1898497"/>
          <a:ext cx="2743200" cy="2257025"/>
        </p:xfrm>
        <a:graphic>
          <a:graphicData uri="http://schemas.openxmlformats.org/drawingml/2006/table">
            <a:tbl>
              <a:tblPr firstRow="1" firstCol="1">
                <a:tableStyleId>{5C22544A-7EE6-4342-B048-85BDC9FD1C3A}</a:tableStyleId>
              </a:tblPr>
              <a:tblGrid>
                <a:gridCol w="548640">
                  <a:extLst>
                    <a:ext uri="{9D8B030D-6E8A-4147-A177-3AD203B41FA5}">
                      <a16:colId xmlns:a16="http://schemas.microsoft.com/office/drawing/2014/main" val="2710476416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494636756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1577691012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126058572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3445639608"/>
                    </a:ext>
                  </a:extLst>
                </a:gridCol>
              </a:tblGrid>
              <a:tr h="451405">
                <a:tc>
                  <a:txBody>
                    <a:bodyPr/>
                    <a:lstStyle/>
                    <a:p>
                      <a:pPr algn="ctr"/>
                      <a:endParaRPr lang="en-US" sz="10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79793437"/>
                  </a:ext>
                </a:extLst>
              </a:tr>
              <a:tr h="451405"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8393092"/>
                  </a:ext>
                </a:extLst>
              </a:tr>
              <a:tr h="451405"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2390400"/>
                  </a:ext>
                </a:extLst>
              </a:tr>
              <a:tr h="451405"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553762"/>
                  </a:ext>
                </a:extLst>
              </a:tr>
              <a:tr h="451405"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6120058"/>
                  </a:ext>
                </a:extLst>
              </a:tr>
            </a:tbl>
          </a:graphicData>
        </a:graphic>
      </p:graphicFrame>
      <p:sp>
        <p:nvSpPr>
          <p:cNvPr id="51" name="TextBox 50">
            <a:extLst>
              <a:ext uri="{FF2B5EF4-FFF2-40B4-BE49-F238E27FC236}">
                <a16:creationId xmlns:a16="http://schemas.microsoft.com/office/drawing/2014/main" id="{3A8E80ED-5BC5-83C7-0228-6E5ECFDB8BE8}"/>
              </a:ext>
            </a:extLst>
          </p:cNvPr>
          <p:cNvSpPr txBox="1"/>
          <p:nvPr/>
        </p:nvSpPr>
        <p:spPr>
          <a:xfrm>
            <a:off x="3745083" y="4306890"/>
            <a:ext cx="3040961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/>
              <a:t>We store all possible edges =&gt;</a:t>
            </a:r>
          </a:p>
          <a:p>
            <a:endParaRPr lang="en-US" sz="1400"/>
          </a:p>
          <a:p>
            <a:r>
              <a:rPr lang="en-US" sz="1400"/>
              <a:t>makes sense with dense graphs only.</a:t>
            </a:r>
          </a:p>
        </p:txBody>
      </p:sp>
    </p:spTree>
    <p:extLst>
      <p:ext uri="{BB962C8B-B14F-4D97-AF65-F5344CB8AC3E}">
        <p14:creationId xmlns:p14="http://schemas.microsoft.com/office/powerpoint/2010/main" val="20420345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" grpId="0" animBg="1"/>
      <p:bldP spid="5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28D118-2248-2FEE-FC04-55C3C82F5A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72F68B8-5EDF-9216-D3E3-B76D8C3889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Programming II - Searching, sorting and merging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EB545E9-066F-EC29-0E7E-9C26F70C14CD}"/>
              </a:ext>
            </a:extLst>
          </p:cNvPr>
          <p:cNvSpPr txBox="1"/>
          <p:nvPr/>
        </p:nvSpPr>
        <p:spPr>
          <a:xfrm>
            <a:off x="3581882" y="2644170"/>
            <a:ext cx="5028236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/>
              <a:t>Undirected graph – Adjacency matrix</a:t>
            </a:r>
            <a:br>
              <a:rPr lang="en-US" sz="2400" dirty="0"/>
            </a:br>
            <a:r>
              <a:rPr lang="en-US" sz="2400" dirty="0"/>
              <a:t>Implementation</a:t>
            </a:r>
            <a:br>
              <a:rPr lang="en-US" sz="2400" dirty="0"/>
            </a:br>
            <a:br>
              <a:rPr lang="en-US" sz="2400" dirty="0"/>
            </a:br>
            <a:r>
              <a:rPr lang="en-US" sz="2400" dirty="0"/>
              <a:t>(and the weighted version)</a:t>
            </a:r>
          </a:p>
        </p:txBody>
      </p:sp>
    </p:spTree>
    <p:extLst>
      <p:ext uri="{BB962C8B-B14F-4D97-AF65-F5344CB8AC3E}">
        <p14:creationId xmlns:p14="http://schemas.microsoft.com/office/powerpoint/2010/main" val="22116907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91089B-D3EB-CCBE-68B6-CA91B0CA3F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F875A6E-35D3-D2F9-C4DC-AA0B6739C4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Programming II - Graphs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45D35F-1A45-3869-87E7-A06C31091F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81C8F-CB39-4E4D-98E4-8C3FEDF75126}" type="slidenum">
              <a:rPr lang="en-US" smtClean="0"/>
              <a:t>8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1FEA28E-8B5A-EDC5-2B43-B8BF2E3FF8CE}"/>
              </a:ext>
            </a:extLst>
          </p:cNvPr>
          <p:cNvSpPr txBox="1"/>
          <p:nvPr/>
        </p:nvSpPr>
        <p:spPr>
          <a:xfrm>
            <a:off x="535709" y="200483"/>
            <a:ext cx="37621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Undirected graph – Incidence matrix</a:t>
            </a:r>
          </a:p>
        </p:txBody>
      </p:sp>
      <p:sp>
        <p:nvSpPr>
          <p:cNvPr id="65" name="Down Arrow 64">
            <a:extLst>
              <a:ext uri="{FF2B5EF4-FFF2-40B4-BE49-F238E27FC236}">
                <a16:creationId xmlns:a16="http://schemas.microsoft.com/office/drawing/2014/main" id="{D311A15D-229E-1B68-38DF-587091A9183C}"/>
              </a:ext>
            </a:extLst>
          </p:cNvPr>
          <p:cNvSpPr/>
          <p:nvPr/>
        </p:nvSpPr>
        <p:spPr>
          <a:xfrm rot="16200000">
            <a:off x="3961785" y="2809370"/>
            <a:ext cx="153630" cy="525538"/>
          </a:xfrm>
          <a:prstGeom prst="downArrow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6" name="Table 45">
            <a:extLst>
              <a:ext uri="{FF2B5EF4-FFF2-40B4-BE49-F238E27FC236}">
                <a16:creationId xmlns:a16="http://schemas.microsoft.com/office/drawing/2014/main" id="{C525BE9A-D8FA-DA0A-EB15-9389885D9FCC}"/>
              </a:ext>
            </a:extLst>
          </p:cNvPr>
          <p:cNvGraphicFramePr>
            <a:graphicFrameLocks noGrp="1" noChangeAspect="1"/>
          </p:cNvGraphicFramePr>
          <p:nvPr>
            <p:extLst>
              <p:ext uri="{D42A27DB-BD31-4B8C-83A1-F6EECF244321}">
                <p14:modId xmlns:p14="http://schemas.microsoft.com/office/powerpoint/2010/main" val="1943777803"/>
              </p:ext>
            </p:extLst>
          </p:nvPr>
        </p:nvGraphicFramePr>
        <p:xfrm>
          <a:off x="4872472" y="1914388"/>
          <a:ext cx="2743200" cy="2257025"/>
        </p:xfrm>
        <a:graphic>
          <a:graphicData uri="http://schemas.openxmlformats.org/drawingml/2006/table">
            <a:tbl>
              <a:tblPr firstRow="1" firstCol="1">
                <a:tableStyleId>{5C22544A-7EE6-4342-B048-85BDC9FD1C3A}</a:tableStyleId>
              </a:tblPr>
              <a:tblGrid>
                <a:gridCol w="548640">
                  <a:extLst>
                    <a:ext uri="{9D8B030D-6E8A-4147-A177-3AD203B41FA5}">
                      <a16:colId xmlns:a16="http://schemas.microsoft.com/office/drawing/2014/main" val="2710476416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494636756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1577691012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126058572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3445639608"/>
                    </a:ext>
                  </a:extLst>
                </a:gridCol>
              </a:tblGrid>
              <a:tr h="451405">
                <a:tc>
                  <a:txBody>
                    <a:bodyPr/>
                    <a:lstStyle/>
                    <a:p>
                      <a:pPr algn="ctr"/>
                      <a:endParaRPr lang="en-US" sz="10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solidFill>
                            <a:schemeClr val="tx1"/>
                          </a:solidFill>
                        </a:rPr>
                        <a:t>e0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solidFill>
                            <a:schemeClr val="tx1"/>
                          </a:solidFill>
                        </a:rPr>
                        <a:t>e1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solidFill>
                            <a:schemeClr val="tx1"/>
                          </a:solidFill>
                        </a:rPr>
                        <a:t>e2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solidFill>
                            <a:schemeClr val="tx1"/>
                          </a:solidFill>
                        </a:rPr>
                        <a:t>e3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79793437"/>
                  </a:ext>
                </a:extLst>
              </a:tr>
              <a:tr h="451405"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8393092"/>
                  </a:ext>
                </a:extLst>
              </a:tr>
              <a:tr h="451405"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2390400"/>
                  </a:ext>
                </a:extLst>
              </a:tr>
              <a:tr h="451405"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553762"/>
                  </a:ext>
                </a:extLst>
              </a:tr>
              <a:tr h="451405"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6120058"/>
                  </a:ext>
                </a:extLst>
              </a:tr>
            </a:tbl>
          </a:graphicData>
        </a:graphic>
      </p:graphicFrame>
      <p:sp>
        <p:nvSpPr>
          <p:cNvPr id="51" name="TextBox 50">
            <a:extLst>
              <a:ext uri="{FF2B5EF4-FFF2-40B4-BE49-F238E27FC236}">
                <a16:creationId xmlns:a16="http://schemas.microsoft.com/office/drawing/2014/main" id="{26C42292-CBCB-4CC5-9A11-11146746E8FC}"/>
              </a:ext>
            </a:extLst>
          </p:cNvPr>
          <p:cNvSpPr txBox="1"/>
          <p:nvPr/>
        </p:nvSpPr>
        <p:spPr>
          <a:xfrm>
            <a:off x="8186775" y="2995179"/>
            <a:ext cx="294664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/>
              <a:t>Efficient for sparse graphs, because</a:t>
            </a:r>
          </a:p>
          <a:p>
            <a:r>
              <a:rPr lang="en-US" sz="1400"/>
              <a:t>we just list the edge we use.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1CB46355-9A58-5CF0-7371-D48258CBA9C4}"/>
              </a:ext>
            </a:extLst>
          </p:cNvPr>
          <p:cNvGrpSpPr/>
          <p:nvPr/>
        </p:nvGrpSpPr>
        <p:grpSpPr>
          <a:xfrm>
            <a:off x="1206966" y="2090841"/>
            <a:ext cx="1656307" cy="2080572"/>
            <a:chOff x="8300783" y="453362"/>
            <a:chExt cx="1656307" cy="2080572"/>
          </a:xfrm>
        </p:grpSpPr>
        <p:grpSp>
          <p:nvGrpSpPr>
            <p:cNvPr id="50" name="Group 49">
              <a:extLst>
                <a:ext uri="{FF2B5EF4-FFF2-40B4-BE49-F238E27FC236}">
                  <a16:creationId xmlns:a16="http://schemas.microsoft.com/office/drawing/2014/main" id="{01C05238-E7B0-484B-2203-60791EAA8C60}"/>
                </a:ext>
              </a:extLst>
            </p:cNvPr>
            <p:cNvGrpSpPr/>
            <p:nvPr/>
          </p:nvGrpSpPr>
          <p:grpSpPr>
            <a:xfrm>
              <a:off x="8393105" y="453362"/>
              <a:ext cx="1563985" cy="2080572"/>
              <a:chOff x="7275215" y="809812"/>
              <a:chExt cx="1563985" cy="2080572"/>
            </a:xfrm>
          </p:grpSpPr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B832B036-9790-02D8-A18F-13F7AC0356E6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275215" y="1569187"/>
                <a:ext cx="457200" cy="457200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000">
                    <a:solidFill>
                      <a:schemeClr val="tx1"/>
                    </a:solidFill>
                  </a:rPr>
                  <a:t>0</a:t>
                </a:r>
              </a:p>
            </p:txBody>
          </p:sp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E7222628-F4B3-BEB4-FAD7-4437E4FF23C4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275215" y="2433184"/>
                <a:ext cx="457200" cy="457200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000">
                    <a:solidFill>
                      <a:schemeClr val="tx1"/>
                    </a:solidFill>
                  </a:rPr>
                  <a:t>1</a:t>
                </a:r>
              </a:p>
            </p:txBody>
          </p:sp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5274F915-49C1-E4D6-530E-53B4746B5807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382000" y="1584356"/>
                <a:ext cx="457200" cy="457200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000">
                    <a:solidFill>
                      <a:schemeClr val="tx1"/>
                    </a:solidFill>
                  </a:rPr>
                  <a:t>2</a:t>
                </a:r>
              </a:p>
            </p:txBody>
          </p:sp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3081C057-DB05-63AD-8BF5-DC37E62FDA4D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924800" y="809812"/>
                <a:ext cx="457200" cy="457200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000">
                    <a:solidFill>
                      <a:schemeClr val="tx1"/>
                    </a:solidFill>
                  </a:rPr>
                  <a:t>3</a:t>
                </a:r>
              </a:p>
            </p:txBody>
          </p:sp>
          <p:cxnSp>
            <p:nvCxnSpPr>
              <p:cNvPr id="12" name="Straight Connector 11">
                <a:extLst>
                  <a:ext uri="{FF2B5EF4-FFF2-40B4-BE49-F238E27FC236}">
                    <a16:creationId xmlns:a16="http://schemas.microsoft.com/office/drawing/2014/main" id="{E0A75285-0FB8-9225-0F7D-258C09F3175D}"/>
                  </a:ext>
                </a:extLst>
              </p:cNvPr>
              <p:cNvCxnSpPr>
                <a:stCxn id="5" idx="7"/>
                <a:endCxn id="10" idx="3"/>
              </p:cNvCxnSpPr>
              <p:nvPr/>
            </p:nvCxnSpPr>
            <p:spPr>
              <a:xfrm flipV="1">
                <a:off x="7665460" y="1200057"/>
                <a:ext cx="326295" cy="436085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Straight Connector 13">
                <a:extLst>
                  <a:ext uri="{FF2B5EF4-FFF2-40B4-BE49-F238E27FC236}">
                    <a16:creationId xmlns:a16="http://schemas.microsoft.com/office/drawing/2014/main" id="{D3BFC740-29DB-31E7-6ADB-8A120EC844B2}"/>
                  </a:ext>
                </a:extLst>
              </p:cNvPr>
              <p:cNvCxnSpPr>
                <a:stCxn id="5" idx="6"/>
                <a:endCxn id="9" idx="2"/>
              </p:cNvCxnSpPr>
              <p:nvPr/>
            </p:nvCxnSpPr>
            <p:spPr>
              <a:xfrm>
                <a:off x="7732415" y="1797787"/>
                <a:ext cx="649585" cy="15169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Straight Connector 15">
                <a:extLst>
                  <a:ext uri="{FF2B5EF4-FFF2-40B4-BE49-F238E27FC236}">
                    <a16:creationId xmlns:a16="http://schemas.microsoft.com/office/drawing/2014/main" id="{F987868E-5D3E-8754-11CA-C8CECF810A70}"/>
                  </a:ext>
                </a:extLst>
              </p:cNvPr>
              <p:cNvCxnSpPr>
                <a:stCxn id="5" idx="4"/>
                <a:endCxn id="8" idx="0"/>
              </p:cNvCxnSpPr>
              <p:nvPr/>
            </p:nvCxnSpPr>
            <p:spPr>
              <a:xfrm>
                <a:off x="7503815" y="2026387"/>
                <a:ext cx="0" cy="406797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Connector 17">
                <a:extLst>
                  <a:ext uri="{FF2B5EF4-FFF2-40B4-BE49-F238E27FC236}">
                    <a16:creationId xmlns:a16="http://schemas.microsoft.com/office/drawing/2014/main" id="{F1067273-8DAB-B039-763B-50D09F792C96}"/>
                  </a:ext>
                </a:extLst>
              </p:cNvPr>
              <p:cNvCxnSpPr>
                <a:stCxn id="8" idx="7"/>
                <a:endCxn id="9" idx="3"/>
              </p:cNvCxnSpPr>
              <p:nvPr/>
            </p:nvCxnSpPr>
            <p:spPr>
              <a:xfrm flipV="1">
                <a:off x="7665460" y="1974601"/>
                <a:ext cx="783495" cy="525538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F8546D75-E719-2738-1653-BECD4A7ADE55}"/>
                </a:ext>
              </a:extLst>
            </p:cNvPr>
            <p:cNvSpPr txBox="1"/>
            <p:nvPr/>
          </p:nvSpPr>
          <p:spPr>
            <a:xfrm>
              <a:off x="8687107" y="851898"/>
              <a:ext cx="320922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/>
                <a:t>e0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3F307CFD-6020-8B57-76A1-680DFF42ED2E}"/>
                </a:ext>
              </a:extLst>
            </p:cNvPr>
            <p:cNvSpPr txBox="1"/>
            <p:nvPr/>
          </p:nvSpPr>
          <p:spPr>
            <a:xfrm>
              <a:off x="8966058" y="1188439"/>
              <a:ext cx="320922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/>
                <a:t>e1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76E0CAC4-A05C-125E-155E-013F18F7D3E3}"/>
                </a:ext>
              </a:extLst>
            </p:cNvPr>
            <p:cNvSpPr txBox="1"/>
            <p:nvPr/>
          </p:nvSpPr>
          <p:spPr>
            <a:xfrm>
              <a:off x="8300783" y="1755235"/>
              <a:ext cx="320922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/>
                <a:t>e2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FD50BD4E-3106-4114-3BED-A8048C33F70E}"/>
                </a:ext>
              </a:extLst>
            </p:cNvPr>
            <p:cNvSpPr txBox="1"/>
            <p:nvPr/>
          </p:nvSpPr>
          <p:spPr>
            <a:xfrm>
              <a:off x="9080089" y="1850569"/>
              <a:ext cx="320922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/>
                <a:t>e3</a:t>
              </a:r>
            </a:p>
          </p:txBody>
        </p:sp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923D41E6-A694-E6D7-2B1C-57675F06BC00}"/>
              </a:ext>
            </a:extLst>
          </p:cNvPr>
          <p:cNvSpPr txBox="1"/>
          <p:nvPr/>
        </p:nvSpPr>
        <p:spPr>
          <a:xfrm>
            <a:off x="535709" y="1016000"/>
            <a:ext cx="89003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We construct the incidence matrix from the adjacencies, as a different view on the graph.</a:t>
            </a:r>
          </a:p>
        </p:txBody>
      </p:sp>
    </p:spTree>
    <p:extLst>
      <p:ext uri="{BB962C8B-B14F-4D97-AF65-F5344CB8AC3E}">
        <p14:creationId xmlns:p14="http://schemas.microsoft.com/office/powerpoint/2010/main" val="31305384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" grpId="0" animBg="1"/>
      <p:bldP spid="51" grpId="0"/>
      <p:bldP spid="19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A8069C-37C0-6D43-9A17-BF5FF30CB3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D5A53FB-C2F9-2849-E283-11441B4149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Programming II - Searching, sorting and merging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902ACE6-40A9-43C6-821B-C8DFA6742BF6}"/>
              </a:ext>
            </a:extLst>
          </p:cNvPr>
          <p:cNvSpPr txBox="1"/>
          <p:nvPr/>
        </p:nvSpPr>
        <p:spPr>
          <a:xfrm>
            <a:off x="3617565" y="3013501"/>
            <a:ext cx="495687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/>
              <a:t>Undirected graph – Incidence matrix</a:t>
            </a:r>
            <a:br>
              <a:rPr lang="en-US" sz="2400" dirty="0"/>
            </a:br>
            <a:r>
              <a:rPr lang="en-US" sz="2400" dirty="0"/>
              <a:t>Implementation</a:t>
            </a:r>
          </a:p>
        </p:txBody>
      </p:sp>
    </p:spTree>
    <p:extLst>
      <p:ext uri="{BB962C8B-B14F-4D97-AF65-F5344CB8AC3E}">
        <p14:creationId xmlns:p14="http://schemas.microsoft.com/office/powerpoint/2010/main" val="42625375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26CCCB-E097-FD66-ADA7-43B416B0F0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4A01556-838D-FFE8-5D0C-FF700A4A75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Programming II - Graphs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ADF6CD-77AA-54B2-ED91-B137387095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81C8F-CB39-4E4D-98E4-8C3FEDF75126}" type="slidenum">
              <a:rPr lang="en-US" smtClean="0"/>
              <a:t>10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D1B052A-2ECA-3C4E-414F-3A8B26AB2A3F}"/>
              </a:ext>
            </a:extLst>
          </p:cNvPr>
          <p:cNvSpPr txBox="1"/>
          <p:nvPr/>
        </p:nvSpPr>
        <p:spPr>
          <a:xfrm>
            <a:off x="535709" y="200483"/>
            <a:ext cx="26102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Graph – main operations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8C2FECB-C688-304B-A7B0-7C4B45AF422E}"/>
              </a:ext>
            </a:extLst>
          </p:cNvPr>
          <p:cNvSpPr txBox="1"/>
          <p:nvPr/>
        </p:nvSpPr>
        <p:spPr>
          <a:xfrm>
            <a:off x="535709" y="973631"/>
            <a:ext cx="4820062" cy="42780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adjacent(x, y):</a:t>
            </a:r>
          </a:p>
          <a:p>
            <a:pPr lvl="1"/>
            <a:r>
              <a:rPr lang="en-US" sz="1600" dirty="0"/>
              <a:t>tests whether there is an edge from the vertex x to the vertex y</a:t>
            </a:r>
            <a:br>
              <a:rPr lang="en-US" sz="1600" dirty="0"/>
            </a:br>
            <a:endParaRPr lang="en-US" sz="1600" dirty="0"/>
          </a:p>
          <a:p>
            <a:r>
              <a:rPr lang="en-US" sz="1600" dirty="0"/>
              <a:t>neighbors(x):</a:t>
            </a:r>
          </a:p>
          <a:p>
            <a:pPr lvl="1"/>
            <a:r>
              <a:rPr lang="en-US" sz="1600" dirty="0"/>
              <a:t>lists all vertices y such that there is an edge from the vertex x to the vertex y</a:t>
            </a:r>
          </a:p>
          <a:p>
            <a:endParaRPr lang="en-US" sz="1600" dirty="0"/>
          </a:p>
          <a:p>
            <a:r>
              <a:rPr lang="en-US" sz="1600" dirty="0" err="1"/>
              <a:t>add_vertex</a:t>
            </a:r>
            <a:r>
              <a:rPr lang="en-US" sz="1600" dirty="0"/>
              <a:t>(x):</a:t>
            </a:r>
          </a:p>
          <a:p>
            <a:pPr lvl="1"/>
            <a:r>
              <a:rPr lang="en-US" sz="1600" dirty="0"/>
              <a:t>adds the vertex x, if it is not there</a:t>
            </a:r>
          </a:p>
          <a:p>
            <a:endParaRPr lang="en-US" sz="1600" dirty="0"/>
          </a:p>
          <a:p>
            <a:r>
              <a:rPr lang="en-US" sz="1600" dirty="0" err="1"/>
              <a:t>remove_vertex</a:t>
            </a:r>
            <a:r>
              <a:rPr lang="en-US" sz="1600" dirty="0"/>
              <a:t>(x):</a:t>
            </a:r>
          </a:p>
          <a:p>
            <a:pPr lvl="1"/>
            <a:r>
              <a:rPr lang="en-US" sz="1600" dirty="0"/>
              <a:t>removes the vertex x, if it is there</a:t>
            </a:r>
          </a:p>
          <a:p>
            <a:endParaRPr lang="en-US" sz="1600" dirty="0"/>
          </a:p>
          <a:p>
            <a:r>
              <a:rPr lang="en-US" sz="1600" dirty="0" err="1"/>
              <a:t>add_edge</a:t>
            </a:r>
            <a:r>
              <a:rPr lang="en-US" sz="1600" dirty="0"/>
              <a:t>(x, y, z):</a:t>
            </a:r>
          </a:p>
          <a:p>
            <a:pPr lvl="1"/>
            <a:r>
              <a:rPr lang="en-US" sz="1600" dirty="0"/>
              <a:t>adds the edge z from the vertex x to the vertex y, if it is not there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98BA1F1-FF60-F463-3CFB-581DD9B74C56}"/>
              </a:ext>
            </a:extLst>
          </p:cNvPr>
          <p:cNvSpPr txBox="1"/>
          <p:nvPr/>
        </p:nvSpPr>
        <p:spPr>
          <a:xfrm>
            <a:off x="287691" y="5848351"/>
            <a:ext cx="56023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Exercise: get_adjacency_matrix / get_incidence_matrix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5519D32-C3A2-5AF8-C42B-DFACDD00D284}"/>
              </a:ext>
            </a:extLst>
          </p:cNvPr>
          <p:cNvSpPr txBox="1"/>
          <p:nvPr/>
        </p:nvSpPr>
        <p:spPr>
          <a:xfrm>
            <a:off x="5890059" y="973631"/>
            <a:ext cx="5993564" cy="427809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/>
              <a:t>remove_edge</a:t>
            </a:r>
            <a:r>
              <a:rPr lang="en-US" sz="1600" dirty="0"/>
              <a:t>(x, y):</a:t>
            </a:r>
          </a:p>
          <a:p>
            <a:pPr lvl="1"/>
            <a:r>
              <a:rPr lang="en-US" sz="1600" dirty="0"/>
              <a:t>removes the edge from the vertex x to the vertex y, if it is there</a:t>
            </a:r>
          </a:p>
          <a:p>
            <a:endParaRPr lang="en-US" sz="1600" dirty="0"/>
          </a:p>
          <a:p>
            <a:r>
              <a:rPr lang="en-US" sz="1600" dirty="0" err="1"/>
              <a:t>get_vertex_value</a:t>
            </a:r>
            <a:r>
              <a:rPr lang="en-US" sz="1600" dirty="0"/>
              <a:t>(x):</a:t>
            </a:r>
          </a:p>
          <a:p>
            <a:pPr lvl="1"/>
            <a:r>
              <a:rPr lang="en-US" sz="1600" dirty="0"/>
              <a:t>returns the value associated with the vertex x</a:t>
            </a:r>
          </a:p>
          <a:p>
            <a:endParaRPr lang="en-US" sz="1600" dirty="0"/>
          </a:p>
          <a:p>
            <a:r>
              <a:rPr lang="en-US" sz="1600" dirty="0" err="1"/>
              <a:t>set_vertex_value</a:t>
            </a:r>
            <a:r>
              <a:rPr lang="en-US" sz="1600" dirty="0"/>
              <a:t>(x, v):</a:t>
            </a:r>
          </a:p>
          <a:p>
            <a:pPr lvl="1"/>
            <a:r>
              <a:rPr lang="en-US" sz="1600" dirty="0"/>
              <a:t>sets the value associated with </a:t>
            </a:r>
            <a:r>
              <a:rPr lang="en-US" sz="1600" dirty="0" err="1"/>
              <a:t>thevertex</a:t>
            </a:r>
            <a:r>
              <a:rPr lang="en-US" sz="1600" dirty="0"/>
              <a:t> x to v</a:t>
            </a:r>
          </a:p>
          <a:p>
            <a:endParaRPr lang="en-US" sz="1600" dirty="0"/>
          </a:p>
          <a:p>
            <a:r>
              <a:rPr lang="en-US" sz="1600" dirty="0" err="1"/>
              <a:t>get_edge_value</a:t>
            </a:r>
            <a:r>
              <a:rPr lang="en-US" sz="1600" dirty="0"/>
              <a:t>(x, y):</a:t>
            </a:r>
          </a:p>
          <a:p>
            <a:pPr lvl="1"/>
            <a:r>
              <a:rPr lang="en-US" sz="1600" dirty="0"/>
              <a:t>returns the value associated with the edge (x, y)</a:t>
            </a:r>
          </a:p>
          <a:p>
            <a:endParaRPr lang="en-US" sz="1600" dirty="0"/>
          </a:p>
          <a:p>
            <a:r>
              <a:rPr lang="en-US" sz="1600" dirty="0" err="1"/>
              <a:t>set_edge_value</a:t>
            </a:r>
            <a:r>
              <a:rPr lang="en-US" sz="1600" dirty="0"/>
              <a:t>(x, y, v):</a:t>
            </a:r>
          </a:p>
          <a:p>
            <a:pPr lvl="1"/>
            <a:r>
              <a:rPr lang="en-US" sz="1600" dirty="0"/>
              <a:t>sets the value associated with the edge (x, y) to v</a:t>
            </a:r>
          </a:p>
          <a:p>
            <a:endParaRPr lang="en-US" sz="1600" dirty="0"/>
          </a:p>
          <a:p>
            <a:r>
              <a:rPr lang="en-US" sz="1600" dirty="0"/>
              <a:t>degree(x):</a:t>
            </a:r>
          </a:p>
          <a:p>
            <a:pPr lvl="1"/>
            <a:r>
              <a:rPr lang="en-US" sz="1600" dirty="0"/>
              <a:t>number of nodes incident to a vertex x</a:t>
            </a:r>
          </a:p>
        </p:txBody>
      </p:sp>
    </p:spTree>
    <p:extLst>
      <p:ext uri="{BB962C8B-B14F-4D97-AF65-F5344CB8AC3E}">
        <p14:creationId xmlns:p14="http://schemas.microsoft.com/office/powerpoint/2010/main" val="26024717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0cf7ac0a-4681-4823-ab0b-04ef02c5f873}" enabled="1" method="Standard" siteId="{42f7676c-f455-423c-82f6-dc2d99791af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4173</TotalTime>
  <Words>854</Words>
  <Application>Microsoft Office PowerPoint</Application>
  <PresentationFormat>Widescreen</PresentationFormat>
  <Paragraphs>196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Di Monaco, Antonio</dc:creator>
  <cp:lastModifiedBy>Tatiana Rubina</cp:lastModifiedBy>
  <cp:revision>86</cp:revision>
  <dcterms:created xsi:type="dcterms:W3CDTF">2025-02-19T20:33:39Z</dcterms:created>
  <dcterms:modified xsi:type="dcterms:W3CDTF">2026-06-28T08:37:39Z</dcterms:modified>
</cp:coreProperties>
</file>